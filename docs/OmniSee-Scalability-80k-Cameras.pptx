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399fac7-a191-e777-9231-1360f9fa38fc}">
          <p14:sldIdLst>
            <p14:sldId id="256"/>
          </p14:sldIdLst>
        </p14:section>
        <p14:section name="SUMMARY" id="{d157340d-c66d-9586-e8f1-4c60916757fb}">
          <p14:sldIdLst>
            <p14:sldId id="257"/>
          </p14:sldIdLst>
        </p14:section>
        <p14:section name="REFERENCE DESIGN" id="{6cbe1b30-c9f9-d2db-9b8c-b6b3dfbfb18f}">
          <p14:sldIdLst>
            <p14:sldId id="258"/>
          </p14:sldIdLst>
        </p14:section>
        <p14:section name="COMPUTE" id="{43441680-3dfe-7f68-709e-85a23af1002a}">
          <p14:sldIdLst>
            <p14:sldId id="259"/>
            <p14:sldId id="260"/>
          </p14:sldIdLst>
        </p14:section>
        <p14:section name="ACCELERATORS" id="{aea65b4c-06e6-02ee-bd15-e3a6d24d240f}">
          <p14:sldIdLst>
            <p14:sldId id="261"/>
            <p14:sldId id="262"/>
          </p14:sldIdLst>
        </p14:section>
        <p14:section name="NETWORK" id="{4bc8beb5-c242-12a5-4756-69519e4a99ed}">
          <p14:sldIdLst>
            <p14:sldId id="263"/>
            <p14:sldId id="264"/>
          </p14:sldIdLst>
        </p14:section>
        <p14:section name="STORAGE" id="{712a3063-5b7d-1e47-38dc-9a5d1d6f3db3}">
          <p14:sldIdLst>
            <p14:sldId id="265"/>
            <p14:sldId id="266"/>
          </p14:sldIdLst>
        </p14:section>
        <p14:section name="OPERATIONS" id="{78434a58-641b-36e5-cf13-3c639983827c}">
          <p14:sldIdLst>
            <p14:sldId id="267"/>
            <p14:sldId id="268"/>
          </p14:sldIdLst>
        </p14:section>
        <p14:section name="RESILIENCE" id="{89fba2c0-13e1-ba25-5325-f8853482f1fd}">
          <p14:sldIdLst>
            <p14:sldId id="269"/>
          </p14:sldIdLst>
        </p14:section>
        <p14:section name="SECURITY" id="{4bd4b77c-f3c7-18df-ddb4-e0ffe6b59cdf}">
          <p14:sldIdLst>
            <p14:sldId id="270"/>
          </p14:sldIdLst>
        </p14:section>
        <p14:section name="COST" id="{9477b740-08c0-b7bb-fb7a-c63f9f96c397}">
          <p14:sldIdLst>
            <p14:sldId id="271"/>
            <p14:sldId id="272"/>
          </p14:sldIdLst>
        </p14:section>
        <p14:section name="EVIDENCE" id="{fde71c5e-9469-8560-e15c-c8d663eded42}">
          <p14:sldIdLst>
            <p14:sldId id="273"/>
          </p14:sldIdLst>
        </p14:section>
        <p14:section name="POC AND ROLLOUT" id="{275b89a0-543e-b123-37ff-7d4b9fdab35a}">
          <p14:sldIdLst>
            <p14:sldId id="274"/>
          </p14:sldIdLst>
        </p14:section>
        <p14:section name="ASSUMPTIONS" id="{459695bd-ba0b-33a2-3537-97d5733f5dae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 per tick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500</c:v>
                  </c:pt>
                  <c:pt idx="1">
                    <c:v>5,000</c:v>
                  </c:pt>
                  <c:pt idx="2">
                    <c:v>20,000</c:v>
                  </c:pt>
                  <c:pt idx="3">
                    <c:v>80,000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1.2</c:v>
                </c:pt>
                <c:pt idx="2">
                  <c:v>3.8</c:v>
                </c:pt>
                <c:pt idx="3">
                  <c:v>48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Arial"/>
                  </a:rPr>
                  <a:t>cameras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7 d, 1 Mbps: 7.9 PB</c:v>
                  </c:pt>
                  <c:pt idx="1">
                    <c:v>15 d, 1 Mbps: 17.4 PB</c:v>
                  </c:pt>
                  <c:pt idx="2">
                    <c:v>30 d, 1 Mbps: 35.2 PB</c:v>
                  </c:pt>
                  <c:pt idx="3">
                    <c:v>15 d, 2 Mbps: 34.8 PB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2.16</c:v>
                </c:pt>
                <c:pt idx="1">
                  <c:v>2.16</c:v>
                </c:pt>
                <c:pt idx="2">
                  <c:v>2.16</c:v>
                </c:pt>
                <c:pt idx="3">
                  <c:v>4.32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Warm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7 d, 1 Mbps: 7.9 PB</c:v>
                  </c:pt>
                  <c:pt idx="1">
                    <c:v>15 d, 1 Mbps: 17.4 PB</c:v>
                  </c:pt>
                  <c:pt idx="2">
                    <c:v>30 d, 1 Mbps: 35.2 PB</c:v>
                  </c:pt>
                  <c:pt idx="3">
                    <c:v>15 d, 2 Mbps: 34.8 PB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5.76</c:v>
                </c:pt>
                <c:pt idx="1">
                  <c:v>5.76</c:v>
                </c:pt>
                <c:pt idx="2">
                  <c:v>5.76</c:v>
                </c:pt>
                <c:pt idx="3">
                  <c:v>11.52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Cold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7 d, 1 Mbps: 7.9 PB</c:v>
                  </c:pt>
                  <c:pt idx="1">
                    <c:v>15 d, 1 Mbps: 17.4 PB</c:v>
                  </c:pt>
                  <c:pt idx="2">
                    <c:v>30 d, 1 Mbps: 35.2 PB</c:v>
                  </c:pt>
                  <c:pt idx="3">
                    <c:v>15 d, 2 Mbps: 34.8 PB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9.5</c:v>
                </c:pt>
                <c:pt idx="2">
                  <c:v>27.3</c:v>
                </c:pt>
                <c:pt idx="3">
                  <c:v>19</c:v>
                </c:pt>
              </c:numCache>
            </c:numRef>
          </c:val>
        </c:ser>
        <c:dLbls>
          <c:numFmt formatCode="0.0;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Engineering, 24 months</c:v>
                  </c:pt>
                  <c:pt idx="1">
                    <c:v>Storage, 3 tiers</c:v>
                  </c:pt>
                  <c:pt idx="2">
                    <c:v>Edge servers (176)</c:v>
                  </c:pt>
                  <c:pt idx="3">
                    <c:v>Camera onboarding</c:v>
                  </c:pt>
                  <c:pt idx="4">
                    <c:v>Contingency 10%</c:v>
                  </c:pt>
                  <c:pt idx="5">
                    <c:v>Regional hubs (8)</c:v>
                  </c:pt>
                  <c:pt idx="6">
                    <c:v>GPUs and hosts</c:v>
                  </c:pt>
                  <c:pt idx="7">
                    <c:v>Central site</c:v>
                  </c:pt>
                  <c:pt idx="8">
                    <c:v>Edge network</c:v>
                  </c:pt>
                  <c:pt idx="9">
                    <c:v>DR site</c:v>
                  </c:pt>
                  <c:pt idx="10">
                    <c:v>Security and audit</c:v>
                  </c:pt>
                  <c:pt idx="11">
                    <c:v>Training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</c:v>
                </c:pt>
                <c:pt idx="1">
                  <c:v>14.9</c:v>
                </c:pt>
                <c:pt idx="2">
                  <c:v>10.6</c:v>
                </c:pt>
                <c:pt idx="3">
                  <c:v>8</c:v>
                </c:pt>
                <c:pt idx="4">
                  <c:v>7.2</c:v>
                </c:pt>
                <c:pt idx="5">
                  <c:v>5.8</c:v>
                </c:pt>
                <c:pt idx="6">
                  <c:v>3.6</c:v>
                </c:pt>
                <c:pt idx="7">
                  <c:v>3.6</c:v>
                </c:pt>
                <c:pt idx="8">
                  <c:v>2.4</c:v>
                </c:pt>
                <c:pt idx="9">
                  <c:v>2.2</c:v>
                </c:pt>
                <c:pt idx="10">
                  <c:v>1.5</c:v>
                </c:pt>
                <c:pt idx="11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Y0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78.8</c:v>
                </c:pt>
                <c:pt idx="1">
                  <c:v>99.8</c:v>
                </c:pt>
                <c:pt idx="2">
                  <c:v>124.2</c:v>
                </c:pt>
                <c:pt idx="3">
                  <c:v>148.6</c:v>
                </c:pt>
                <c:pt idx="4">
                  <c:v>173</c:v>
                </c:pt>
                <c:pt idx="5">
                  <c:v>197.4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deck answers the seven scalability questions for the 80,000-camera target. Every number is tagged MEASURED (from scripts/capacity), MODELLED (derived from those measurements plus stated assumptions) or PLANNED (design not yet built). The assumption register is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claim: do not haul video to one place. Analyse and record next to the cameras, send results. 500 cameras are 800 Mbps of video but 28 kbps of results (docs/capacity.md, docs/regional-gateway.md). All other numbers follow from that design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Profile 1 shape from docs/federation-plan.md. The edge node is gateway.ts plus MediaMTX, which exist today. The regional hub tier (GPU pool, cold storage, bus mirror) is the design extension; the app does not yet route through hubs. The centre is server.ts with Postgres, Redis/Kafka.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sizing: 500 cameras need about 2.8 Celeron-cores for capture, gate and platform code at 60 s (docs/capacity.md section 4) plus 3 to 5.5 Celeron-cores of MediaMTX pass-through (about 0.6 to 1.1 percent of a core and 1 MB per camera). That is about 3 modern cores if a server core is 3x a Celeron core (an assumption). 16 vCPU leaves room for H.265 re-encode slots and peaks. Re-encoding capacity itself was not measured. Central: the scheduler measured 48 ms average per tick at 80,000 cameras and about 1.4 GB process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scripts/capacity/controlPlane.ts running the real analysis worker, analyzer pipeline, event derivation and alert engine, with the camera frame and the model answer faked. Hardware: Celeron N4020, 2 cores at 1.1 GHz, shared with a browser. Capture cost: ffmpeg start-up dominates (0.125 s CPU per still grab versus 0.016 s of ffmpeg accounting).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 A: the ANPR service (anpr-service/) runs a YOLOv9-t plate detector and a CCT-s OCR model through ONNX Runtime, CPU or CUDA; ANPR_DEVICE=cuda refuses to start without a working GPU. Throughput per card is an assumption, not a measurement; scripts/check-anpr.mjs measures it on real hardware and every response carries elapsed_ms. Pool B is new work: a local detector behind the existing analyzer contract. Pool C: AI_PROVIDER=openai with OPENAI_BASE_URL supports a self-hosted vLLM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Numbers: 80,000 cameras at one frame per 60 s is 1,333 captures per second. The frame gate (server/frameGate.ts, 2 percent pixel change, 10-minute heartbeat) is assumed to pass 25 percent; that pass rate is the most valuable number to measure on real scenes. The local no-AI detector (server/analytics/localDetector.ts) and ANPR act as the second stage; the 20 percent pass is an assumption. Notable share of 10 percent is also an assumption from docs/capacity.md.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to edge: 500 x 2 Mbps = 1 Gbps per node, 160 Gbps in total (at 1 Mbps, half). Edge to hub: JPEG frames for the GPU pool (about 2.08 analyses/s per 500 cameras x ~150 KB = 2.5 Mbps) plus results (28 kbps, measured) plus evidence thumbnails (about 0.1 Mbps). Hub to centre: 333 analyses/s x ~1.7 KB = 4.5 Mbps results, plus about 16 Mbps of thumbnails. DR replication: ~100 GB/day of rows including indexes (index factor assumed 2) = 9 Mbps average. The 28,000x figure: 800 Mbps of video versus 28 kbps of results for 500 cameras (docs/regional-gateway.md).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docs/regional-gateway.md (outbox, back-off, batching), docs/scale-out.md (frame gate, notable mode), docs/media-server.md (on-demand pull, HLS fmp4 versus low-latency HLS that stalled at 300 ms delay, H.265 handling), server/analytics/localDetector.ts (no-AI detector), docs/recording.md (sub-stream recording).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Bitrate arithmetic: B Mbit/s uses B x 10.8 GB per day per camera. 80,000 cameras at 1 Mbps is 864 TB per day. Hot 2 days = 1.73 PB logical; warm days 3 to 7 = 4.32 PB; cold days 8 to 15 = 6.91 PB. Overheads assumed: RAID-6 1.25x, erasure coding 6+2 = 1.33x, 8+3 = 1.375x, giving 2.16 + 5.76 + 9.50 = 17.4 PB raw. The tier mechanics (hot to warm to cold to delete, holds blocking every step) are built in server/recording; tested with synthetic video and a signature-checking fake S3, not a real Ceph. Departments differ: 7 to 15+ days, some cloud, some local, which is why the baseline is per-camera policy (keepDays).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petabytes by tier. 7 days: 2 hot + 5 warm, no cold. 30 days: 23 cold days = 19.87 PB logical x 1.375 = 27.3 PB raw. 2 Mbps doubles every tier. Logical range from docs/federation-plan.md: 6.0 PB (80,000 cameras, 1 Mbps, 7 days) to 103.7 PB (4 Mbps, 30 days). Event store: 86.4 M events per day at 80,000 cameras, 48.4 GB per day of row data (docs/capacity.md); index overhead of 2x is an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Scheduler/worker split: ANALYSIS_ROLE=scheduler|worker over Redis/BullMQ (server/bullBackend.ts); a job per camera id; capacity = workers x ANALYSIS_CONCURRENCY. Tested only through the in-memory backend and fakes; never run against a real Redis. Kubernetes manifests with autoscaling are gap A23 (not built). Postgres write rate measured on Neon from a laptop: about 900 rows/s with batches of 100, one event at a time about 9 per second; the worker should group several frames per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signals: camera.offline and camera.online derived from run history; camera.blocked, camera.dark, camera.overexposed from the tamper analyzer; GET /api/analysis/status; gateway heartbeat with online, degraded, offline after 90 s and gateway.* events; the MediaMTX log parser (server/mediaEvents.ts); ANPR GET /healthz; the access log (last 2,000 in memory, batched to Firestore, 5,000-entry queue). Known gap: disk-full is not alerted (GET /api/recordings/usage exists, wiring it to an alert is a small follow-up).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RPO and RTO are proposals for the State to confirm, not measurements. What is built: edge outbox and replay (24 gateway tests over real HTTP including a 20,000-item backlog, link cut and restore with nothing lost or doubled), idempotent event ids, evidence holds. Honest gaps: a dead gateway is not taken over by anyone (shown as gateway.offline); the centre keeps its applied-id list in memory so a confirmation lost just before a restart can apply twice; Redis and Kafka were never run; Kubernetes and DR are design only (gaps A22, A23).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Built: Firebase Auth with role custom claims (viewer, operator, admin) and department scoping (docs/authz.md); access log; HMAC-SHA256 gateway signing over method, path, body hash, time and nonce with 5-minute skew and replay refusal (docs/regional-gateway.md); per-gateway secret rotate and disable; SHA-256 evidence manifests and holds (docs/recording.md); API keys server-side only; ANPR shared key. Not built (gap A21): encryption at rest, mTLS, network segmentation, KMS, signed manifests, SIEM export, gateway software updates. Compliance alignment is a plan item, not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Budgetary, +/-30 percent, for the 15-day, 1 Mbps baseline. Unit prices (assumed): storage per raw TB hot 10,000 / warm 8,000 / cold 8,500 rupees including servers, network and 5-year support; edge server 6 lakh; L4 2.8 lakh; L40S 9 lakh. Storage: 2,160 TB x 10k + 5,760 TB x 8k + 9,500 TB x 8.5k = 14.9 crore. Edge: 176 servers x 6 lakh = 10.6 crore + 2.4 crore network. Engineering: 30 people x 24 months x 2.5 lakh = 18 crore. Onboarding: 80,000 cameras x 1,000 rupees = 8 crore. Contingency 10 percent. Hardware 43.1, implementation 28.5, contingency 7.2, total 78.8.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Annual: power 5.0 (about 450 kW IT load x PUE 1.6 x 8,760 h x 8 rupees per kWh), hardware support 3.4 (8 percent of 43.1, from year 2), operations 7.8 (18 + 8 people x 2.5 lakh x 12), network 6.2 (160 x 25,000 per month x 12 + 8 x 1.5 lakh x 12; may ride the existing State network), software support 1.5, audits 0.5 = 24.4. Year 1 has warranty so 21.0. Cumulative: 78.8, 99.8, 124.2, 148.6, 173.0, 197.4 crore. Per camera per month: 197.4 crore / (80,000 x 60) = about 411 rupees. Sensitivities: 30-day retention adds 15.1 crore of storage; 2 Mbps at 15 days adds 14.9; a hosted model API instead of 10 L40S saves about 1.4 crore up front but costs about 6.3 crore a year at an assumed 0.03 rupees per call (5.76 M calls a day), so self-hosting wins at this volume (benchmark with npm run ai:bench).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so the scalability claims are not read as more than they are. Sources: docs/capacity.md section 6 (not measured), docs/regional-gateway.md (not built or verified), docs/recording.md, docs/federation-plan.md gap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sizes are proposals. Each gate is a measurement, so the cost and GPU figures in this deck are corrected by data before the next tranche is committed. The PoC runs on the participant feed and the Government-provided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inputs behind every MODELLED tag. The sizing formulas live in scripts/capacity/model.ts and the tables are reproduced by scripts/capacity/report.ts.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OmniSee  ·  80,000-camera scalability response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OmniSee  ·  80,000-camera scalability response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66928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298448" y="6217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OmniSee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011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SCALABILITY AND POC READINESS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377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OmniSee at 80,000 cameras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206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accelerators, bandwidth, storage, operations, resilience, security and cost: one response to the scalability criterion.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basis: the repository’s own capacity measurements plus stated assumptions. Costs are budgetary, in ₹, ±30%.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016191" y="1097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92847" y="1097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369503" y="1097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046159" y="1097280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65000"/>
            </a:schemeClr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722815" y="1097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399471" y="1097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076127" y="10972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16191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692847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69503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046159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722815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>
              <a:alpha val="65000"/>
            </a:schemeClr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399471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1076127" y="17739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16191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692847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65000"/>
            </a:schemeClr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69503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046159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722815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399471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076127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016191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692847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369503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046159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722815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0399471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4">
              <a:alpha val="65000"/>
            </a:schemeClr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076127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016191" y="3803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692847" y="3803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369503" y="380390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65000"/>
            </a:schemeClr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9046159" y="3803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722815" y="3803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0399471" y="380390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076127" y="380390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>
              <a:alpha val="65000"/>
            </a:schemeClr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016191" y="4480560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>
              <a:alpha val="65000"/>
            </a:schemeClr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692847" y="44805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369503" y="44805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046159" y="44805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722815" y="44805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0399471" y="44805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1076127" y="448056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016191" y="5248656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tiles, one wall: edge analytics, regional hubs, one control plane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· SUMMARY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80,000 cameras fit if the video stays at the edge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4672" y="1828800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+ 8 + 160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441448"/>
            <a:ext cx="3003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site (+ DR), regional hubs, edge nodes of about 500 cameras each</a:t>
            </a:r>
            <a:endParaRPr lang="en-US" sz="1300" dirty="0"/>
          </a:p>
        </p:txBody>
      </p:sp>
      <p:sp>
        <p:nvSpPr>
          <p:cNvPr id="8" name="chip DESIGN"/>
          <p:cNvSpPr/>
          <p:nvPr/>
        </p:nvSpPr>
        <p:spPr>
          <a:xfrm>
            <a:off x="804672" y="3063240"/>
            <a:ext cx="738835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3063240"/>
            <a:ext cx="738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38218" y="160020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94250" y="1828800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4.5 Mbps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594250" y="2441448"/>
            <a:ext cx="3003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results reach the centre, instead of 160 Gbps of raw video</a:t>
            </a:r>
            <a:endParaRPr lang="en-US" sz="1300" dirty="0"/>
          </a:p>
        </p:txBody>
      </p:sp>
      <p:sp>
        <p:nvSpPr>
          <p:cNvPr id="13" name="chip MODELLED"/>
          <p:cNvSpPr/>
          <p:nvPr/>
        </p:nvSpPr>
        <p:spPr>
          <a:xfrm>
            <a:off x="4594250" y="306324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94250" y="306324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27797" y="160020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83829" y="1828800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~50 GPUs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8383829" y="2441448"/>
            <a:ext cx="3003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× L4 for plates and detectors, 10 × L40S for scene reasoning</a:t>
            </a:r>
            <a:endParaRPr lang="en-US" sz="1300" dirty="0"/>
          </a:p>
        </p:txBody>
      </p:sp>
      <p:sp>
        <p:nvSpPr>
          <p:cNvPr id="18" name="chip MODELLED"/>
          <p:cNvSpPr/>
          <p:nvPr/>
        </p:nvSpPr>
        <p:spPr>
          <a:xfrm>
            <a:off x="8383829" y="306324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3829" y="306324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361188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04672" y="3840480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17.4 PB raw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804672" y="4453128"/>
            <a:ext cx="3003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 at 1 Mbps: 2 days hot, 5 warm, 8 cold, erasure-coded</a:t>
            </a:r>
            <a:endParaRPr lang="en-US" sz="1300" dirty="0"/>
          </a:p>
        </p:txBody>
      </p:sp>
      <p:sp>
        <p:nvSpPr>
          <p:cNvPr id="23" name="chip MODELLED"/>
          <p:cNvSpPr/>
          <p:nvPr/>
        </p:nvSpPr>
        <p:spPr>
          <a:xfrm>
            <a:off x="804672" y="507492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4672" y="507492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38218" y="361188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594250" y="3840480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min / 1 h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4594250" y="4453128"/>
            <a:ext cx="3003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and RTO for events, alerts and control plane; evidence RPO near zero</a:t>
            </a:r>
            <a:endParaRPr lang="en-US" sz="1300" dirty="0"/>
          </a:p>
        </p:txBody>
      </p:sp>
      <p:sp>
        <p:nvSpPr>
          <p:cNvPr id="28" name="chip TARGET"/>
          <p:cNvSpPr/>
          <p:nvPr/>
        </p:nvSpPr>
        <p:spPr>
          <a:xfrm>
            <a:off x="4594250" y="5074920"/>
            <a:ext cx="738835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94250" y="5074920"/>
            <a:ext cx="738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127797" y="3611880"/>
            <a:ext cx="3515258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8383829" y="3840480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₹79 cr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8383829" y="4453128"/>
            <a:ext cx="3003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then ₹24 cr a year; about ₹410 per camera per month over 5 years</a:t>
            </a:r>
            <a:endParaRPr lang="en-US" sz="1300" dirty="0"/>
          </a:p>
        </p:txBody>
      </p:sp>
      <p:sp>
        <p:nvSpPr>
          <p:cNvPr id="33" name="chip MODELLED"/>
          <p:cNvSpPr/>
          <p:nvPr/>
        </p:nvSpPr>
        <p:spPr>
          <a:xfrm>
            <a:off x="8383829" y="507492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83829" y="507492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562356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tags.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run on the repo’s capacity suite.  MODELLED: derived from it plus stated assumptions.  PLANNED: designed, not yet built.  Assumptions are listed on the last slide.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· REFERENCE DESIGN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tiers: analyse at the edge, decide at the centre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data centre + DR site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304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1 + 1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46120" y="175564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37560" y="175564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plane: API, scheduler, alert engine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376672" y="175564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68112" y="175564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 Timescale, 3-node HA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507224" y="175564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598664" y="175564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(Redis Streams, Kafka)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637776" y="175564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729216" y="175564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RBAC, audit, dashboards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297180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36042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Regional hub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37160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cameras each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371600" y="3721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8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46120" y="317296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337560" y="31729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pool: ANPR and detectors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376672" y="317296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68112" y="31729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tier: Ceph, S3 API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507224" y="317296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598664" y="31729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mirror, DB read replica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9637776" y="317296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729216" y="31729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video relay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548640" y="438912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777740"/>
            <a:ext cx="228600" cy="22860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37160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node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137160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cameras each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1371600" y="5138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160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246120" y="459028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3337560" y="459028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capture, gate, analyzers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5376672" y="459028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5468112" y="459028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MediaMTX: WebRTC / HLS relay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507224" y="459028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598664" y="459028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Recorder: hot + warm tiers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9637776" y="459028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accent1">
              <a:alpha val="8000"/>
            </a:schemeClr>
          </a:solidFill>
          <a:ln w="6350">
            <a:solidFill>
              <a:schemeClr val="accent1">
                <a:alpha val="25000"/>
              </a:scheme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729216" y="459028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on disk, signed uplink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548640" y="5852160"/>
            <a:ext cx="11094415" cy="457200"/>
          </a:xfrm>
          <a:prstGeom prst="roundRect">
            <a:avLst>
              <a:gd name="adj" fmla="val 24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31520" y="5897880"/>
            <a:ext cx="365760" cy="36576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989320"/>
            <a:ext cx="182880" cy="18288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280160" y="585216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and department systems: RTSP, ONVIF, Hikvision, Dahua, grid, VMS connectors</a:t>
            </a:r>
            <a:endParaRPr lang="en-US" sz="1200" dirty="0"/>
          </a:p>
        </p:txBody>
      </p:sp>
      <p:sp>
        <p:nvSpPr>
          <p:cNvPr id="51" name="Shape 44"/>
          <p:cNvSpPr/>
          <p:nvPr/>
        </p:nvSpPr>
        <p:spPr>
          <a:xfrm>
            <a:off x="1463040" y="260604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2" name="Text 45"/>
          <p:cNvSpPr txBox="1"/>
          <p:nvPr/>
        </p:nvSpPr>
        <p:spPr>
          <a:xfrm>
            <a:off x="1691640" y="2606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alerts, evidence thumbnails: ~4.5 Mbps total, HMAC-signed, store-and-forward</a:t>
            </a:r>
            <a:endParaRPr lang="en-US" sz="1150" dirty="0"/>
          </a:p>
        </p:txBody>
      </p:sp>
      <p:sp>
        <p:nvSpPr>
          <p:cNvPr id="53" name="Shape 46"/>
          <p:cNvSpPr/>
          <p:nvPr/>
        </p:nvSpPr>
        <p:spPr>
          <a:xfrm>
            <a:off x="1463040" y="402336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54" name="Text 47"/>
          <p:cNvSpPr txBox="1"/>
          <p:nvPr/>
        </p:nvSpPr>
        <p:spPr>
          <a:xfrm>
            <a:off x="1691640" y="4023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to GPU pool, results, clips on demand: ~3 Mbps steady per edge</a:t>
            </a:r>
            <a:endParaRPr lang="en-US" sz="1150" dirty="0"/>
          </a:p>
        </p:txBody>
      </p:sp>
      <p:sp>
        <p:nvSpPr>
          <p:cNvPr id="55" name="Shape 48"/>
          <p:cNvSpPr/>
          <p:nvPr/>
        </p:nvSpPr>
        <p:spPr>
          <a:xfrm>
            <a:off x="1463040" y="544068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6" name="Text 49"/>
          <p:cNvSpPr txBox="1"/>
          <p:nvPr/>
        </p:nvSpPr>
        <p:spPr>
          <a:xfrm>
            <a:off x="1691640" y="5440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 stays in the district: 160 Gbps in total, never on the backbone</a:t>
            </a:r>
            <a:endParaRPr lang="en-US" sz="1150" dirty="0"/>
          </a:p>
        </p:txBody>
      </p:sp>
      <p:sp>
        <p:nvSpPr>
          <p:cNvPr id="57" name="Shape 50"/>
          <p:cNvSpPr/>
          <p:nvPr/>
        </p:nvSpPr>
        <p:spPr>
          <a:xfrm>
            <a:off x="1463040" y="544068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COMPUTE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Compute by tier: central, regional and edge requirements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15258" cy="397764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81051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29384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810512"/>
            <a:ext cx="2509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Central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2139696"/>
            <a:ext cx="2509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primary site + 1 DR site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697480"/>
            <a:ext cx="300319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UI: 6 × 16 vCPU, 64 GB, stateless behind a load balancer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1 + standby; 8 workers for any camera without an edge node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 Timescale: 3 nodes, 64 vCPU, 512 GB, 40 TB NVMe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Bus: 5 Redis / Kafka brokers; 4 observability nodes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8218" y="1600200"/>
            <a:ext cx="3515258" cy="397764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66818" y="181051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92938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61178" y="1810512"/>
            <a:ext cx="2509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Regional hub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161178" y="2139696"/>
            <a:ext cx="2509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hubs · ~10,000 cameras each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594250" y="2697480"/>
            <a:ext cx="300319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servers, 32 vCPU, 128 GB: bus mirror, DB replica, S3 gateway, video relay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GPU hosts with 2 to 3 × L4 each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cold-tier nodes: ~0.86 PB logical per hub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GbE inside the hub, 1 Gbps uplink to the centre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127797" y="1600200"/>
            <a:ext cx="3515258" cy="397764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56397" y="181051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192938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50757" y="1810512"/>
            <a:ext cx="2509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node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950757" y="2139696"/>
            <a:ext cx="2509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 nodes + 16 spares · ~500 cameras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383829" y="2697480"/>
            <a:ext cx="300319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vCPU, 64 GB, 10 GbE; runs gateway, MediaMTX and the recorder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~62 MB/s sustained at 1 Mbps per camera (125 MB/s at 2 Mbps)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Disk: 10.8 TB hot and 27 TB warm per node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~3 modern cores; 16 vCPU leaves headroom for re-encode and peaks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571500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77240" y="57150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Basis.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code costs 0.54 ms per analysed frame, flat from 500 to 80,000 cameras (measured). Hardware is provisioned at about 4× the modelled need because every measurement came from one shared Celeron laptop.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COMPUTE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platform’s own code is not the limit at 80,000 cameras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943600" cy="397764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556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Scheduler tick, average milliseconds, by fleet size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05740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6766560" y="1600200"/>
            <a:ext cx="232257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967728" y="17830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0.54 ms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967728" y="23317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per analysed frame, flat across the whole range</a:t>
            </a:r>
            <a:endParaRPr lang="en-US" sz="1250" dirty="0"/>
          </a:p>
        </p:txBody>
      </p:sp>
      <p:sp>
        <p:nvSpPr>
          <p:cNvPr id="11" name="chip MEASURED"/>
          <p:cNvSpPr/>
          <p:nvPr/>
        </p:nvSpPr>
        <p:spPr>
          <a:xfrm>
            <a:off x="6967728" y="3136392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67728" y="3136392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9326880" y="1600200"/>
            <a:ext cx="232257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9528048" y="17830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late runs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9528048" y="23317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150,194 analyses at 80,000 cameras</a:t>
            </a:r>
            <a:endParaRPr lang="en-US" sz="1250" dirty="0"/>
          </a:p>
        </p:txBody>
      </p:sp>
      <p:sp>
        <p:nvSpPr>
          <p:cNvPr id="16" name="chip MEASURED"/>
          <p:cNvSpPr/>
          <p:nvPr/>
        </p:nvSpPr>
        <p:spPr>
          <a:xfrm>
            <a:off x="9528048" y="3136392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528048" y="3136392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766560" y="3657600"/>
            <a:ext cx="232257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967728" y="38404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1.4 GB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967728" y="43891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memory at 80,000 cameras; budget 2 GB</a:t>
            </a:r>
            <a:endParaRPr lang="en-US" sz="1250" dirty="0"/>
          </a:p>
        </p:txBody>
      </p:sp>
      <p:sp>
        <p:nvSpPr>
          <p:cNvPr id="21" name="chip MEASURED"/>
          <p:cNvSpPr/>
          <p:nvPr/>
        </p:nvSpPr>
        <p:spPr>
          <a:xfrm>
            <a:off x="6967728" y="5193792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967728" y="5193792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326880" y="3657600"/>
            <a:ext cx="2322576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9528048" y="38404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0.125 s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9528048" y="438912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per RTSP still grab; start-up dominates, the largest saving available</a:t>
            </a:r>
            <a:endParaRPr lang="en-US" sz="1250" dirty="0"/>
          </a:p>
        </p:txBody>
      </p:sp>
      <p:sp>
        <p:nvSpPr>
          <p:cNvPr id="26" name="chip MEASURED"/>
          <p:cNvSpPr/>
          <p:nvPr/>
        </p:nvSpPr>
        <p:spPr>
          <a:xfrm>
            <a:off x="9528048" y="5193792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528048" y="5193792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48640" y="571500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6">
              <a:alpha val="5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7240" y="57150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the evidence.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Celeron N4020 laptop, with Gemini and the camera frame faked. The on-site PoC re-runs this on target servers.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ACCELERATORS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About 50 GPUs cover plates, detectors and scene reasoning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15258" cy="397764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973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 Plate reading (ANPR)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4231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YOLOv9-t detector + CCT-s OCR on ONNX CUDA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971800"/>
            <a:ext cx="30031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analyses/s × 40% with vehicles = ~130 reads/s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× 3 = ~400 reads/s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100 reads/s per L4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04672" y="434340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× L4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04672" y="4846320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hub, so one can fail</a:t>
            </a:r>
            <a:endParaRPr lang="en-US" sz="1200" dirty="0"/>
          </a:p>
        </p:txBody>
      </p:sp>
      <p:sp>
        <p:nvSpPr>
          <p:cNvPr id="13" name="chip SERVICE BUILT"/>
          <p:cNvSpPr/>
          <p:nvPr/>
        </p:nvSpPr>
        <p:spPr>
          <a:xfrm>
            <a:off x="804672" y="5212080"/>
            <a:ext cx="1302106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212080"/>
            <a:ext cx="130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BUILT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338218" y="1600200"/>
            <a:ext cx="3515258" cy="397764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118" y="189738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1178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 Real-time detectors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94250" y="24231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vehicle, intrusion on priority cameras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94250" y="2971800"/>
            <a:ext cx="30031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cameras = 4,000 at 2 fps = 8,000 fps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500 fps per L4 for a small detector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headroom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4594250" y="434340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× L4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4594250" y="4846320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 3 per hub, 4 cold spares</a:t>
            </a:r>
            <a:endParaRPr lang="en-US" sz="1200" dirty="0"/>
          </a:p>
        </p:txBody>
      </p:sp>
      <p:sp>
        <p:nvSpPr>
          <p:cNvPr id="23" name="chip PLANNED"/>
          <p:cNvSpPr/>
          <p:nvPr/>
        </p:nvSpPr>
        <p:spPr>
          <a:xfrm>
            <a:off x="4594250" y="5212080"/>
            <a:ext cx="819302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94250" y="5212080"/>
            <a:ext cx="8193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127797" y="1600200"/>
            <a:ext cx="3515258" cy="397764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356397" y="178308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697" y="1897380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50757" y="178308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 Scene reasoning (VLM)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383829" y="24231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vision-language model, or a hosted API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383829" y="2971800"/>
            <a:ext cx="300319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leaves ~67 calls/s (see next slide)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8 requests/s per L40S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spare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8383829" y="434340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× L40S</a:t>
            </a:r>
            <a:endParaRPr lang="en-US" sz="2600" dirty="0"/>
          </a:p>
        </p:txBody>
      </p:sp>
      <p:sp>
        <p:nvSpPr>
          <p:cNvPr id="32" name="Text 26"/>
          <p:cNvSpPr txBox="1"/>
          <p:nvPr/>
        </p:nvSpPr>
        <p:spPr>
          <a:xfrm>
            <a:off x="8383829" y="4846320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behind one endpoint</a:t>
            </a:r>
            <a:endParaRPr lang="en-US" sz="1200" dirty="0"/>
          </a:p>
        </p:txBody>
      </p:sp>
      <p:sp>
        <p:nvSpPr>
          <p:cNvPr id="33" name="chip ENDPOINT BUILT"/>
          <p:cNvSpPr/>
          <p:nvPr/>
        </p:nvSpPr>
        <p:spPr>
          <a:xfrm>
            <a:off x="8383829" y="5212080"/>
            <a:ext cx="1382573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383829" y="5212080"/>
            <a:ext cx="13825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BUILT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48640" y="571500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6">
              <a:alpha val="55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77240" y="57150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Unmeasured.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has run this stack yet. Throughput per card is the first number the PoC measures. A hosted model API removes Pool C (see cost).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ACCELERATORS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three-stage funnel keeps the model load small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200400" cy="841248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1,333 /s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1673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All cameras, one frame per 60 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 the edge, nothing leaves the region yet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2468880" cy="841248"/>
          </a:xfrm>
          <a:prstGeom prst="roundRect">
            <a:avLst>
              <a:gd name="adj" fmla="val 10870"/>
            </a:avLst>
          </a:prstGeom>
          <a:solidFill>
            <a:schemeClr val="accent1">
              <a:alpha val="86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243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333 /s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Frame gate: scene changed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30358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pass (assumed); heartbeat every 10 min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648456"/>
            <a:ext cx="1737360" cy="841248"/>
          </a:xfrm>
          <a:prstGeom prst="roundRect">
            <a:avLst>
              <a:gd name="adj" fmla="val 10870"/>
            </a:avLst>
          </a:prstGeom>
          <a:solidFill>
            <a:schemeClr val="accent1">
              <a:alpha val="72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64845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67 /s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3721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Local detector and ANPR flag it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40599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gated frames (assumed) need scene reasoning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672584"/>
            <a:ext cx="1280160" cy="841248"/>
          </a:xfrm>
          <a:prstGeom prst="roundRect">
            <a:avLst>
              <a:gd name="adj" fmla="val 10870"/>
            </a:avLst>
          </a:prstGeom>
          <a:solidFill>
            <a:schemeClr val="accent1">
              <a:alpha val="58000"/>
            </a:schemeClr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72584"/>
            <a:ext cx="1280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33 /s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977640" y="4745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Notable events with evidence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977640" y="50840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results; thumbnails go to the centre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72400" y="1600200"/>
            <a:ext cx="3867912" cy="397764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0010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Levers that move the GPU count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224028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60 s to 300 s: five times fewer frames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threshold per camera type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only on cameras that see vehicles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model API instead of Pool C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per camera: AI off runs the local detector only, no model call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571500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71500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Fail-safe.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ANPR service is down, the scene model reads plates and marks them gemini-fallback, so reads are never mistaken for dedicated OCR.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NETWORK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Bandwidth: the backbone carries results, not video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450592" cy="2606040"/>
          </a:xfrm>
          <a:prstGeom prst="roundRect">
            <a:avLst>
              <a:gd name="adj" fmla="val 4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Cameras to edge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Gbps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Gbps per node at 2 Mbps; stays inside the district network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35808" y="2834640"/>
            <a:ext cx="35753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29914" y="1600200"/>
            <a:ext cx="2450592" cy="2606040"/>
          </a:xfrm>
          <a:prstGeom prst="roundRect">
            <a:avLst>
              <a:gd name="adj" fmla="val 4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658514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to hub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658514" y="21031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Mbps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658514" y="274320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per edge: frames for the GPU pool, results, thumbnails. Provision 100 Mbps for live tiles and clip pulls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17082" y="2834640"/>
            <a:ext cx="35753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11189" y="1600200"/>
            <a:ext cx="2450592" cy="2606040"/>
          </a:xfrm>
          <a:prstGeom prst="roundRect">
            <a:avLst>
              <a:gd name="adj" fmla="val 4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39789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 to centre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539789" y="21031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Mbps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539789" y="274320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hubs together: 4.5 Mbps of results + ~16 Mbps thumbnails. Provision 1 Gbps per hub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798357" y="2834640"/>
            <a:ext cx="35753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92463" y="1600200"/>
            <a:ext cx="2450592" cy="2606040"/>
          </a:xfrm>
          <a:prstGeom prst="roundRect">
            <a:avLst>
              <a:gd name="adj" fmla="val 4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421063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Centre to DR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421063" y="210312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 Mbps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9421063" y="2743200"/>
            <a:ext cx="1993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database replication (~100 GB a day with indexes). Provision 1 Gbps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434840"/>
            <a:ext cx="53949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2296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28,000×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212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hauling video: 500 cameras are 800 Mbps of video but 28 kbps of results</a:t>
            </a:r>
            <a:endParaRPr lang="en-US" sz="1300" dirty="0"/>
          </a:p>
        </p:txBody>
      </p:sp>
      <p:sp>
        <p:nvSpPr>
          <p:cNvPr id="27" name="chip MEASURED"/>
          <p:cNvSpPr/>
          <p:nvPr/>
        </p:nvSpPr>
        <p:spPr>
          <a:xfrm>
            <a:off x="822960" y="585216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85216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248095" y="4434840"/>
            <a:ext cx="5394960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3796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Live viewing is pulled on demand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537960" y="49377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wall of 16 sub-stream tiles at 0.5 Mbps is ~8 Mbps. 100 walls at once is ~0.8 Gbps, served from the edge nearest each camera. The media server pulls each camera once however many people watch.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NETWORK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Eight low-bandwidth strategies, most already in the code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783080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8882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313432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Analyse at the edge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65176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results cross the link: about 28 kbps for 500 cameras.</a:t>
            </a:r>
            <a:endParaRPr lang="en-US" sz="1300" dirty="0"/>
          </a:p>
        </p:txBody>
      </p:sp>
      <p:sp>
        <p:nvSpPr>
          <p:cNvPr id="10" name="chip BUILT"/>
          <p:cNvSpPr/>
          <p:nvPr/>
        </p:nvSpPr>
        <p:spPr>
          <a:xfrm>
            <a:off x="749808" y="3401568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9808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79394" y="1600200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80562" y="1783080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718" y="1888236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80562" y="2313432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Frame gate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580562" y="265176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 frame if under 2% of pixels moved; heartbeat every 10 minutes.</a:t>
            </a:r>
            <a:endParaRPr lang="en-US" sz="1300" dirty="0"/>
          </a:p>
        </p:txBody>
      </p:sp>
      <p:sp>
        <p:nvSpPr>
          <p:cNvPr id="17" name="chip BUILT"/>
          <p:cNvSpPr/>
          <p:nvPr/>
        </p:nvSpPr>
        <p:spPr>
          <a:xfrm>
            <a:off x="3580562" y="3401568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580562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0148" y="1600200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1316" y="1783080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72" y="1888236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11316" y="2313432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Store and forward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11316" y="265176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outbox, batches of 200, back-off from 1 s to 60 s, survives days offline.</a:t>
            </a:r>
            <a:endParaRPr lang="en-US" sz="1300" dirty="0"/>
          </a:p>
        </p:txBody>
      </p:sp>
      <p:sp>
        <p:nvSpPr>
          <p:cNvPr id="24" name="chip BUILT"/>
          <p:cNvSpPr/>
          <p:nvPr/>
        </p:nvSpPr>
        <p:spPr>
          <a:xfrm>
            <a:off x="6411316" y="3401568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11316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040901" y="1600200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242069" y="1783080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225" y="1888236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242069" y="2313432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Pull only when watched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242069" y="265176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pull per camera; the relay serves every viewer from that one stream.</a:t>
            </a:r>
            <a:endParaRPr lang="en-US" sz="1300" dirty="0"/>
          </a:p>
        </p:txBody>
      </p:sp>
      <p:sp>
        <p:nvSpPr>
          <p:cNvPr id="31" name="chip BUILT"/>
          <p:cNvSpPr/>
          <p:nvPr/>
        </p:nvSpPr>
        <p:spPr>
          <a:xfrm>
            <a:off x="9242069" y="3401568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242069" y="340156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48640" y="3950208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49808" y="413308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4238244"/>
            <a:ext cx="210312" cy="21031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49808" y="466344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Link-aware playback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749808" y="5001768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fMP4 HLS on weak links; low-latency HLS stalled at 300 ms delay in testing.</a:t>
            </a:r>
            <a:endParaRPr lang="en-US" sz="1300" dirty="0"/>
          </a:p>
        </p:txBody>
      </p:sp>
      <p:sp>
        <p:nvSpPr>
          <p:cNvPr id="38" name="chip BUILT"/>
          <p:cNvSpPr/>
          <p:nvPr/>
        </p:nvSpPr>
        <p:spPr>
          <a:xfrm>
            <a:off x="749808" y="5751576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49808" y="57515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379394" y="3950208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3580562" y="413308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718" y="4238244"/>
            <a:ext cx="210312" cy="21031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3580562" y="466344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Sub-streams</a:t>
            </a:r>
            <a:endParaRPr lang="en-US" sz="1300" dirty="0"/>
          </a:p>
        </p:txBody>
      </p:sp>
      <p:sp>
        <p:nvSpPr>
          <p:cNvPr id="44" name="Text 35"/>
          <p:cNvSpPr txBox="1"/>
          <p:nvPr/>
        </p:nvSpPr>
        <p:spPr>
          <a:xfrm>
            <a:off x="3580562" y="5001768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and recording on 1 Mbps sub-streams instead of 2 to 4 Mbps main streams.</a:t>
            </a:r>
            <a:endParaRPr lang="en-US" sz="1300" dirty="0"/>
          </a:p>
        </p:txBody>
      </p:sp>
      <p:sp>
        <p:nvSpPr>
          <p:cNvPr id="45" name="chip CONFIG"/>
          <p:cNvSpPr/>
          <p:nvPr/>
        </p:nvSpPr>
        <p:spPr>
          <a:xfrm>
            <a:off x="3580562" y="5751576"/>
            <a:ext cx="738835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3580562" y="5751576"/>
            <a:ext cx="7388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210148" y="3950208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411316" y="413308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472" y="4238244"/>
            <a:ext cx="210312" cy="210312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411316" y="466344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No-AI local detector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6411316" y="5001768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zone and line events from a 64×36 fingerprint: no model call, no key.</a:t>
            </a:r>
            <a:endParaRPr lang="en-US" sz="1300" dirty="0"/>
          </a:p>
        </p:txBody>
      </p:sp>
      <p:sp>
        <p:nvSpPr>
          <p:cNvPr id="52" name="chip BUILT"/>
          <p:cNvSpPr/>
          <p:nvPr/>
        </p:nvSpPr>
        <p:spPr>
          <a:xfrm>
            <a:off x="6411316" y="5751576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6411316" y="57515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54" name="Shape 44"/>
          <p:cNvSpPr/>
          <p:nvPr/>
        </p:nvSpPr>
        <p:spPr>
          <a:xfrm>
            <a:off x="9040901" y="3950208"/>
            <a:ext cx="2602154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9242069" y="413308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225" y="4238244"/>
            <a:ext cx="210312" cy="210312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9242069" y="4663440"/>
            <a:ext cx="2199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Longer intervals</a:t>
            </a:r>
            <a:endParaRPr lang="en-US" sz="1300" dirty="0"/>
          </a:p>
        </p:txBody>
      </p:sp>
      <p:sp>
        <p:nvSpPr>
          <p:cNvPr id="58" name="Text 47"/>
          <p:cNvSpPr txBox="1"/>
          <p:nvPr/>
        </p:nvSpPr>
        <p:spPr>
          <a:xfrm>
            <a:off x="9242069" y="5001768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 intervals cut frames five times; notable-only mirroring cuts writes tenfold.</a:t>
            </a:r>
            <a:endParaRPr lang="en-US" sz="1300" dirty="0"/>
          </a:p>
        </p:txBody>
      </p:sp>
      <p:sp>
        <p:nvSpPr>
          <p:cNvPr id="59" name="chip BUILT"/>
          <p:cNvSpPr/>
          <p:nvPr/>
        </p:nvSpPr>
        <p:spPr>
          <a:xfrm>
            <a:off x="9242069" y="5751576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9242069" y="57515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STORAGE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Hot, warm and cold tiers for a 15-day retention baseline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36444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27632"/>
            <a:ext cx="2270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80,000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recorded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67964" y="1554480"/>
            <a:ext cx="2636444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844" y="1627632"/>
            <a:ext cx="2270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Mbps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550844" y="20116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sub-stream, 10.8 GB per day each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87288" y="1554480"/>
            <a:ext cx="2636444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70168" y="1627632"/>
            <a:ext cx="2270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864 TB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370168" y="20116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per day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06611" y="1554480"/>
            <a:ext cx="2636444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9491" y="1627632"/>
            <a:ext cx="2270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 days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189491" y="201168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baseline; per-camera keepDays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2560320"/>
            <a:ext cx="1442679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560320"/>
            <a:ext cx="1442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· day 0 to 2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027895" y="2560320"/>
            <a:ext cx="3661562" cy="4023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027895" y="2560320"/>
            <a:ext cx="36615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 · day 3 to 7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26034" y="2560320"/>
            <a:ext cx="5880445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26034" y="2560320"/>
            <a:ext cx="58804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 · day 8 to 15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31546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04672" y="3310128"/>
            <a:ext cx="30031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Hot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04672" y="3749040"/>
            <a:ext cx="30031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node, local RAID-6 disks with NVMe cache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 PB logical, 2.16 PB raw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 TB per edge node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tail and instant playback</a:t>
            </a:r>
            <a:endParaRPr lang="en-US" sz="1400" dirty="0"/>
          </a:p>
        </p:txBody>
      </p:sp>
      <p:sp>
        <p:nvSpPr>
          <p:cNvPr id="26" name="chip MODELLED"/>
          <p:cNvSpPr/>
          <p:nvPr/>
        </p:nvSpPr>
        <p:spPr>
          <a:xfrm>
            <a:off x="804672" y="585216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4672" y="585216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38218" y="31546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4594250" y="3310128"/>
            <a:ext cx="30031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Warm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594250" y="3749040"/>
            <a:ext cx="30031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node, warm folder, erasure coded 6+2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 PB logical, 5.76 PB raw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TB per edge node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and clips, slower first byte</a:t>
            </a:r>
            <a:endParaRPr lang="en-US" sz="1400" dirty="0"/>
          </a:p>
        </p:txBody>
      </p:sp>
      <p:sp>
        <p:nvSpPr>
          <p:cNvPr id="31" name="chip MODELLED"/>
          <p:cNvSpPr/>
          <p:nvPr/>
        </p:nvSpPr>
        <p:spPr>
          <a:xfrm>
            <a:off x="4594250" y="585216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94250" y="585216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27797" y="3154680"/>
            <a:ext cx="3515258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8383829" y="3310128"/>
            <a:ext cx="30031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Cold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383829" y="3749040"/>
            <a:ext cx="300319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hub Ceph, S3 API, erasure coded 8+3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6.91 PB logical, 9.50 PB raw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 PB logical per hub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cut from a 2 GB cache after download</a:t>
            </a:r>
            <a:endParaRPr lang="en-US" sz="1400" dirty="0"/>
          </a:p>
        </p:txBody>
      </p:sp>
      <p:sp>
        <p:nvSpPr>
          <p:cNvPr id="36" name="chip MODELLED"/>
          <p:cNvSpPr/>
          <p:nvPr/>
        </p:nvSpPr>
        <p:spPr>
          <a:xfrm>
            <a:off x="8383829" y="585216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83829" y="585216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STORAGE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Retention and bitrate move storage by about 17 times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667512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556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Raw storage by tier, petabytes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057400"/>
          <a:ext cx="6309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600200"/>
            <a:ext cx="414497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699248" y="173736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Events and logs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699248" y="2057400"/>
            <a:ext cx="3742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M events a day, ~48 GB of rows (~100 GB with indexes). 30 days hot in Postgres / Timescale, then compressed for a year.</a:t>
            </a:r>
            <a:endParaRPr lang="en-US" sz="1150" dirty="0"/>
          </a:p>
        </p:txBody>
      </p:sp>
      <p:sp>
        <p:nvSpPr>
          <p:cNvPr id="11" name="chip MODELLED"/>
          <p:cNvSpPr/>
          <p:nvPr/>
        </p:nvSpPr>
        <p:spPr>
          <a:xfrm>
            <a:off x="10271455" y="1737360"/>
            <a:ext cx="899770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71455" y="173736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498080" y="3200400"/>
            <a:ext cx="414497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699248" y="333756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Departments keep video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699248" y="3657600"/>
            <a:ext cx="3742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federated profile, departments hold footage for 7 to 15+ days. The platform keeps metadata and says "video no longer held" when it is gone.</a:t>
            </a:r>
            <a:endParaRPr lang="en-US" sz="1150" dirty="0"/>
          </a:p>
        </p:txBody>
      </p:sp>
      <p:sp>
        <p:nvSpPr>
          <p:cNvPr id="16" name="chip PLANNED"/>
          <p:cNvSpPr/>
          <p:nvPr/>
        </p:nvSpPr>
        <p:spPr>
          <a:xfrm>
            <a:off x="10271455" y="3337560"/>
            <a:ext cx="819302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271455" y="3337560"/>
            <a:ext cx="8193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498080" y="4800600"/>
            <a:ext cx="414497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699248" y="493776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699248" y="5257800"/>
            <a:ext cx="37426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exported clip is hashed, gets a hold, and is copied to the DR site, so it outlives routine retention.</a:t>
            </a:r>
            <a:endParaRPr lang="en-US" sz="1150" dirty="0"/>
          </a:p>
        </p:txBody>
      </p:sp>
      <p:sp>
        <p:nvSpPr>
          <p:cNvPr id="21" name="chip HOLD BUILT"/>
          <p:cNvSpPr/>
          <p:nvPr/>
        </p:nvSpPr>
        <p:spPr>
          <a:xfrm>
            <a:off x="10271455" y="4937760"/>
            <a:ext cx="1060704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 w="63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271455" y="49377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BUILT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OPERATIONS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Load balancing and horizontal scaling: every layer scales out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0292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dashboards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063240" y="2157984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386584"/>
            <a:ext cx="50292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865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balancer: NGINX / Kong or Kubernetes ingress, TLS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63240" y="2944368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3172968"/>
            <a:ext cx="50292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17296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UI pods × N, stateless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63240" y="3730752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" y="3959352"/>
            <a:ext cx="50292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95935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(1 + standby)  →  queue  →  workers × 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63240" y="4517136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48640" y="4745736"/>
            <a:ext cx="50292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74573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nodes × 160: each runs its own scheduler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063240" y="5303520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48640" y="5532120"/>
            <a:ext cx="502920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53212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ingest  /api/gateway/*  into the event store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57881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547872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HOW IT SCALES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pods; stateless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workers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workers; one job per camera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is enough: 48 ms per tick at 80,000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node per ~500 cameras, sharded by gatewayId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Batched writes ~900 rows/s per connection; partition by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relay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pull per camera; ~1% of a core per viewer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pools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HTTP behind the balancer; /healthz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OPERATIONS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Monitoring, logging and health checks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040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669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SIGNALS THE PLATFORM ALREADY EMITS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camera.offline / camera.online from run history; blocked, dark and over-exposed picture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/api/analysis/status: backend, queue depth, skipped-unchanged count, ANPR health and 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heartbeat; online, degraded or offline after 90 s; gateway.* events feed alert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relay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server log parsed into events; log tail endpoint for operators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/healthz reports status and cuda or cpu; every reply carries elapsed_ms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log of refusals and sensitive actions, saved in batches to the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863840" y="1600200"/>
            <a:ext cx="3779215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092440" y="175564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Central stack to add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148840"/>
            <a:ext cx="3322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Alertmanager, Grafana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logs: Loki or ELK, structured JSON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 across edge, hub, centre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synthetic probe per hub</a:t>
            </a:r>
            <a:endParaRPr lang="en-US" sz="1250" dirty="0"/>
          </a:p>
        </p:txBody>
      </p:sp>
      <p:sp>
        <p:nvSpPr>
          <p:cNvPr id="9" name="chip PLANNED"/>
          <p:cNvSpPr/>
          <p:nvPr/>
        </p:nvSpPr>
        <p:spPr>
          <a:xfrm>
            <a:off x="10408615" y="1755648"/>
            <a:ext cx="819302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408615" y="1755648"/>
            <a:ext cx="8193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63840" y="4114800"/>
            <a:ext cx="3779215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427024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Golden signals per region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4663440"/>
            <a:ext cx="33220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per second and late runs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depth and heartbeat age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free and recorder gaps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utilisation and reads per second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RESILIENCE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 availability, backup and disaster recovery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15258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RPO ≤ 5 min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1627632"/>
            <a:ext cx="1320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alerts, config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RTO ≤ 1 h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395618" y="1627632"/>
            <a:ext cx="1320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at the DR site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27797" y="1554480"/>
            <a:ext cx="3515258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56397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RPO ≈ 0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0185197" y="1627632"/>
            <a:ext cx="1320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evidence (replicated)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49040"/>
                <a:gridCol w="3017520"/>
                <a:gridCol w="277063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COMPONENT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 AVAILABILITY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BACKUP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DISASTER RECOVERY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primary + 2 replicas, automatic failover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 archive to object store; daily base 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replica at DR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and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 5 brokers, replication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replay window of 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Mirrored to 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≥3 pods across racks; standby 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Stateless; config in 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standby, DNS cut-over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spare per 10; cameras re-pointed by gatewayId; outbox holds 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list re-fetched from the centre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analysing offline, replays in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RAID-6 hot; erasure coding 6+2 warm, 8+3 cold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backed up (routine footage)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loss costs routine footage; evidence survives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chip DESIGN: A22 / A23 NOT BUILT"/>
          <p:cNvSpPr/>
          <p:nvPr/>
        </p:nvSpPr>
        <p:spPr>
          <a:xfrm>
            <a:off x="548640" y="5989320"/>
            <a:ext cx="2428646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4000"/>
            </a:schemeClr>
          </a:solidFill>
          <a:ln w="635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5989320"/>
            <a:ext cx="24286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A22 / A23 NOT BUILT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383280" y="5961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today: edge outbox with replay, idempotent event ids, evidence holds. Quarterly failover drills are part of the plan.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SECURITY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Cybersecurity: what is built, and what the State deployment adds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926080" y="1554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INTO THE PLATFORM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FOR THE STATE DEPLOYMENT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99339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0312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926080" y="1828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Sign-in, role claims (viewer, operator, admin), department scoping, access log of refusals and sensitive actions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18288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and multi-factor, privileged-access workflow, revoked-token checks 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86207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718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Edge trust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926080" y="26974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signed requests with time and nonce; secrets rotate or disable; a stolen secret reaches only its own cameras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452360" y="26974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TLS, certificate rotation, signed software updates for edge nodes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356616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373075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404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3566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2926080" y="35661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evidence manifests, holds, camera credentials sealed, keys held server-side only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7452360" y="356616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rest, TLS 1.3 everywhere, KMS or HSM, signed manifests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" y="459943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0916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4434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Network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2926080" y="4434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reaches out; the GPU service is exposed through an outbound tunnel, no inbound port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7452360" y="4434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VLANs, edge DMZ, per-department segments, WAF and rate limits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31520" y="5468112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6350">
            <a:solidFill>
              <a:schemeClr val="accent1">
                <a:alpha val="30000"/>
              </a:scheme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577840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325880" y="5303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2926080" y="5303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on gateway and camera health events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7452360" y="530352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feed, vulnerability scans, penetration test, independent audit, immutable backups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COST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Implementation cost: about ₹79 crore one-time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722376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556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One-time cost, ₹ crore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0574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046720" y="1600200"/>
            <a:ext cx="359633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275320" y="1737360"/>
            <a:ext cx="3139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₹78.8 cr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8275320" y="2331720"/>
            <a:ext cx="3139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43.1, implementation 28.5, contingency 7.2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46720" y="3246120"/>
            <a:ext cx="3596335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75320" y="338328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Unit prices assumed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3749040"/>
            <a:ext cx="3139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storage ₹8,000 to 10,000 per TB, complete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server ₹6 lakh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₹2.8 lakh; L40S ₹9 lakh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₹2.5 lakh per month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₹1,000 per camera</a:t>
            </a:r>
            <a:endParaRPr lang="en-US" sz="1200" dirty="0"/>
          </a:p>
        </p:txBody>
      </p:sp>
      <p:sp>
        <p:nvSpPr>
          <p:cNvPr id="14" name="chip MODELLED ±30%"/>
          <p:cNvSpPr/>
          <p:nvPr/>
        </p:nvSpPr>
        <p:spPr>
          <a:xfrm>
            <a:off x="8275320" y="5852160"/>
            <a:ext cx="1302106" cy="237744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 w="635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5852160"/>
            <a:ext cx="13021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±30%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COST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cost: about ₹24 crore a year, ₹410 per camera per month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76072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55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Cumulative cost, ₹ crore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0574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54480"/>
          <a:ext cx="5059375" cy="914400"/>
        </p:xfrm>
        <a:graphic>
          <a:graphicData uri="http://schemas.openxmlformats.org/drawingml/2006/table">
            <a:tbl>
              <a:tblPr/>
              <a:tblGrid>
                <a:gridCol w="4236415"/>
                <a:gridCol w="822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ANNUAL RUN COST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 CR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 (SOC, SRE, support, 8 developers)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links (may use the State network)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and cooling (~450 kW IT load)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support, from 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support and audits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Total, steady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583680" y="452628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accent1">
              <a:alpha val="8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12280" y="4636008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moves the number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812280" y="498348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retention: +₹15 cr storage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Mbps recording: +₹15 cr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model API: −₹1.4 cr now, +₹6 cr a year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EVIDENCE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verified, and what the PoC must still prove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64328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6350">
            <a:solidFill>
              <a:schemeClr val="accent2">
                <a:alpha val="30000"/>
              </a:scheme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973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7830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Verified so far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14600"/>
            <a:ext cx="481568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simulated to 80,000 cameras: 150,194 analyses, no late runs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protocol: 24 tests over real HTTP, 20,000-item backlog, link cut and restored, nothing lost or doubled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tier against a signature-checking S3: lost uploads, 40 MB streamed upload, clips with identical hashes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media server: pass-through about 1% of a core per camera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stores on real Postgres: ~900 rows/s batched, answers match the in-memory store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78728" y="1600200"/>
            <a:ext cx="5364328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07328" y="1783080"/>
            <a:ext cx="457200" cy="45720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6350">
            <a:solidFill>
              <a:schemeClr val="accent3">
                <a:alpha val="30000"/>
              </a:scheme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628" y="18973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01688" y="17830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 yet verified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53048" y="2514600"/>
            <a:ext cx="481568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queue, Kafka, Ceph, Kubernetes: written against fakes or not written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GPU: ANPR speed and accuracy on CUDA, on Indian plates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cameras, H.265, links of hundreds of kilometres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latency and cost, and the real frame-gate pass rate on real scenes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hub tier, edge clip fetch, gateway failover, encryption at rest, DR drills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POC AND ROLLOUT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on-site PoC to 80,000 cameras in three gated phases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PoC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17627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months  ·  100 to 500 cameras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06040"/>
            <a:ext cx="30031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edge node, 1 GPU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feed + Government feed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ANPR, intrusion, objects, reports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840480"/>
            <a:ext cx="3003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measured reads/s and gate pass rate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600200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9425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Pilot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94250" y="217627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months  ·  10,000 cameras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94250" y="2606040"/>
            <a:ext cx="30031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regional hub, 10 to 20 edge nodes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Redis, Kafka, Ceph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and DR drill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94250" y="3840480"/>
            <a:ext cx="3003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SLOs met, cost per camera confirmed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27797" y="1600200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83829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Rollout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83829" y="2176272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months  ·  80,000 cameras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383829" y="2606040"/>
            <a:ext cx="30031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hubs in waves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site live, audit passed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Hand-over to operations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83829" y="3840480"/>
            <a:ext cx="3003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sign-off per wave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POC MEASURES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937760"/>
            <a:ext cx="2072579" cy="1188720"/>
          </a:xfrm>
          <a:prstGeom prst="roundRect">
            <a:avLst>
              <a:gd name="adj" fmla="val 7692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534924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Frame-gate pass rate on real scenes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804099" y="4937760"/>
            <a:ext cx="2072579" cy="1188720"/>
          </a:xfrm>
          <a:prstGeom prst="roundRect">
            <a:avLst>
              <a:gd name="adj" fmla="val 7692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86979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2986979" y="534924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reads/s and accuracy per L4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59558" y="4937760"/>
            <a:ext cx="2072579" cy="1188720"/>
          </a:xfrm>
          <a:prstGeom prst="roundRect">
            <a:avLst>
              <a:gd name="adj" fmla="val 7692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42438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242438" y="534924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per core with in-process capture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15017" y="4937760"/>
            <a:ext cx="2072579" cy="1188720"/>
          </a:xfrm>
          <a:prstGeom prst="roundRect">
            <a:avLst>
              <a:gd name="adj" fmla="val 7692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7897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497897" y="534924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bitrate per camera and link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570476" y="4937760"/>
            <a:ext cx="2072579" cy="1188720"/>
          </a:xfrm>
          <a:prstGeom prst="roundRect">
            <a:avLst>
              <a:gd name="adj" fmla="val 7692"/>
            </a:avLst>
          </a:prstGeom>
          <a:solidFill>
            <a:srgbClr val="1A2333"/>
          </a:solidFill>
          <a:ln w="9525">
            <a:solidFill>
              <a:srgbClr val="24304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753356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9753356" y="534924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an edge node, the database primary, a link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ASSUMPTIONS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Assumption register: change one, and the numbers follow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108960"/>
                <a:gridCol w="3566160"/>
                <a:gridCol w="1645920"/>
                <a:gridCol w="235915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ASSUMPTION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SOURCE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 WRONG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and 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 cameras, 1 frame per 60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Brief; capacity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captures linearly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Frame-gate pass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and GPUs scale with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Second-stage pass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of gated 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C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core versus Celeron N4020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and central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share of analysed 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A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throughput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reads/s and 500 fps per L4; 8 req/s per L40S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count; measured in PoC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bitrate and retention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Mbps, 15 days, hot 2 / warm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Storage, up to ~17×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RAID-6 1.25×, EC 6+2 1.33×, EC 8+3 1.375×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petabytes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index 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row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 and staffing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cost slides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±30% on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niSee">
  <a:themeElements>
    <a:clrScheme name="OmniSee">
      <a:dk1>
        <a:srgbClr val="0F172A"/>
      </a:dk1>
      <a:lt1>
        <a:srgbClr val="FFFFFF"/>
      </a:lt1>
      <a:dk2>
        <a:srgbClr val="475569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3B82F6"/>
      </a:accent5>
      <a:accent6>
        <a:srgbClr val="E2E8F0"/>
      </a:accent6>
      <a:hlink>
        <a:srgbClr val="2563EB"/>
      </a:hlink>
      <a:folHlink>
        <a:srgbClr val="475569"/>
      </a:folHlink>
    </a:clrScheme>
    <a:fontScheme name="OmniSe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OmniSee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OmniSee at 80,000 cameras - scalability response</dc:title>
  <dc:subject>PptxGenJS Presentation</dc:subject>
  <dc:creator>OmniSee</dc:creator>
  <cp:lastModifiedBy>OmniSee</cp:lastModifiedBy>
  <cp:revision>1</cp:revision>
  <dcterms:created xsi:type="dcterms:W3CDTF">2026-10-10T19:58:44Z</dcterms:created>
  <dcterms:modified xsi:type="dcterms:W3CDTF">2026-10-10T19:58:44Z</dcterms:modified>
</cp:coreProperties>
</file>