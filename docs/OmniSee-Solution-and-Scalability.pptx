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c9053199-a4c6-3bb8-91ad-5bcd70f854e8}">
          <p14:sldIdLst>
            <p14:sldId id="256"/>
          </p14:sldIdLst>
        </p14:section>
        <p14:section name="PROBLEM AND MODEL" id="{21b22d27-a59a-cbc3-c8a6-c12f9ce19835}">
          <p14:sldIdLst>
            <p14:sldId id="257"/>
          </p14:sldIdLst>
        </p14:section>
        <p14:section name="KEY FEATURES" id="{3b410fa6-f4d7-0179-322e-9e00f29ef034}">
          <p14:sldIdLst>
            <p14:sldId id="258"/>
          </p14:sldIdLst>
        </p14:section>
        <p14:section name="ARCHITECTURE" id="{5c095cd4-bcf3-fdd6-1665-8574d67c068b}">
          <p14:sldIdLst>
            <p14:sldId id="259"/>
          </p14:sldIdLst>
        </p14:section>
        <p14:section name="INTEROPERABILITY" id="{af60204d-8eed-d907-755a-74b93cf3109c}">
          <p14:sldIdLst>
            <p14:sldId id="260"/>
          </p14:sldIdLst>
        </p14:section>
        <p14:section name="VIDEO ANALYTICS" id="{4c90e20b-9028-6537-d3fb-fae1ba799d02}">
          <p14:sldIdLst>
            <p14:sldId id="261"/>
            <p14:sldId id="262"/>
          </p14:sldIdLst>
        </p14:section>
        <p14:section name="SUMMARY" id="{33e83322-d277-54dd-d40f-ea777b4eeab0}">
          <p14:sldIdLst>
            <p14:sldId id="263"/>
          </p14:sldIdLst>
        </p14:section>
        <p14:section name="REFERENCE DESIGN" id="{56022463-f141-972f-2300-2df5a85611e0}">
          <p14:sldIdLst>
            <p14:sldId id="264"/>
          </p14:sldIdLst>
        </p14:section>
        <p14:section name="COMPUTE" id="{81775074-a22e-2d96-65eb-ea6e1e9227e7}">
          <p14:sldIdLst>
            <p14:sldId id="265"/>
            <p14:sldId id="266"/>
          </p14:sldIdLst>
        </p14:section>
        <p14:section name="ACCELERATORS" id="{998e046b-6bd4-7158-ef8d-cf7b4584dc81}">
          <p14:sldIdLst>
            <p14:sldId id="267"/>
            <p14:sldId id="268"/>
          </p14:sldIdLst>
        </p14:section>
        <p14:section name="NETWORK" id="{1226cd24-14e2-f6fa-863c-4804c04dc1f6}">
          <p14:sldIdLst>
            <p14:sldId id="269"/>
            <p14:sldId id="270"/>
          </p14:sldIdLst>
        </p14:section>
        <p14:section name="STORAGE" id="{ad5a6a33-6f3c-4d4b-389e-b61410765859}">
          <p14:sldIdLst>
            <p14:sldId id="271"/>
            <p14:sldId id="272"/>
          </p14:sldIdLst>
        </p14:section>
        <p14:section name="OPERATIONS" id="{2c25b794-344c-15a9-622c-6ac418cfd3d9}">
          <p14:sldIdLst>
            <p14:sldId id="273"/>
            <p14:sldId id="274"/>
          </p14:sldIdLst>
        </p14:section>
        <p14:section name="RESILIENCE" id="{3297bd3a-9256-78c7-5b52-64ffb082e560}">
          <p14:sldIdLst>
            <p14:sldId id="275"/>
          </p14:sldIdLst>
        </p14:section>
        <p14:section name="SECURITY" id="{b37b6290-6220-ea0c-b791-99d3c16206b8}">
          <p14:sldIdLst>
            <p14:sldId id="276"/>
          </p14:sldIdLst>
        </p14:section>
        <p14:section name="COST" id="{dbc92873-f6b7-f62a-633b-0d0bb7ec7db0}">
          <p14:sldIdLst>
            <p14:sldId id="277"/>
            <p14:sldId id="278"/>
          </p14:sldIdLst>
        </p14:section>
        <p14:section name="EVIDENCE" id="{7f8e7826-5556-3ebe-05ba-8df8f6869b32}">
          <p14:sldIdLst>
            <p14:sldId id="279"/>
          </p14:sldIdLst>
        </p14:section>
        <p14:section name="POC AND ROLLOUT" id="{38fbe45e-737e-cb02-07f8-60e7875626e0}">
          <p14:sldIdLst>
            <p14:sldId id="280"/>
          </p14:sldIdLst>
        </p14:section>
        <p14:section name="ASSUMPTIONS" id="{bbca0d93-9889-5618-37d9-7603c9945403}">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ms per tick</c:v>
                </c:pt>
              </c:strCache>
            </c:strRef>
          </c:tx>
          <c:spPr>
            <a:solidFill>
              <a:srgbClr val="2563EB"/>
            </a:solidFill>
            <a:effectLst/>
          </c:spPr>
          <c:invertIfNegative val="0"/>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500</c:v>
                  </c:pt>
                  <c:pt idx="1">
                    <c:v>5,000</c:v>
                  </c:pt>
                  <c:pt idx="2">
                    <c:v>20,000</c:v>
                  </c:pt>
                  <c:pt idx="3">
                    <c:v>80,000</c:v>
                  </c:pt>
                </c:lvl>
              </c:multiLvlStrCache>
            </c:multiLvlStrRef>
          </c:cat>
          <c:val>
            <c:numRef>
              <c:f>Sheet1!$B$2:$B$5</c:f>
              <c:numCache>
                <c:formatCode>General</c:formatCode>
                <c:ptCount val="4"/>
                <c:pt idx="0">
                  <c:v>0.6</c:v>
                </c:pt>
                <c:pt idx="1">
                  <c:v>1.2</c:v>
                </c:pt>
                <c:pt idx="2">
                  <c:v>3.8</c:v>
                </c:pt>
                <c:pt idx="3">
                  <c:v>48</c:v>
                </c:pt>
              </c:numCache>
            </c:numRef>
          </c:val>
        </c:ser>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75569"/>
                    </a:solidFill>
                    <a:latin typeface="Arial"/>
                  </a:defRPr>
                </a:pPr>
                <a:r>
                  <a:rPr sz="1100" b="0" i="0" u="none" strike="noStrike">
                    <a:solidFill>
                      <a:srgbClr val="475569"/>
                    </a:solidFill>
                    <a:latin typeface="Arial"/>
                  </a:rPr>
                  <a:t>cameras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Hot</c:v>
                </c:pt>
              </c:strCache>
            </c:strRef>
          </c:tx>
          <c:spPr>
            <a:solidFill>
              <a:srgbClr val="60A5FA"/>
            </a:solidFill>
            <a:effectLst/>
          </c:spPr>
          <c:invertIfNegative val="0"/>
          <c:dLbls>
            <c:numFmt formatCode="0.0;;" sourceLinked="0"/>
            <c:txPr>
              <a:bodyPr/>
              <a:lstStyle/>
              <a:p>
                <a:pPr>
                  <a:defRPr b="0" i="0" strike="noStrike" sz="1100" u="none">
                    <a:solidFill>
                      <a:srgbClr val="0F172A"/>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7 d, 1 Mbps: 7.9 PB</c:v>
                  </c:pt>
                  <c:pt idx="1">
                    <c:v>15 d, 1 Mbps: 17.4 PB</c:v>
                  </c:pt>
                  <c:pt idx="2">
                    <c:v>30 d, 1 Mbps: 35.2 PB</c:v>
                  </c:pt>
                  <c:pt idx="3">
                    <c:v>15 d, 2 Mbps: 34.8 PB</c:v>
                  </c:pt>
                </c:lvl>
              </c:multiLvlStrCache>
            </c:multiLvlStrRef>
          </c:cat>
          <c:val>
            <c:numRef>
              <c:f>Sheet1!$B$2:$B$5</c:f>
              <c:numCache>
                <c:formatCode>General</c:formatCode>
                <c:ptCount val="4"/>
                <c:pt idx="0">
                  <c:v>2.16</c:v>
                </c:pt>
                <c:pt idx="1">
                  <c:v>2.16</c:v>
                </c:pt>
                <c:pt idx="2">
                  <c:v>2.16</c:v>
                </c:pt>
                <c:pt idx="3">
                  <c:v>4.32</c:v>
                </c:pt>
              </c:numCache>
            </c:numRef>
          </c:val>
        </c:ser>
        <c:ser>
          <c:idx val="1"/>
          <c:order val="1"/>
          <c:tx>
            <c:strRef>
              <c:f>Sheet1!$C$1</c:f>
              <c:strCache>
                <c:ptCount val="1"/>
                <c:pt idx="0">
                  <c:v>Warm</c:v>
                </c:pt>
              </c:strCache>
            </c:strRef>
          </c:tx>
          <c:spPr>
            <a:solidFill>
              <a:srgbClr val="93C5FD"/>
            </a:solidFill>
            <a:effectLst/>
          </c:spPr>
          <c:invertIfNegative val="0"/>
          <c:dLbls>
            <c:numFmt formatCode="0.0;;" sourceLinked="0"/>
            <c:txPr>
              <a:bodyPr/>
              <a:lstStyle/>
              <a:p>
                <a:pPr>
                  <a:defRPr b="0" i="0" strike="noStrike" sz="1100" u="none">
                    <a:solidFill>
                      <a:srgbClr val="0F172A"/>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7 d, 1 Mbps: 7.9 PB</c:v>
                  </c:pt>
                  <c:pt idx="1">
                    <c:v>15 d, 1 Mbps: 17.4 PB</c:v>
                  </c:pt>
                  <c:pt idx="2">
                    <c:v>30 d, 1 Mbps: 35.2 PB</c:v>
                  </c:pt>
                  <c:pt idx="3">
                    <c:v>15 d, 2 Mbps: 34.8 PB</c:v>
                  </c:pt>
                </c:lvl>
              </c:multiLvlStrCache>
            </c:multiLvlStrRef>
          </c:cat>
          <c:val>
            <c:numRef>
              <c:f>Sheet1!$C$2:$C$5</c:f>
              <c:numCache>
                <c:formatCode>General</c:formatCode>
                <c:ptCount val="4"/>
                <c:pt idx="0">
                  <c:v>5.76</c:v>
                </c:pt>
                <c:pt idx="1">
                  <c:v>5.76</c:v>
                </c:pt>
                <c:pt idx="2">
                  <c:v>5.76</c:v>
                </c:pt>
                <c:pt idx="3">
                  <c:v>11.52</c:v>
                </c:pt>
              </c:numCache>
            </c:numRef>
          </c:val>
        </c:ser>
        <c:ser>
          <c:idx val="2"/>
          <c:order val="2"/>
          <c:tx>
            <c:strRef>
              <c:f>Sheet1!$D$1</c:f>
              <c:strCache>
                <c:ptCount val="1"/>
                <c:pt idx="0">
                  <c:v>Cold</c:v>
                </c:pt>
              </c:strCache>
            </c:strRef>
          </c:tx>
          <c:spPr>
            <a:solidFill>
              <a:srgbClr val="CBD5E1"/>
            </a:solidFill>
            <a:effectLst/>
          </c:spPr>
          <c:invertIfNegative val="0"/>
          <c:dLbls>
            <c:numFmt formatCode="0.0;;" sourceLinked="0"/>
            <c:txPr>
              <a:bodyPr/>
              <a:lstStyle/>
              <a:p>
                <a:pPr>
                  <a:defRPr b="0" i="0" strike="noStrike" sz="1100" u="none">
                    <a:solidFill>
                      <a:srgbClr val="0F172A"/>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7 d, 1 Mbps: 7.9 PB</c:v>
                  </c:pt>
                  <c:pt idx="1">
                    <c:v>15 d, 1 Mbps: 17.4 PB</c:v>
                  </c:pt>
                  <c:pt idx="2">
                    <c:v>30 d, 1 Mbps: 35.2 PB</c:v>
                  </c:pt>
                  <c:pt idx="3">
                    <c:v>15 d, 2 Mbps: 34.8 PB</c:v>
                  </c:pt>
                </c:lvl>
              </c:multiLvlStrCache>
            </c:multiLvlStrRef>
          </c:cat>
          <c:val>
            <c:numRef>
              <c:f>Sheet1!$D$2:$D$5</c:f>
              <c:numCache>
                <c:formatCode>General</c:formatCode>
                <c:ptCount val="4"/>
                <c:pt idx="0">
                  <c:v>0</c:v>
                </c:pt>
                <c:pt idx="1">
                  <c:v>9.5</c:v>
                </c:pt>
                <c:pt idx="2">
                  <c:v>27.3</c:v>
                </c:pt>
                <c:pt idx="3">
                  <c:v>19</c:v>
                </c:pt>
              </c:numCache>
            </c:numRef>
          </c:val>
        </c:ser>
        <c:dLbls>
          <c:numFmt formatCode="0.0;;" sourceLinked="0"/>
          <c:txPr>
            <a:bodyPr/>
            <a:lstStyle/>
            <a:p>
              <a:pPr>
                <a:defRPr b="0" i="0" strike="noStrike" sz="1100" u="none">
                  <a:solidFill>
                    <a:srgbClr val="0F172A"/>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crore</c:v>
                </c:pt>
              </c:strCache>
            </c:strRef>
          </c:tx>
          <c:spPr>
            <a:solidFill>
              <a:srgbClr val="2563EB"/>
            </a:solidFill>
            <a:effectLst/>
          </c:spPr>
          <c:invertIfNegative val="0"/>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Sheet1!$A$2:$A$13</c:f>
              <c:multiLvlStrCache>
                <c:ptCount val="12"/>
                <c:lvl>
                  <c:pt idx="0">
                    <c:v>Engineering, 24 months</c:v>
                  </c:pt>
                  <c:pt idx="1">
                    <c:v>Storage, 3 tiers</c:v>
                  </c:pt>
                  <c:pt idx="2">
                    <c:v>Edge servers (176)</c:v>
                  </c:pt>
                  <c:pt idx="3">
                    <c:v>Camera onboarding</c:v>
                  </c:pt>
                  <c:pt idx="4">
                    <c:v>Contingency 10%</c:v>
                  </c:pt>
                  <c:pt idx="5">
                    <c:v>Regional hubs (8)</c:v>
                  </c:pt>
                  <c:pt idx="6">
                    <c:v>GPUs and hosts</c:v>
                  </c:pt>
                  <c:pt idx="7">
                    <c:v>Central site</c:v>
                  </c:pt>
                  <c:pt idx="8">
                    <c:v>Edge network</c:v>
                  </c:pt>
                  <c:pt idx="9">
                    <c:v>DR site</c:v>
                  </c:pt>
                  <c:pt idx="10">
                    <c:v>Security and audit</c:v>
                  </c:pt>
                  <c:pt idx="11">
                    <c:v>Training</c:v>
                  </c:pt>
                </c:lvl>
              </c:multiLvlStrCache>
            </c:multiLvlStrRef>
          </c:cat>
          <c:val>
            <c:numRef>
              <c:f>Sheet1!$B$2:$B$13</c:f>
              <c:numCache>
                <c:formatCode>General</c:formatCode>
                <c:ptCount val="12"/>
                <c:pt idx="0">
                  <c:v>18</c:v>
                </c:pt>
                <c:pt idx="1">
                  <c:v>14.9</c:v>
                </c:pt>
                <c:pt idx="2">
                  <c:v>10.6</c:v>
                </c:pt>
                <c:pt idx="3">
                  <c:v>8</c:v>
                </c:pt>
                <c:pt idx="4">
                  <c:v>7.2</c:v>
                </c:pt>
                <c:pt idx="5">
                  <c:v>5.8</c:v>
                </c:pt>
                <c:pt idx="6">
                  <c:v>3.6</c:v>
                </c:pt>
                <c:pt idx="7">
                  <c:v>3.6</c:v>
                </c:pt>
                <c:pt idx="8">
                  <c:v>2.4</c:v>
                </c:pt>
                <c:pt idx="9">
                  <c:v>2.2</c:v>
                </c:pt>
                <c:pt idx="10">
                  <c:v>1.5</c:v>
                </c:pt>
                <c:pt idx="11">
                  <c:v>1</c:v>
                </c:pt>
              </c:numCache>
            </c:numRef>
          </c:val>
        </c:ser>
        <c:dLbls>
          <c:numFmt formatCode="0.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cumulative</c:v>
                </c:pt>
              </c:strCache>
            </c:strRef>
          </c:tx>
          <c:spPr>
            <a:solidFill>
              <a:srgbClr val="2563E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Sheet1!$A$2:$A$7</c:f>
              <c:multiLvlStrCache>
                <c:ptCount val="6"/>
                <c:lvl>
                  <c:pt idx="0">
                    <c:v>Y0</c:v>
                  </c:pt>
                  <c:pt idx="1">
                    <c:v>Y1</c:v>
                  </c:pt>
                  <c:pt idx="2">
                    <c:v>Y2</c:v>
                  </c:pt>
                  <c:pt idx="3">
                    <c:v>Y3</c:v>
                  </c:pt>
                  <c:pt idx="4">
                    <c:v>Y4</c:v>
                  </c:pt>
                  <c:pt idx="5">
                    <c:v>Y5</c:v>
                  </c:pt>
                </c:lvl>
              </c:multiLvlStrCache>
            </c:multiLvlStrRef>
          </c:cat>
          <c:val>
            <c:numRef>
              <c:f>Sheet1!$B$2:$B$7</c:f>
              <c:numCache>
                <c:formatCode>General</c:formatCode>
                <c:ptCount val="6"/>
                <c:pt idx="0">
                  <c:v>78.8</c:v>
                </c:pt>
                <c:pt idx="1">
                  <c:v>99.8</c:v>
                </c:pt>
                <c:pt idx="2">
                  <c:v>124.2</c:v>
                </c:pt>
                <c:pt idx="3">
                  <c:v>148.6</c:v>
                </c:pt>
                <c:pt idx="4">
                  <c:v>173</c:v>
                </c:pt>
                <c:pt idx="5">
                  <c:v>197.4</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with the one-line promise: this is a platform that turns tens of thousands of department cameras into one searchable picture, and this deck shows both what it does and how it scales to about 80,000 cameras. Say that every number is tagged as measured, modelled or planned, so the audience always knows how firm it is.
If asked: Why tags? Because we measured on one laptop and will not present a model as a measurement.
SOURCES AND DETAIL
Opening. This deck answers the seven scalability questions for the 80,000-camera target. Every number is tagged MEASURED (from scripts/capacity), MODELLED (derived from those measurements plus stated assumptions) or PLANNED (design not yet built). The assumption register is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Four problems: ownership is fragmented across departments, each with its own system and retention of 7 to 15+ days; nobody can watch or even move 80,000 feeds, which is about 160 Gbps at 2 Mbps; incidents cross borders so evidence is scattered and expires; and department systems must not be disturbed. Our answer is one platform with three deployment profiles from the three briefs: direct unified viewing, federation middleware, and central VMS with regional edge. Shared connectors, events, analyzers and rules mean the State keeps the choice.
If asked: Are the three profiles alternatives? The briefs do not say. We built one codebase so the answer does not block us.
SOURCES AND DETAIL
Problem understanding. The State has tens of thousands of cameras, but each department runs its own standalone system, with its own retention (7 days for some, 15 or more for others) and its own storage, cloud or local. Nobody can watch 80,000 feeds, and nobody can haul them to one place: at 2 Mbps that is 160 Gbps. Incidents cross department and district borders, so evidence is scattered and expires. And departments must be left unaffected. The model: one platform, three deployment profiles, taken from the three requirement briefs (docs/federation-plan.md). Connectors, events, analyzers, rules and search are shared; each profile switches on different modules, so the State keeps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Walk left to right, top to bottom, in the order a camera meets them: onboarded and probed, watched on a wall, analysed by a pluggable AI model, plates read by a dedicated service, vehicles tracked across cameras, events turned into rules and alerts, footage recorded with evidence handling, and everything controlled by roles and departments. All eight are built in the repository.
If asked: Recording shows built-via-API: there is no timeline or export screen yet. Say so if asked.
SOURCES AND DETAIL
Walk the features in the order a camera meets them: it is onboarded, watched, analysed, turned into events and alerts, searched and tracked, recorded, and controlled by roles. Every card is built in the repository; the chips say how far each was verified. The live wall uses a media server so the app server does not carry video; analysis calls a pluggable AI provider (Gemini by default, Claude or any OpenAI-compatible endpoint by configuration); plates are read by a dedicated detector and OCR service with a labelled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Five stages. Sources are cameras, recorders and department systems. Ingest probes each source and relays and records video. Analysis runs a cheap frame gate, then analyzers side by side. Every result becomes an event on a bus, is stored, matched to rules and raised as an alert. The screens and API sit on top. Identity, department scoping, audit and health apply to every stage. The bottom strip is the extensibility story: six interfaces, each with a test suite.
If asked: Where does video travel? Not through the app server: the media server pulls each camera once and serves viewers. At scale, analysis and recording sit at the edge.
SOURCES AND DETAIL
Left to right. Sources are cameras, recorders and department systems. Ingest adapts each source to a common stream and profile, relays video, and records. Analysis runs the frame gate and then analyzers side by side. Every result becomes an event on the bus; events are stored, matched against rules and raised as alerts. Experience is the screens and the API. Underneath, identity, departments, audit and health apply to every stage. The six plug-in points at the bottom are the interoperability story: new cameras, vendors, detectors, storage and alert channels plug in without changing the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 RTSP and ONVIF cameras, Hikvision and Dahua recorders, read-only connectors for department systems. Out: WebRTC and HLS video, signed webhooks, an OpenAPI-described REST API, S3-compatible storage. The right-hand card matters most to departments: the connector code has no write method, and the test lab counts every non-read request and asserts zero. Be upfront about the right-hand column: device protocols were tested on fakes, and VAHAN, SARTHI, eGujCop and AFIS or NAFIS are mocks and contracts.
If asked: Real devices? None was available; the first real device is a PoC task. Legal basis for registries is the State’s to give.
SOURCES AND DETAIL
Inbound: RTSP and ONVIF for cameras, Hikvision ISAPI and Dahua CGI for recorders, read-only REST or XML connectors for department video systems. Outbound: WebRTC (WHEP) and HLS for video, signed webhooks and an OpenAPI-described REST API for events and registry. Storage is S3-compatible, so Ceph, MinIO or AWS all work. The honest caveat: ONVIF, Hikvision and Dahua were tested against fakes and reference systems because no real device was available; VAHAN, SARTHI, eGujCop and AFIS or NAFIS are mock connectors and contracts only. The right-hand card is the key reassurance for departments: the connector code has no write method, and a counter in the test lab proves zero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row is a capability, how it works and the event type it raises, so rules do not care which analyzer produced an event. ANPR uses a YOLOv9-t detector and OCR with Indian-format checks and a confidence. People and vehicle counts, objects and unusual activity come from the scene model. Intrusion, motion and line crossing come from the local detector on cameras with AI off, or from a recorder’s own analytics. Tamper and camera health need no model at all.
If asked: Accuracy? ANPR accuracy on Indian plates and on the real feeds is not yet measured; that is the first PoC measurement. The local detector cannot tell a person from a vehicle.
SOURCES AND DETAIL
Each row is one capability, how it is done, and the event type it raises, so a rule written for one event type works whichever analyzer produced it. Plates: a dedicated YOLOv9-t detector and OCR through the ANPR service; plates are format-checked and corrected for common OCR confusions, with a confidence. People, vehicles, objects and unusual activity come from the scene model. Intrusion, motion and line crossing come from the local detector for cameras with AI switched off, or from a recorder own analytics. Honest limits: the local detector cannot tell a person from a vehicle and has never run on real footage; ANPR accuracy on Indian plates and the real feeds is unmeasured; face matching with hosted models may be refused by the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detection has the same shape: type, severity, UTC frame time, camera, department, location, confidence, tags and data; the example is illustrative. The id is deterministic so retries store once. Outputs: search and tagging, alerts with a lifecycle, log and route CSV exports with UTC timestamps, signed webhooks, and evidence clips with SHA-256 hashes and a hold.
If asked: PDF reports? Not built; CSV exports and the events API are. Say it plainly.
SOURCES AND DETAIL
The left card is the shape of every detection: a type, a severity, a UTC timestamp from the frame, the camera, department and location, a confidence, tags, and type-specific data. The example is illustrative. The id is deterministic, so a retried job stores the event once. On the right are the outputs: search and tag in the Events tab, alert lifecycle, log and route CSV exports, signed webhooks into a control room, and evidence clips with SHA-256 manifests. Tell the audience a PDF report generator is not built; the CSV exports and the events API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Start the scalability section here. The message: 80,000 cameras fit if video stays at the edge. Six numbers: the 1 plus 8 plus 160 topology, 4.5 Mbps of results versus 160 Gbps of video, about 50 GPUs, 17.4 PB raw for 15 days, RPO 5 minutes and RTO 1 hour as targets, and about 79 crore one-time and 24 crore a year. Remind the audience of the tags.
If asked: Which number is firmest? The 0.54 ms per frame and 28 kbps per 500 cameras are measured. Everything else is modelled from them.
SOURCES AND DETAIL
The central claim: do not haul video to one place. Analyse and record next to the cameras, send results. 500 cameras are 800 Mbps of video but 28 kbps of results (docs/capacity.md, docs/regional-gateway.md). All other numbers follow from that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Three tiers. Edge nodes of about 500 cameras analyse and record locally and send only results. Eight regional hubs add GPU pools, cold storage and replicas. The centre holds the control plane and database, with a DR site. The arrows carry numbers: results of about 4.5 Mbps in total reach the centre; raw video of 160 Gbps never leaves the district. The edge tier is built today; the hub tier is the design extension.
If asked: Why a hub tier? GPUs and cold storage are cheaper to run in a few places than in 160, and it keeps frames on regional networks.
SOURCES AND DETAIL
This is the Profile 1 shape from docs/federation-plan.md. The edge node is gateway.ts plus MediaMTX, which exist today. The regional hub tier (GPU pool, cold storage, bus mirror) is the design extension; the app does not yet route through hubs. The centre is server.ts with Postgres, Redis/Kafka.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Central: stateless API pods, a scheduler with a standby, workers, a three-node Postgres or Timescale cluster, a message bus. Hub: six servers plus GPU hosts plus cold-tier nodes. Edge: 16 vCPU and 64 GB per 500 cameras. The edge need is about 3 modern cores; we provision for about four times the modelled need because everything was measured on one weak laptop.
If asked: Why 4x headroom? Honest uncertainty. The PoC replaces it with a measured figure and the number can shrink.
SOURCES AND DETAIL
Edge sizing: 500 cameras need about 2.8 Celeron-cores for capture, gate and platform code at 60 s (docs/capacity.md section 4) plus 3 to 5.5 Celeron-cores of MediaMTX pass-through (about 0.6 to 1.1 percent of a core and 1 MB per camera). That is about 3 modern cores if a server core is 3x a Celeron core (an assumption). 16 vCPU leaves room for H.265 re-encode slots and peaks. Re-encoding capacity itself was not measured. Central: the scheduler measured 48 ms average per tick at 80,000 cameras and about 1.4 GB process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measured part. Our real analysis code, analyzers and alert engine ran at 500, 5,000, 20,000 and 80,000 simulated cameras. CPU per analysed frame was flat at 0.54 ms. At 80,000 cameras the scheduler tick averaged 48 ms, no run was late, memory reached 1.4 GB. The biggest cost we control is starting an ffmpeg process per frame, which is why it is the first optimisation.
If asked: What was faked? The camera frame and the model answer. So this measures our code, not capture, not the model, not the database.
SOURCES AND DETAIL
Source: scripts/capacity/controlPlane.ts running the real analysis worker, analyzer pipeline, event derivation and alert engine, with the camera frame and the model answer faked. Hardware: Celeron N4020, 2 cores at 1.1 GHz, shared with a browser. Capture cost: ffmpeg start-up dominates (0.125 s CPU per still grab versus 0.016 s of ffmpeg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Three pools. A: plate reading, about 130 reads a second at fleet level, peaked at 400, assuming 100 per L4, giving 16 L4. B: real-time detectors on 5 percent of cameras at 2 fps, assuming 500 fps per L4, giving 20 L4. C: scene reasoning, about 67 calls a second after the funnel, assuming 8 requests a second per L40S, giving 10. A hosted model API removes pool C. Be clear that throughput per card is an assumption.
If asked: Why not more? The funnel on the next slide keeps model load small. What if throughput is half? GPU count doubles; the cost sensitivity is small next to storage.
SOURCES AND DETAIL
Pool A: the ANPR service (anpr-service/) runs a YOLOv9-t plate detector and a CCT-s OCR model through ONNX Runtime, CPU or CUDA; ANPR_DEVICE=cuda refuses to start without a working GPU. Throughput per card is an assumption, not a measurement; scripts/check-anpr.mjs measures it on real hardware and every response carries elapsed_ms. Pool B is new work: a local detector behind the existing analyzer contract. Pool C: AI_PROVIDER=openai with OPENAI_BASE_URL supports a self-hosted vLLM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From 1,333 captures a second, the frame gate passes about a quarter, the local detector and ANPR flag a fifth of those, and about 33 a second are notable events with evidence. The right panel lists the levers: a 300-second interval is five times fewer frames; AI-off cameras use only the local detector. The 25 percent and 20 percent are assumptions and the most valuable numbers to measure on real scenes.
If asked: What if the gate passes more? Model calls and pool C scale with it linearly.
SOURCES AND DETAIL
Numbers: 80,000 cameras at one frame per 60 s is 1,333 captures per second. The frame gate (server/frameGate.ts, 2 percent pixel change, 10-minute heartbeat) is assumed to pass 25 percent; that pass rate is the most valuable number to measure on real scenes. The local no-AI detector (server/analytics/localDetector.ts) and ANPR act as the second stage; the 20 percent pass is an assumption. Notable share of 10 percent is also an assumption from docs/capacity.md.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Follow the hops: 160 Gbps stays inside districts; each edge sends about 3 Mbps steady to its hub; all hubs together send about 20 Mbps to the centre; database replication to DR averages about 9 Mbps. Link provisioning is much larger than steady state to absorb live viewing and clip pulls. The measured headline: 500 cameras are 800 Mbps of video but 28 kbps of results, 28,000 times less.
If asked: Live walls? Pulled on demand from the nearest edge: 16 sub-stream tiles is about 8 Mbps per operator.
SOURCES AND DETAIL
Camera to edge: 500 x 2 Mbps = 1 Gbps per node, 160 Gbps in total (at 1 Mbps, half). Edge to hub: JPEG frames for the GPU pool (about 2.08 analyses/s per 500 cameras x ~150 KB = 2.5 Mbps) plus results (28 kbps, measured) plus evidence thumbnails (about 0.1 Mbps). Hub to centre: 333 analyses/s x ~1.7 KB = 4.5 Mbps results, plus about 16 Mbps of thumbnails. DR replication: ~100 GB/day of rows including indexes (index factor assumed 2) = 9 Mbps average. The 28,000x figure: 800 Mbps of video versus 28 kbps of results for 500 cameras (docs/regional-gateway.md).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Eight strategies and seven are already in the code: analyse at the edge, the frame gate, a disk outbox with back-off, pulling video only when watched, plain HLS on weak links because low-latency HLS stalled at 300 ms delay, no-AI local detection, and longer intervals with notable-only mirroring. Sub-streams are a configuration choice.
If asked: What if the link is down for days? The outbox keeps analysing and replays in order; the oldest results are dropped only past a size or age limit and that is reported.
SOURCES AND DETAIL
Sources: docs/regional-gateway.md (outbox, back-off, batching), docs/scale-out.md (frame gate, notable mode), docs/media-server.md (on-demand pull, HLS fmp4 versus low-latency HLS that stalled at 300 ms delay, H.265 handling), server/analytics/localDetector.ts (no-AI detector), docs/recording.md (sub-stream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Assumptions: 80,000 cameras, a 1 Mbps sub-stream, which is 10.8 GB a day each and 864 TB a day. For a 15-day baseline: hot for days 0 to 2 at the edge, warm for days 3 to 7 on edge disks with erasure coding, cold for days 8 to 15 on regional object storage. That is 1.73, 4.32 and 6.91 PB logical; 2.16, 5.76 and 9.50 PB raw; 17.4 PB in total.
If asked: Why not central storage? 160 Gbps of ingest. Departments differ, 7 to 15+ days, so retention is a per-camera policy.
SOURCES AND DETAIL
Bitrate arithmetic: B Mbit/s uses B x 10.8 GB per day per camera. 80,000 cameras at 1 Mbps is 864 TB per day. Hot 2 days = 1.73 PB logical; warm days 3 to 7 = 4.32 PB; cold days 8 to 15 = 6.91 PB. Overheads assumed: RAID-6 1.25x, erasure coding 6+2 = 1.33x, 8+3 = 1.375x, giving 2.16 + 5.76 + 9.50 = 17.4 PB raw. The tier mechanics (hot to warm to cold to delete, holds blocking every step) are built in server/recording; tested with synthetic video and a signature-checking fake S3, not a real Ceph. Departments differ: 7 to 15+ days, some cloud, some local, which is why the baseline is per-camera policy (keepDays).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same design at 7 days is 7.9 PB raw; at 30 days 35 PB; at 2 Mbps for 15 days 35 PB. Together bitrate and retention move storage about 17 times, so retention is the first decision to put to the State. Side cards: events about 48 GB a day of rows, departments keeping their own video in the federated profile, and evidence copied to DR.
If asked: Cheapest lever? Per-camera retention and sub-streams. If departments keep video, the platform stores only metadata.
SOURCES AND DETAIL
Raw petabytes by tier. 7 days: 2 hot + 5 warm, no cold. 30 days: 23 cold days = 19.87 PB logical x 1.375 = 27.3 PB raw. 2 Mbps doubles every tier. Logical range from docs/federation-plan.md: 6.0 PB (80,000 cameras, 1 Mbps, 7 days) to 103.7 PB (4 Mbps, 30 days). Event store: 86.4 M events per day at 80,000 cameras, 48.4 GB per day of row data (docs/capacity.md); index overhead of 2x is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layer scales out. API pods are stateless behind a load balancer. The scheduler hands jobs through a queue to any number of workers; capacity is workers times concurrency. Edge nodes shard by gateway. One scheduler was enough in the 80,000-camera simulation. Event writes should be batched: about 900 rows a second per connection when batched, about 9 when one at a time.
If asked: Has the queue run on real Redis? Not yet; it was exercised with the in-memory backend and fakes. That is on the pilot list.
SOURCES AND DETAIL
Scheduler/worker split: ANALYSIS_ROLE=scheduler|worker over Redis/BullMQ (server/bullBackend.ts); a job per camera id; capacity = workers x ANALYSIS_CONCURRENCY. Tested only through the in-memory backend and fakes; never run against a real Redis. Kubernetes manifests with autoscaling are gap A23 (not built). Postgres write rate measured on Neon from a laptop: about 900 rows/s with batches of 100, one event at a time about 9 per second; the worker should group several frames per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Left: signals the platform already emits, for cameras, analysis, edge heartbeats, the media server, the GPU service and an access log. Right: what to add centrally: Prometheus, Alertmanager and Grafana, central logs, distributed traces, synthetic probes. The golden signals per region: analyses per second, outbox depth, heartbeat age, disk free, GPU utilisation.
If asked: Known gap: a low-disk alert is not wired yet; the usage endpoint exists.
SOURCES AND DETAIL
Existing signals: camera.offline and camera.online derived from run history; camera.blocked, camera.dark, camera.overexposed from the tamper analyzer; GET /api/analysis/status; gateway heartbeat with online, degraded, offline after 90 s and gateway.* events; the MediaMTX log parser (server/mediaEvents.ts); ANPR GET /healthz; the access log (last 2,000 in memory, batched to Firestore, 5,000-entry queue). Known gap: disk-full is not alerted (GET /api/recordings/usage exists, wiring it to an alert is a small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Targets, to be confirmed with the State: events and config recover within 5 minutes of data and 1 hour of time; held evidence is replicated so loss is near zero. Walk the table by component. Routine video is not backed up: losing a region loses routine footage but never held evidence. What is built is the edge outbox, idempotent events and holds; the rest is design.
If asked: A dead edge node? Cameras are re-pointed by gateway id to a spare; this is manual today. That is a known gap.
SOURCES AND DETAIL
RPO and RTO are proposals for the State to confirm, not measurements. What is built: edge outbox and replay (24 gateway tests over real HTTP including a 20,000-item backlog, link cut and restore with nothing lost or doubled), idempotent event ids, evidence holds. Honest gaps: a dead gateway is not taken over by anyone (shown as gateway.offline); the centre keeps its applied-id list in memory so a confirmation lost just before a restart can apply twice; Redis and Kafka were never run; Kubernetes and DR are design only (gaps A22, A23).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Two columns per domain: built, and added for the State deployment. Built: role claims and department scoping, a recorded access log, HMAC-signed edge requests with replay protection and per-gateway secrets, hashed evidence, sealed camera credentials, server-side keys. Added: SSO and MFA, mutual TLS, encryption at rest and in transit, KMS, network segmentation, SIEM, penetration test and independent audit.
If asked: Compliance? The audit and alignment with applicable government guidelines are a planned work item, not a claim.
SOURCES AND DETAIL
Built: Firebase Auth with role custom claims (viewer, operator, admin) and department scoping (docs/authz.md); access log; HMAC-SHA256 gateway signing over method, path, body hash, time and nonce with 5-minute skew and replay refusal (docs/regional-gateway.md); per-gateway secret rotate and disable; SHA-256 evidence manifests and holds (docs/recording.md); API keys server-side only; ANPR shared key. Not built (gap A21): encryption at rest, mTLS, network segmentation, KMS, signed manifests, SIEM export, gateway software updates. Compliance alignment is a plan item, not a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About 79 crore one-time: 43 crore of hardware, 28.5 crore of implementation, 7 crore contingency. Storage, engineering and edge servers are the biggest lines. The unit prices on the right are assumptions and the whole is budgetary, plus or minus 30 percent.
If asked: Where are quotes? None yet; replace the unit prices with procurement rates and the model follows.
SOURCES AND DETAIL
Budgetary, +/-30 percent, for the 15-day, 1 Mbps baseline. Unit prices (assumed): storage per raw TB hot 10,000 / warm 8,000 / cold 8,500 rupees including servers, network and 5-year support; edge server 6 lakh; L4 2.8 lakh; L40S 9 lakh. Storage: 2,160 TB x 10k + 5,760 TB x 8k + 9,500 TB x 8.5k = 14.9 crore. Edge: 176 servers x 6 lakh = 10.6 crore + 2.4 crore network. Engineering: 30 people x 24 months x 2.5 lakh = 18 crore. Onboarding: 80,000 cameras x 1,000 rupees = 8 crore. Contingency 10 percent. Hardware 43.1, implementation 28.5, contingency 7.2, total 78.8.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About 24 crore a year at steady state, led by the operations team, network links, and power. Cumulative 5-year cost is about 197 crore, or about 410 rupees per camera per month. Sensitivities: 30-day retention adds about 15 crore; 2 Mbps adds about 15; a hosted model API saves about 1.4 crore up front but costs about 6 crore a year.
If asked: Network cost might ride the existing State network, which would lower this.
SOURCES AND DETAIL
Annual: power 5.0 (about 450 kW IT load x PUE 1.6 x 8,760 h x 8 rupees per kWh), hardware support 3.4 (8 percent of 43.1, from year 2), operations 7.8 (18 + 8 people x 2.5 lakh x 12), network 6.2 (160 x 25,000 per month x 12 + 8 x 1.5 lakh x 12; may ride the existing State network), software support 1.5, audits 0.5 = 24.4. Year 1 has warranty so 21.0. Cumulative: 78.8, 99.8, 124.2, 148.6, 173.0, 197.4 crore. Per camera per month: 197.4 crore / (80,000 x 60) = about 411 rupees. Sensitivities: 30-day retention adds 15.1 crore of storage; 2 Mbps at 15 days adds 14.9; a hosted model API instead of 10 L40S saves about 1.4 crore up front but costs about 6.3 crore a year at an assumed 0.03 rupees per call (5.76 M calls a day), so self-hosting wins at this volume (benchmark with npm run ai:bench).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Say plainly what is proven and what is not. Proven: the control plane simulated to 80,000 cameras; the edge protocol over real HTTP including a 20,000-item backlog; the cold tier against a signature-checking S3; real media-server cost; stores on real Postgres. Not proven: real Redis, Kafka, Ceph, Kubernetes; any GPU; real cameras and WANs; real model latency and gate pass rate; and the hub tier, failover, encryption at rest and DR drills.
If asked: This slide is the answer to any “is this tested?” question.
SOURCES AND DETAIL
This slide exists so the scalability claims are not read as more than they are. Sources: docs/capacity.md section 6 (not measured), docs/regional-gateway.md (not built or verified), docs/recording.md, docs/federation-plan.md gap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Three gated phases. PoC for 3 months with 100 to 500 cameras on one edge node and one GPU. Pilot for 6 months with 10,000 cameras and one hub, with real Redis, Kafka and Ceph and a failover drill. Rollout for 12 months in waves. Each gate is a measurement, so the cost and GPU numbers are corrected by data before the next tranche. The five boxes are what the PoC measures.
If asked: Phase sizes are proposals for the State to adjust.
SOURCES AND DETAIL
Phase sizes are proposals. Each gate is a measurement, so the cost and GPU figures in this deck are corrected by data before the next tranche is committed. The PoC runs on the participant feed and the Government-provided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Leave this up during questions. Ten assumptions behind every modelled number, with what happens if each is wrong. Offer to re-run the model with the State’s actual values.
If asked: The sizing formulas are in scripts/capacity/model.ts and the tables regenerate from scripts/capacity/report.ts.
SOURCES AND DETAIL
These are the inputs behind every MODELLED tag. The sizing formulas live in scripts/capacity/model.ts and the tables are reproduced by scripts/capacity/report.ts.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6428232"/>
            <a:ext cx="6400800" cy="256032"/>
          </a:xfrm>
          <a:prstGeom prst="rect">
            <a:avLst/>
          </a:prstGeom>
          <a:noFill/>
          <a:ln/>
        </p:spPr>
        <p:txBody>
          <a:bodyPr wrap="square" lIns="0" tIns="0" rIns="0" bIns="0" rtlCol="0" anchor="ctr"/>
          <a:lstStyle/>
          <a:p>
            <a:pPr indent="0" marL="0">
              <a:buNone/>
            </a:pPr>
            <a:r>
              <a:rPr lang="en-US" sz="1000" dirty="0">
                <a:solidFill>
                  <a:schemeClr val="tx2"/>
                </a:solidFill>
                <a:latin typeface="Consolas" pitchFamily="34" charset="0"/>
                <a:ea typeface="Consolas" pitchFamily="34" charset="-122"/>
                <a:cs typeface="Consolas" pitchFamily="34" charset="-120"/>
              </a:rPr>
              <a:t>OmniSee  ·  solution and 80,000-camera scalability</a:t>
            </a:r>
            <a:endParaRPr lang="en-US" sz="1000" dirty="0"/>
          </a:p>
        </p:txBody>
      </p:sp>
      <p:sp>
        <p:nvSpPr>
          <p:cNvPr id="3" name="Text 1"/>
          <p:cNvSpPr/>
          <p:nvPr>
            <p:ph idx="101" type="body" hasCustomPrompt="1"/>
          </p:nvPr>
        </p:nvSpPr>
        <p:spPr>
          <a:xfrm>
            <a:off x="548640" y="384048"/>
            <a:ext cx="11094415" cy="274320"/>
          </a:xfrm>
          <a:prstGeom prst="rect">
            <a:avLst/>
          </a:prstGeom>
          <a:noFill/>
          <a:ln/>
        </p:spPr>
        <p:txBody>
          <a:bodyPr wrap="square" rtlCol="0"/>
          <a:lstStyle>
            <a:lvl1pPr indent="0" marL="0">
              <a:buNone/>
              <a:defRPr lang="en-US" sz="1100" b="1" dirty="0">
                <a:solidFill>
                  <a:schemeClr val="accent1"/>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4" name="Text 1"/>
          <p:cNvSpPr/>
          <p:nvPr>
            <p:ph idx="102" type="title" hasCustomPrompt="1"/>
          </p:nvPr>
        </p:nvSpPr>
        <p:spPr>
          <a:xfrm>
            <a:off x="548640" y="676656"/>
            <a:ext cx="11094415" cy="731520"/>
          </a:xfrm>
          <a:prstGeom prst="rect">
            <a:avLst/>
          </a:prstGeom>
          <a:noFill/>
          <a:ln/>
        </p:spPr>
        <p:txBody>
          <a:bodyPr wrap="square" rtlCol="0"/>
          <a:lstStyle>
            <a:lvl1pPr algn="l" indent="0" marL="0">
              <a:buNone/>
              <a:defRPr lang="en-US" sz="2400" b="1" dirty="0">
                <a:solidFill>
                  <a:schemeClr val="tx1"/>
                </a:solidFill>
                <a:latin typeface="Century Gothic" pitchFamily="34" charset="0"/>
                <a:ea typeface="Century Gothic" pitchFamily="34" charset="-122"/>
                <a:cs typeface="Century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48640" y="6428232"/>
            <a:ext cx="6400800" cy="256032"/>
          </a:xfrm>
          <a:prstGeom prst="rect">
            <a:avLst/>
          </a:prstGeom>
          <a:noFill/>
          <a:ln/>
        </p:spPr>
        <p:txBody>
          <a:bodyPr wrap="square" lIns="0" tIns="0" rIns="0" bIns="0" rtlCol="0" anchor="ctr"/>
          <a:lstStyle/>
          <a:p>
            <a:pPr indent="0" marL="0">
              <a:buNone/>
            </a:pPr>
            <a:r>
              <a:rPr lang="en-US" sz="1000" dirty="0">
                <a:solidFill>
                  <a:srgbClr val="94A3B8"/>
                </a:solidFill>
                <a:latin typeface="Consolas" pitchFamily="34" charset="0"/>
                <a:ea typeface="Consolas" pitchFamily="34" charset="-122"/>
                <a:cs typeface="Consolas" pitchFamily="34" charset="-120"/>
              </a:rPr>
              <a:t>OmniSee  ·  solution and 80,000-camera scalability</a:t>
            </a:r>
            <a:endParaRPr lang="en-US" sz="1000" dirty="0"/>
          </a:p>
        </p:txBody>
      </p:sp>
      <p:sp>
        <p:nvSpPr>
          <p:cNvPr id="3" name="Text 1"/>
          <p:cNvSpPr/>
          <p:nvPr>
            <p:ph idx="101" type="body" hasCustomPrompt="1"/>
          </p:nvPr>
        </p:nvSpPr>
        <p:spPr>
          <a:xfrm>
            <a:off x="548640" y="384048"/>
            <a:ext cx="11094415" cy="274320"/>
          </a:xfrm>
          <a:prstGeom prst="rect">
            <a:avLst/>
          </a:prstGeom>
          <a:noFill/>
          <a:ln/>
        </p:spPr>
        <p:txBody>
          <a:bodyPr wrap="square" rtlCol="0"/>
          <a:lstStyle>
            <a:lvl1pPr indent="0" marL="0">
              <a:buNone/>
              <a:defRPr lang="en-US" sz="1100" b="1" dirty="0">
                <a:solidFill>
                  <a:schemeClr val="accent5"/>
                </a:solidFill>
                <a:latin typeface="Consolas" pitchFamily="34" charset="0"/>
                <a:ea typeface="Consolas" pitchFamily="34" charset="-122"/>
                <a:cs typeface="Consolas" pitchFamily="34" charset="-120"/>
              </a:defRPr>
            </a:lvl1pPr>
          </a:lstStyle>
          <a:p>
            <a:pPr indent="0" marL="0">
              <a:buNone/>
            </a:pPr>
            <a:endParaRPr lang="en-US" sz="1100" dirty="0"/>
          </a:p>
        </p:txBody>
      </p:sp>
      <p:sp>
        <p:nvSpPr>
          <p:cNvPr id="4" name="Text 1"/>
          <p:cNvSpPr/>
          <p:nvPr>
            <p:ph idx="102" type="title" hasCustomPrompt="1"/>
          </p:nvPr>
        </p:nvSpPr>
        <p:spPr>
          <a:xfrm>
            <a:off x="548640" y="676656"/>
            <a:ext cx="11094415" cy="731520"/>
          </a:xfrm>
          <a:prstGeom prst="rect">
            <a:avLst/>
          </a:prstGeom>
          <a:noFill/>
          <a:ln/>
        </p:spPr>
        <p:txBody>
          <a:bodyPr wrap="square" rtlCol="0"/>
          <a:lstStyle>
            <a:lvl1pPr algn="l" indent="0" marL="0">
              <a:buNone/>
              <a:defRPr lang="en-US" sz="24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0F1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48640" y="548640"/>
            <a:ext cx="566928" cy="566928"/>
          </a:xfrm>
          <a:prstGeom prst="rect">
            <a:avLst/>
          </a:prstGeom>
        </p:spPr>
      </p:pic>
      <p:sp>
        <p:nvSpPr>
          <p:cNvPr id="4" name="Text 0"/>
          <p:cNvSpPr txBox="1"/>
          <p:nvPr/>
        </p:nvSpPr>
        <p:spPr>
          <a:xfrm>
            <a:off x="1298448" y="621792"/>
            <a:ext cx="2743200" cy="411480"/>
          </a:xfrm>
          <a:prstGeom prst="rect">
            <a:avLst/>
          </a:prstGeom>
          <a:noFill/>
          <a:ln/>
        </p:spPr>
        <p:txBody>
          <a:bodyPr wrap="square" lIns="0" tIns="0" rIns="0" bIns="0" rtlCol="0" anchor="ctr"/>
          <a:lstStyle/>
          <a:p>
            <a:pPr indent="0" marL="0">
              <a:buNone/>
            </a:pPr>
            <a:r>
              <a:rPr lang="en-US" sz="2200" b="1" dirty="0">
                <a:solidFill>
                  <a:schemeClr val="bg1"/>
                </a:solidFill>
                <a:latin typeface="Century Gothic" pitchFamily="34" charset="0"/>
                <a:ea typeface="Century Gothic" pitchFamily="34" charset="-122"/>
                <a:cs typeface="Century Gothic" pitchFamily="34" charset="-120"/>
              </a:rPr>
              <a:t>OmniSee</a:t>
            </a:r>
            <a:endParaRPr lang="en-US" sz="2200" dirty="0"/>
          </a:p>
        </p:txBody>
      </p:sp>
      <p:sp>
        <p:nvSpPr>
          <p:cNvPr id="5" name="Text 1"/>
          <p:cNvSpPr txBox="1"/>
          <p:nvPr/>
        </p:nvSpPr>
        <p:spPr>
          <a:xfrm>
            <a:off x="548640" y="2011680"/>
            <a:ext cx="5852160" cy="274320"/>
          </a:xfrm>
          <a:prstGeom prst="rect">
            <a:avLst/>
          </a:prstGeom>
          <a:noFill/>
          <a:ln/>
        </p:spPr>
        <p:txBody>
          <a:bodyPr wrap="square" lIns="0" tIns="0" rIns="0" bIns="0" rtlCol="0" anchor="t"/>
          <a:lstStyle/>
          <a:p>
            <a:pPr indent="0" marL="0">
              <a:buNone/>
            </a:pPr>
            <a:r>
              <a:rPr lang="en-US" sz="1200" b="1" dirty="0">
                <a:solidFill>
                  <a:schemeClr val="accent5"/>
                </a:solidFill>
                <a:latin typeface="Consolas" pitchFamily="34" charset="0"/>
                <a:ea typeface="Consolas" pitchFamily="34" charset="-122"/>
                <a:cs typeface="Consolas" pitchFamily="34" charset="-120"/>
              </a:rPr>
              <a:t>SOLUTION, ARCHITECTURE AND SCALABILITY</a:t>
            </a:r>
            <a:endParaRPr lang="en-US" sz="1200" dirty="0"/>
          </a:p>
        </p:txBody>
      </p:sp>
      <p:sp>
        <p:nvSpPr>
          <p:cNvPr id="6" name="Text 2"/>
          <p:cNvSpPr txBox="1"/>
          <p:nvPr/>
        </p:nvSpPr>
        <p:spPr>
          <a:xfrm>
            <a:off x="548640" y="2377440"/>
            <a:ext cx="5669280" cy="1737360"/>
          </a:xfrm>
          <a:prstGeom prst="rect">
            <a:avLst/>
          </a:prstGeom>
          <a:noFill/>
          <a:ln/>
        </p:spPr>
        <p:txBody>
          <a:bodyPr wrap="square" lIns="0" tIns="0" rIns="0" bIns="0" rtlCol="0" anchor="t"/>
          <a:lstStyle/>
          <a:p>
            <a:pPr indent="0" marL="0">
              <a:buNone/>
            </a:pPr>
            <a:r>
              <a:rPr lang="en-US" sz="4400" b="1" dirty="0">
                <a:solidFill>
                  <a:schemeClr val="bg1"/>
                </a:solidFill>
                <a:latin typeface="Century Gothic" pitchFamily="34" charset="0"/>
                <a:ea typeface="Century Gothic" pitchFamily="34" charset="-122"/>
                <a:cs typeface="Century Gothic" pitchFamily="34" charset="-120"/>
              </a:rPr>
              <a:t>OmniSee at 80,000 cameras</a:t>
            </a:r>
            <a:endParaRPr lang="en-US" sz="4400" dirty="0"/>
          </a:p>
        </p:txBody>
      </p:sp>
      <p:sp>
        <p:nvSpPr>
          <p:cNvPr id="7" name="Text 3"/>
          <p:cNvSpPr txBox="1"/>
          <p:nvPr/>
        </p:nvSpPr>
        <p:spPr>
          <a:xfrm>
            <a:off x="548640" y="4206240"/>
            <a:ext cx="5303520" cy="9144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Problem and model, architecture, interoperability, video analytics output, and the design and cost of scaling to 80,000 cameras.</a:t>
            </a:r>
            <a:endParaRPr lang="en-US" sz="1600" dirty="0"/>
          </a:p>
        </p:txBody>
      </p:sp>
      <p:sp>
        <p:nvSpPr>
          <p:cNvPr id="8" name="Text 4"/>
          <p:cNvSpPr txBox="1"/>
          <p:nvPr/>
        </p:nvSpPr>
        <p:spPr>
          <a:xfrm>
            <a:off x="548640" y="5760720"/>
            <a:ext cx="5486400" cy="54864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Sizing basis: the repository’s own capacity measurements plus stated assumptions. Costs are budgetary, in ₹, ±30%.</a:t>
            </a:r>
            <a:endParaRPr lang="en-US" sz="1200" dirty="0"/>
          </a:p>
        </p:txBody>
      </p:sp>
      <p:sp>
        <p:nvSpPr>
          <p:cNvPr id="9" name="Shape 5"/>
          <p:cNvSpPr/>
          <p:nvPr/>
        </p:nvSpPr>
        <p:spPr>
          <a:xfrm>
            <a:off x="7016191" y="1097280"/>
            <a:ext cx="566928" cy="566928"/>
          </a:xfrm>
          <a:prstGeom prst="roundRect">
            <a:avLst>
              <a:gd name="adj" fmla="val 12903"/>
            </a:avLst>
          </a:prstGeom>
          <a:solidFill>
            <a:srgbClr val="1A2333"/>
          </a:solidFill>
          <a:ln w="9525">
            <a:solidFill>
              <a:srgbClr val="243044"/>
            </a:solidFill>
            <a:prstDash val="solid"/>
          </a:ln>
        </p:spPr>
      </p:sp>
      <p:sp>
        <p:nvSpPr>
          <p:cNvPr id="10" name="Shape 6"/>
          <p:cNvSpPr/>
          <p:nvPr/>
        </p:nvSpPr>
        <p:spPr>
          <a:xfrm>
            <a:off x="7692847" y="1097280"/>
            <a:ext cx="566928" cy="566928"/>
          </a:xfrm>
          <a:prstGeom prst="roundRect">
            <a:avLst>
              <a:gd name="adj" fmla="val 12903"/>
            </a:avLst>
          </a:prstGeom>
          <a:solidFill>
            <a:srgbClr val="1A2333"/>
          </a:solidFill>
          <a:ln w="9525">
            <a:solidFill>
              <a:srgbClr val="243044"/>
            </a:solidFill>
            <a:prstDash val="solid"/>
          </a:ln>
        </p:spPr>
      </p:sp>
      <p:sp>
        <p:nvSpPr>
          <p:cNvPr id="11" name="Shape 7"/>
          <p:cNvSpPr/>
          <p:nvPr/>
        </p:nvSpPr>
        <p:spPr>
          <a:xfrm>
            <a:off x="8369503" y="1097280"/>
            <a:ext cx="566928" cy="566928"/>
          </a:xfrm>
          <a:prstGeom prst="roundRect">
            <a:avLst>
              <a:gd name="adj" fmla="val 12903"/>
            </a:avLst>
          </a:prstGeom>
          <a:solidFill>
            <a:srgbClr val="1A2333"/>
          </a:solidFill>
          <a:ln w="9525">
            <a:solidFill>
              <a:srgbClr val="243044"/>
            </a:solidFill>
            <a:prstDash val="solid"/>
          </a:ln>
        </p:spPr>
      </p:sp>
      <p:sp>
        <p:nvSpPr>
          <p:cNvPr id="12" name="Shape 8"/>
          <p:cNvSpPr/>
          <p:nvPr/>
        </p:nvSpPr>
        <p:spPr>
          <a:xfrm>
            <a:off x="9046159" y="1097280"/>
            <a:ext cx="566928" cy="566928"/>
          </a:xfrm>
          <a:prstGeom prst="roundRect">
            <a:avLst>
              <a:gd name="adj" fmla="val 12903"/>
            </a:avLst>
          </a:prstGeom>
          <a:solidFill>
            <a:schemeClr val="accent1">
              <a:alpha val="65000"/>
            </a:schemeClr>
          </a:solidFill>
          <a:ln w="9525">
            <a:solidFill>
              <a:srgbClr val="243044"/>
            </a:solidFill>
            <a:prstDash val="solid"/>
          </a:ln>
        </p:spPr>
      </p:sp>
      <p:sp>
        <p:nvSpPr>
          <p:cNvPr id="13" name="Shape 9"/>
          <p:cNvSpPr/>
          <p:nvPr/>
        </p:nvSpPr>
        <p:spPr>
          <a:xfrm>
            <a:off x="9722815" y="1097280"/>
            <a:ext cx="566928" cy="566928"/>
          </a:xfrm>
          <a:prstGeom prst="roundRect">
            <a:avLst>
              <a:gd name="adj" fmla="val 12903"/>
            </a:avLst>
          </a:prstGeom>
          <a:solidFill>
            <a:srgbClr val="1A2333"/>
          </a:solidFill>
          <a:ln w="9525">
            <a:solidFill>
              <a:srgbClr val="243044"/>
            </a:solidFill>
            <a:prstDash val="solid"/>
          </a:ln>
        </p:spPr>
      </p:sp>
      <p:sp>
        <p:nvSpPr>
          <p:cNvPr id="14" name="Shape 10"/>
          <p:cNvSpPr/>
          <p:nvPr/>
        </p:nvSpPr>
        <p:spPr>
          <a:xfrm>
            <a:off x="10399471" y="1097280"/>
            <a:ext cx="566928" cy="566928"/>
          </a:xfrm>
          <a:prstGeom prst="roundRect">
            <a:avLst>
              <a:gd name="adj" fmla="val 12903"/>
            </a:avLst>
          </a:prstGeom>
          <a:solidFill>
            <a:srgbClr val="1A2333"/>
          </a:solidFill>
          <a:ln w="9525">
            <a:solidFill>
              <a:srgbClr val="243044"/>
            </a:solidFill>
            <a:prstDash val="solid"/>
          </a:ln>
        </p:spPr>
      </p:sp>
      <p:sp>
        <p:nvSpPr>
          <p:cNvPr id="15" name="Shape 11"/>
          <p:cNvSpPr/>
          <p:nvPr/>
        </p:nvSpPr>
        <p:spPr>
          <a:xfrm>
            <a:off x="11076127" y="1097280"/>
            <a:ext cx="566928" cy="566928"/>
          </a:xfrm>
          <a:prstGeom prst="roundRect">
            <a:avLst>
              <a:gd name="adj" fmla="val 12903"/>
            </a:avLst>
          </a:prstGeom>
          <a:solidFill>
            <a:srgbClr val="1A2333"/>
          </a:solidFill>
          <a:ln w="9525">
            <a:solidFill>
              <a:srgbClr val="243044"/>
            </a:solidFill>
            <a:prstDash val="solid"/>
          </a:ln>
        </p:spPr>
      </p:sp>
      <p:sp>
        <p:nvSpPr>
          <p:cNvPr id="16" name="Shape 12"/>
          <p:cNvSpPr/>
          <p:nvPr/>
        </p:nvSpPr>
        <p:spPr>
          <a:xfrm>
            <a:off x="7016191" y="1773936"/>
            <a:ext cx="566928" cy="566928"/>
          </a:xfrm>
          <a:prstGeom prst="roundRect">
            <a:avLst>
              <a:gd name="adj" fmla="val 12903"/>
            </a:avLst>
          </a:prstGeom>
          <a:solidFill>
            <a:srgbClr val="1A2333"/>
          </a:solidFill>
          <a:ln w="9525">
            <a:solidFill>
              <a:srgbClr val="243044"/>
            </a:solidFill>
            <a:prstDash val="solid"/>
          </a:ln>
        </p:spPr>
      </p:sp>
      <p:sp>
        <p:nvSpPr>
          <p:cNvPr id="17" name="Shape 13"/>
          <p:cNvSpPr/>
          <p:nvPr/>
        </p:nvSpPr>
        <p:spPr>
          <a:xfrm>
            <a:off x="7692847" y="1773936"/>
            <a:ext cx="566928" cy="566928"/>
          </a:xfrm>
          <a:prstGeom prst="roundRect">
            <a:avLst>
              <a:gd name="adj" fmla="val 12903"/>
            </a:avLst>
          </a:prstGeom>
          <a:solidFill>
            <a:srgbClr val="1A2333"/>
          </a:solidFill>
          <a:ln w="9525">
            <a:solidFill>
              <a:srgbClr val="243044"/>
            </a:solidFill>
            <a:prstDash val="solid"/>
          </a:ln>
        </p:spPr>
      </p:sp>
      <p:sp>
        <p:nvSpPr>
          <p:cNvPr id="18" name="Shape 14"/>
          <p:cNvSpPr/>
          <p:nvPr/>
        </p:nvSpPr>
        <p:spPr>
          <a:xfrm>
            <a:off x="8369503" y="1773936"/>
            <a:ext cx="566928" cy="566928"/>
          </a:xfrm>
          <a:prstGeom prst="roundRect">
            <a:avLst>
              <a:gd name="adj" fmla="val 12903"/>
            </a:avLst>
          </a:prstGeom>
          <a:solidFill>
            <a:srgbClr val="1A2333"/>
          </a:solidFill>
          <a:ln w="9525">
            <a:solidFill>
              <a:srgbClr val="243044"/>
            </a:solidFill>
            <a:prstDash val="solid"/>
          </a:ln>
        </p:spPr>
      </p:sp>
      <p:sp>
        <p:nvSpPr>
          <p:cNvPr id="19" name="Shape 15"/>
          <p:cNvSpPr/>
          <p:nvPr/>
        </p:nvSpPr>
        <p:spPr>
          <a:xfrm>
            <a:off x="9046159" y="1773936"/>
            <a:ext cx="566928" cy="566928"/>
          </a:xfrm>
          <a:prstGeom prst="roundRect">
            <a:avLst>
              <a:gd name="adj" fmla="val 12903"/>
            </a:avLst>
          </a:prstGeom>
          <a:solidFill>
            <a:srgbClr val="1A2333"/>
          </a:solidFill>
          <a:ln w="9525">
            <a:solidFill>
              <a:srgbClr val="243044"/>
            </a:solidFill>
            <a:prstDash val="solid"/>
          </a:ln>
        </p:spPr>
      </p:sp>
      <p:sp>
        <p:nvSpPr>
          <p:cNvPr id="20" name="Shape 16"/>
          <p:cNvSpPr/>
          <p:nvPr/>
        </p:nvSpPr>
        <p:spPr>
          <a:xfrm>
            <a:off x="9722815" y="1773936"/>
            <a:ext cx="566928" cy="566928"/>
          </a:xfrm>
          <a:prstGeom prst="roundRect">
            <a:avLst>
              <a:gd name="adj" fmla="val 12903"/>
            </a:avLst>
          </a:prstGeom>
          <a:solidFill>
            <a:schemeClr val="accent2">
              <a:alpha val="65000"/>
            </a:schemeClr>
          </a:solidFill>
          <a:ln w="9525">
            <a:solidFill>
              <a:srgbClr val="243044"/>
            </a:solidFill>
            <a:prstDash val="solid"/>
          </a:ln>
        </p:spPr>
      </p:sp>
      <p:sp>
        <p:nvSpPr>
          <p:cNvPr id="21" name="Shape 17"/>
          <p:cNvSpPr/>
          <p:nvPr/>
        </p:nvSpPr>
        <p:spPr>
          <a:xfrm>
            <a:off x="10399471" y="1773936"/>
            <a:ext cx="566928" cy="566928"/>
          </a:xfrm>
          <a:prstGeom prst="roundRect">
            <a:avLst>
              <a:gd name="adj" fmla="val 12903"/>
            </a:avLst>
          </a:prstGeom>
          <a:solidFill>
            <a:srgbClr val="1A2333"/>
          </a:solidFill>
          <a:ln w="9525">
            <a:solidFill>
              <a:srgbClr val="243044"/>
            </a:solidFill>
            <a:prstDash val="solid"/>
          </a:ln>
        </p:spPr>
      </p:sp>
      <p:sp>
        <p:nvSpPr>
          <p:cNvPr id="22" name="Shape 18"/>
          <p:cNvSpPr/>
          <p:nvPr/>
        </p:nvSpPr>
        <p:spPr>
          <a:xfrm>
            <a:off x="11076127" y="1773936"/>
            <a:ext cx="566928" cy="566928"/>
          </a:xfrm>
          <a:prstGeom prst="roundRect">
            <a:avLst>
              <a:gd name="adj" fmla="val 12903"/>
            </a:avLst>
          </a:prstGeom>
          <a:solidFill>
            <a:srgbClr val="1A2333"/>
          </a:solidFill>
          <a:ln w="9525">
            <a:solidFill>
              <a:srgbClr val="243044"/>
            </a:solidFill>
            <a:prstDash val="solid"/>
          </a:ln>
        </p:spPr>
      </p:sp>
      <p:sp>
        <p:nvSpPr>
          <p:cNvPr id="23" name="Shape 19"/>
          <p:cNvSpPr/>
          <p:nvPr/>
        </p:nvSpPr>
        <p:spPr>
          <a:xfrm>
            <a:off x="7016191" y="2450592"/>
            <a:ext cx="566928" cy="566928"/>
          </a:xfrm>
          <a:prstGeom prst="roundRect">
            <a:avLst>
              <a:gd name="adj" fmla="val 12903"/>
            </a:avLst>
          </a:prstGeom>
          <a:solidFill>
            <a:srgbClr val="1A2333"/>
          </a:solidFill>
          <a:ln w="9525">
            <a:solidFill>
              <a:srgbClr val="243044"/>
            </a:solidFill>
            <a:prstDash val="solid"/>
          </a:ln>
        </p:spPr>
      </p:sp>
      <p:sp>
        <p:nvSpPr>
          <p:cNvPr id="24" name="Shape 20"/>
          <p:cNvSpPr/>
          <p:nvPr/>
        </p:nvSpPr>
        <p:spPr>
          <a:xfrm>
            <a:off x="7692847" y="2450592"/>
            <a:ext cx="566928" cy="566928"/>
          </a:xfrm>
          <a:prstGeom prst="roundRect">
            <a:avLst>
              <a:gd name="adj" fmla="val 12903"/>
            </a:avLst>
          </a:prstGeom>
          <a:solidFill>
            <a:schemeClr val="accent1">
              <a:alpha val="65000"/>
            </a:schemeClr>
          </a:solidFill>
          <a:ln w="9525">
            <a:solidFill>
              <a:srgbClr val="243044"/>
            </a:solidFill>
            <a:prstDash val="solid"/>
          </a:ln>
        </p:spPr>
      </p:sp>
      <p:sp>
        <p:nvSpPr>
          <p:cNvPr id="25" name="Shape 21"/>
          <p:cNvSpPr/>
          <p:nvPr/>
        </p:nvSpPr>
        <p:spPr>
          <a:xfrm>
            <a:off x="8369503" y="2450592"/>
            <a:ext cx="566928" cy="566928"/>
          </a:xfrm>
          <a:prstGeom prst="roundRect">
            <a:avLst>
              <a:gd name="adj" fmla="val 12903"/>
            </a:avLst>
          </a:prstGeom>
          <a:solidFill>
            <a:srgbClr val="1A2333"/>
          </a:solidFill>
          <a:ln w="9525">
            <a:solidFill>
              <a:srgbClr val="243044"/>
            </a:solidFill>
            <a:prstDash val="solid"/>
          </a:ln>
        </p:spPr>
      </p:sp>
      <p:sp>
        <p:nvSpPr>
          <p:cNvPr id="26" name="Shape 22"/>
          <p:cNvSpPr/>
          <p:nvPr/>
        </p:nvSpPr>
        <p:spPr>
          <a:xfrm>
            <a:off x="9046159" y="2450592"/>
            <a:ext cx="566928" cy="566928"/>
          </a:xfrm>
          <a:prstGeom prst="roundRect">
            <a:avLst>
              <a:gd name="adj" fmla="val 12903"/>
            </a:avLst>
          </a:prstGeom>
          <a:solidFill>
            <a:srgbClr val="1A2333"/>
          </a:solidFill>
          <a:ln w="9525">
            <a:solidFill>
              <a:srgbClr val="243044"/>
            </a:solidFill>
            <a:prstDash val="solid"/>
          </a:ln>
        </p:spPr>
      </p:sp>
      <p:sp>
        <p:nvSpPr>
          <p:cNvPr id="27" name="Shape 23"/>
          <p:cNvSpPr/>
          <p:nvPr/>
        </p:nvSpPr>
        <p:spPr>
          <a:xfrm>
            <a:off x="9722815" y="2450592"/>
            <a:ext cx="566928" cy="566928"/>
          </a:xfrm>
          <a:prstGeom prst="roundRect">
            <a:avLst>
              <a:gd name="adj" fmla="val 12903"/>
            </a:avLst>
          </a:prstGeom>
          <a:solidFill>
            <a:srgbClr val="1A2333"/>
          </a:solidFill>
          <a:ln w="9525">
            <a:solidFill>
              <a:srgbClr val="243044"/>
            </a:solidFill>
            <a:prstDash val="solid"/>
          </a:ln>
        </p:spPr>
      </p:sp>
      <p:sp>
        <p:nvSpPr>
          <p:cNvPr id="28" name="Shape 24"/>
          <p:cNvSpPr/>
          <p:nvPr/>
        </p:nvSpPr>
        <p:spPr>
          <a:xfrm>
            <a:off x="10399471" y="2450592"/>
            <a:ext cx="566928" cy="566928"/>
          </a:xfrm>
          <a:prstGeom prst="roundRect">
            <a:avLst>
              <a:gd name="adj" fmla="val 12903"/>
            </a:avLst>
          </a:prstGeom>
          <a:solidFill>
            <a:srgbClr val="1A2333"/>
          </a:solidFill>
          <a:ln w="9525">
            <a:solidFill>
              <a:srgbClr val="243044"/>
            </a:solidFill>
            <a:prstDash val="solid"/>
          </a:ln>
        </p:spPr>
      </p:sp>
      <p:sp>
        <p:nvSpPr>
          <p:cNvPr id="29" name="Shape 25"/>
          <p:cNvSpPr/>
          <p:nvPr/>
        </p:nvSpPr>
        <p:spPr>
          <a:xfrm>
            <a:off x="11076127" y="2450592"/>
            <a:ext cx="566928" cy="566928"/>
          </a:xfrm>
          <a:prstGeom prst="roundRect">
            <a:avLst>
              <a:gd name="adj" fmla="val 12903"/>
            </a:avLst>
          </a:prstGeom>
          <a:solidFill>
            <a:srgbClr val="1A2333"/>
          </a:solidFill>
          <a:ln w="9525">
            <a:solidFill>
              <a:srgbClr val="243044"/>
            </a:solidFill>
            <a:prstDash val="solid"/>
          </a:ln>
        </p:spPr>
      </p:sp>
      <p:sp>
        <p:nvSpPr>
          <p:cNvPr id="30" name="Shape 26"/>
          <p:cNvSpPr/>
          <p:nvPr/>
        </p:nvSpPr>
        <p:spPr>
          <a:xfrm>
            <a:off x="7016191" y="3127248"/>
            <a:ext cx="566928" cy="566928"/>
          </a:xfrm>
          <a:prstGeom prst="roundRect">
            <a:avLst>
              <a:gd name="adj" fmla="val 12903"/>
            </a:avLst>
          </a:prstGeom>
          <a:solidFill>
            <a:srgbClr val="1A2333"/>
          </a:solidFill>
          <a:ln w="9525">
            <a:solidFill>
              <a:srgbClr val="243044"/>
            </a:solidFill>
            <a:prstDash val="solid"/>
          </a:ln>
        </p:spPr>
      </p:sp>
      <p:sp>
        <p:nvSpPr>
          <p:cNvPr id="31" name="Shape 27"/>
          <p:cNvSpPr/>
          <p:nvPr/>
        </p:nvSpPr>
        <p:spPr>
          <a:xfrm>
            <a:off x="7692847" y="3127248"/>
            <a:ext cx="566928" cy="566928"/>
          </a:xfrm>
          <a:prstGeom prst="roundRect">
            <a:avLst>
              <a:gd name="adj" fmla="val 12903"/>
            </a:avLst>
          </a:prstGeom>
          <a:solidFill>
            <a:srgbClr val="1A2333"/>
          </a:solidFill>
          <a:ln w="9525">
            <a:solidFill>
              <a:srgbClr val="243044"/>
            </a:solidFill>
            <a:prstDash val="solid"/>
          </a:ln>
        </p:spPr>
      </p:sp>
      <p:sp>
        <p:nvSpPr>
          <p:cNvPr id="32" name="Shape 28"/>
          <p:cNvSpPr/>
          <p:nvPr/>
        </p:nvSpPr>
        <p:spPr>
          <a:xfrm>
            <a:off x="8369503" y="3127248"/>
            <a:ext cx="566928" cy="566928"/>
          </a:xfrm>
          <a:prstGeom prst="roundRect">
            <a:avLst>
              <a:gd name="adj" fmla="val 12903"/>
            </a:avLst>
          </a:prstGeom>
          <a:solidFill>
            <a:srgbClr val="1A2333"/>
          </a:solidFill>
          <a:ln w="9525">
            <a:solidFill>
              <a:srgbClr val="243044"/>
            </a:solidFill>
            <a:prstDash val="solid"/>
          </a:ln>
        </p:spPr>
      </p:sp>
      <p:sp>
        <p:nvSpPr>
          <p:cNvPr id="33" name="Shape 29"/>
          <p:cNvSpPr/>
          <p:nvPr/>
        </p:nvSpPr>
        <p:spPr>
          <a:xfrm>
            <a:off x="9046159" y="3127248"/>
            <a:ext cx="566928" cy="566928"/>
          </a:xfrm>
          <a:prstGeom prst="roundRect">
            <a:avLst>
              <a:gd name="adj" fmla="val 12903"/>
            </a:avLst>
          </a:prstGeom>
          <a:solidFill>
            <a:srgbClr val="1A2333"/>
          </a:solidFill>
          <a:ln w="9525">
            <a:solidFill>
              <a:srgbClr val="243044"/>
            </a:solidFill>
            <a:prstDash val="solid"/>
          </a:ln>
        </p:spPr>
      </p:sp>
      <p:sp>
        <p:nvSpPr>
          <p:cNvPr id="34" name="Shape 30"/>
          <p:cNvSpPr/>
          <p:nvPr/>
        </p:nvSpPr>
        <p:spPr>
          <a:xfrm>
            <a:off x="9722815" y="3127248"/>
            <a:ext cx="566928" cy="566928"/>
          </a:xfrm>
          <a:prstGeom prst="roundRect">
            <a:avLst>
              <a:gd name="adj" fmla="val 12903"/>
            </a:avLst>
          </a:prstGeom>
          <a:solidFill>
            <a:srgbClr val="1A2333"/>
          </a:solidFill>
          <a:ln w="9525">
            <a:solidFill>
              <a:srgbClr val="243044"/>
            </a:solidFill>
            <a:prstDash val="solid"/>
          </a:ln>
        </p:spPr>
      </p:sp>
      <p:sp>
        <p:nvSpPr>
          <p:cNvPr id="35" name="Shape 31"/>
          <p:cNvSpPr/>
          <p:nvPr/>
        </p:nvSpPr>
        <p:spPr>
          <a:xfrm>
            <a:off x="10399471" y="3127248"/>
            <a:ext cx="566928" cy="566928"/>
          </a:xfrm>
          <a:prstGeom prst="roundRect">
            <a:avLst>
              <a:gd name="adj" fmla="val 12903"/>
            </a:avLst>
          </a:prstGeom>
          <a:solidFill>
            <a:schemeClr val="accent4">
              <a:alpha val="65000"/>
            </a:schemeClr>
          </a:solidFill>
          <a:ln w="9525">
            <a:solidFill>
              <a:srgbClr val="243044"/>
            </a:solidFill>
            <a:prstDash val="solid"/>
          </a:ln>
        </p:spPr>
      </p:sp>
      <p:sp>
        <p:nvSpPr>
          <p:cNvPr id="36" name="Shape 32"/>
          <p:cNvSpPr/>
          <p:nvPr/>
        </p:nvSpPr>
        <p:spPr>
          <a:xfrm>
            <a:off x="11076127" y="3127248"/>
            <a:ext cx="566928" cy="566928"/>
          </a:xfrm>
          <a:prstGeom prst="roundRect">
            <a:avLst>
              <a:gd name="adj" fmla="val 12903"/>
            </a:avLst>
          </a:prstGeom>
          <a:solidFill>
            <a:srgbClr val="1A2333"/>
          </a:solidFill>
          <a:ln w="9525">
            <a:solidFill>
              <a:srgbClr val="243044"/>
            </a:solidFill>
            <a:prstDash val="solid"/>
          </a:ln>
        </p:spPr>
      </p:sp>
      <p:sp>
        <p:nvSpPr>
          <p:cNvPr id="37" name="Shape 33"/>
          <p:cNvSpPr/>
          <p:nvPr/>
        </p:nvSpPr>
        <p:spPr>
          <a:xfrm>
            <a:off x="7016191" y="3803904"/>
            <a:ext cx="566928" cy="566928"/>
          </a:xfrm>
          <a:prstGeom prst="roundRect">
            <a:avLst>
              <a:gd name="adj" fmla="val 12903"/>
            </a:avLst>
          </a:prstGeom>
          <a:solidFill>
            <a:srgbClr val="1A2333"/>
          </a:solidFill>
          <a:ln w="9525">
            <a:solidFill>
              <a:srgbClr val="243044"/>
            </a:solidFill>
            <a:prstDash val="solid"/>
          </a:ln>
        </p:spPr>
      </p:sp>
      <p:sp>
        <p:nvSpPr>
          <p:cNvPr id="38" name="Shape 34"/>
          <p:cNvSpPr/>
          <p:nvPr/>
        </p:nvSpPr>
        <p:spPr>
          <a:xfrm>
            <a:off x="7692847" y="3803904"/>
            <a:ext cx="566928" cy="566928"/>
          </a:xfrm>
          <a:prstGeom prst="roundRect">
            <a:avLst>
              <a:gd name="adj" fmla="val 12903"/>
            </a:avLst>
          </a:prstGeom>
          <a:solidFill>
            <a:srgbClr val="1A2333"/>
          </a:solidFill>
          <a:ln w="9525">
            <a:solidFill>
              <a:srgbClr val="243044"/>
            </a:solidFill>
            <a:prstDash val="solid"/>
          </a:ln>
        </p:spPr>
      </p:sp>
      <p:sp>
        <p:nvSpPr>
          <p:cNvPr id="39" name="Shape 35"/>
          <p:cNvSpPr/>
          <p:nvPr/>
        </p:nvSpPr>
        <p:spPr>
          <a:xfrm>
            <a:off x="8369503" y="3803904"/>
            <a:ext cx="566928" cy="566928"/>
          </a:xfrm>
          <a:prstGeom prst="roundRect">
            <a:avLst>
              <a:gd name="adj" fmla="val 12903"/>
            </a:avLst>
          </a:prstGeom>
          <a:solidFill>
            <a:schemeClr val="accent1">
              <a:alpha val="65000"/>
            </a:schemeClr>
          </a:solidFill>
          <a:ln w="9525">
            <a:solidFill>
              <a:srgbClr val="243044"/>
            </a:solidFill>
            <a:prstDash val="solid"/>
          </a:ln>
        </p:spPr>
      </p:sp>
      <p:sp>
        <p:nvSpPr>
          <p:cNvPr id="40" name="Shape 36"/>
          <p:cNvSpPr/>
          <p:nvPr/>
        </p:nvSpPr>
        <p:spPr>
          <a:xfrm>
            <a:off x="9046159" y="3803904"/>
            <a:ext cx="566928" cy="566928"/>
          </a:xfrm>
          <a:prstGeom prst="roundRect">
            <a:avLst>
              <a:gd name="adj" fmla="val 12903"/>
            </a:avLst>
          </a:prstGeom>
          <a:solidFill>
            <a:srgbClr val="1A2333"/>
          </a:solidFill>
          <a:ln w="9525">
            <a:solidFill>
              <a:srgbClr val="243044"/>
            </a:solidFill>
            <a:prstDash val="solid"/>
          </a:ln>
        </p:spPr>
      </p:sp>
      <p:sp>
        <p:nvSpPr>
          <p:cNvPr id="41" name="Shape 37"/>
          <p:cNvSpPr/>
          <p:nvPr/>
        </p:nvSpPr>
        <p:spPr>
          <a:xfrm>
            <a:off x="9722815" y="3803904"/>
            <a:ext cx="566928" cy="566928"/>
          </a:xfrm>
          <a:prstGeom prst="roundRect">
            <a:avLst>
              <a:gd name="adj" fmla="val 12903"/>
            </a:avLst>
          </a:prstGeom>
          <a:solidFill>
            <a:srgbClr val="1A2333"/>
          </a:solidFill>
          <a:ln w="9525">
            <a:solidFill>
              <a:srgbClr val="243044"/>
            </a:solidFill>
            <a:prstDash val="solid"/>
          </a:ln>
        </p:spPr>
      </p:sp>
      <p:sp>
        <p:nvSpPr>
          <p:cNvPr id="42" name="Shape 38"/>
          <p:cNvSpPr/>
          <p:nvPr/>
        </p:nvSpPr>
        <p:spPr>
          <a:xfrm>
            <a:off x="10399471" y="3803904"/>
            <a:ext cx="566928" cy="566928"/>
          </a:xfrm>
          <a:prstGeom prst="roundRect">
            <a:avLst>
              <a:gd name="adj" fmla="val 12903"/>
            </a:avLst>
          </a:prstGeom>
          <a:solidFill>
            <a:srgbClr val="1A2333"/>
          </a:solidFill>
          <a:ln w="9525">
            <a:solidFill>
              <a:srgbClr val="243044"/>
            </a:solidFill>
            <a:prstDash val="solid"/>
          </a:ln>
        </p:spPr>
      </p:sp>
      <p:sp>
        <p:nvSpPr>
          <p:cNvPr id="43" name="Shape 39"/>
          <p:cNvSpPr/>
          <p:nvPr/>
        </p:nvSpPr>
        <p:spPr>
          <a:xfrm>
            <a:off x="11076127" y="3803904"/>
            <a:ext cx="566928" cy="566928"/>
          </a:xfrm>
          <a:prstGeom prst="roundRect">
            <a:avLst>
              <a:gd name="adj" fmla="val 12903"/>
            </a:avLst>
          </a:prstGeom>
          <a:solidFill>
            <a:schemeClr val="accent1">
              <a:alpha val="65000"/>
            </a:schemeClr>
          </a:solidFill>
          <a:ln w="9525">
            <a:solidFill>
              <a:srgbClr val="243044"/>
            </a:solidFill>
            <a:prstDash val="solid"/>
          </a:ln>
        </p:spPr>
      </p:sp>
      <p:sp>
        <p:nvSpPr>
          <p:cNvPr id="44" name="Shape 40"/>
          <p:cNvSpPr/>
          <p:nvPr/>
        </p:nvSpPr>
        <p:spPr>
          <a:xfrm>
            <a:off x="7016191" y="4480560"/>
            <a:ext cx="566928" cy="566928"/>
          </a:xfrm>
          <a:prstGeom prst="roundRect">
            <a:avLst>
              <a:gd name="adj" fmla="val 12903"/>
            </a:avLst>
          </a:prstGeom>
          <a:solidFill>
            <a:schemeClr val="accent2">
              <a:alpha val="65000"/>
            </a:schemeClr>
          </a:solidFill>
          <a:ln w="9525">
            <a:solidFill>
              <a:srgbClr val="243044"/>
            </a:solidFill>
            <a:prstDash val="solid"/>
          </a:ln>
        </p:spPr>
      </p:sp>
      <p:sp>
        <p:nvSpPr>
          <p:cNvPr id="45" name="Shape 41"/>
          <p:cNvSpPr/>
          <p:nvPr/>
        </p:nvSpPr>
        <p:spPr>
          <a:xfrm>
            <a:off x="7692847" y="4480560"/>
            <a:ext cx="566928" cy="566928"/>
          </a:xfrm>
          <a:prstGeom prst="roundRect">
            <a:avLst>
              <a:gd name="adj" fmla="val 12903"/>
            </a:avLst>
          </a:prstGeom>
          <a:solidFill>
            <a:srgbClr val="1A2333"/>
          </a:solidFill>
          <a:ln w="9525">
            <a:solidFill>
              <a:srgbClr val="243044"/>
            </a:solidFill>
            <a:prstDash val="solid"/>
          </a:ln>
        </p:spPr>
      </p:sp>
      <p:sp>
        <p:nvSpPr>
          <p:cNvPr id="46" name="Shape 42"/>
          <p:cNvSpPr/>
          <p:nvPr/>
        </p:nvSpPr>
        <p:spPr>
          <a:xfrm>
            <a:off x="8369503" y="4480560"/>
            <a:ext cx="566928" cy="566928"/>
          </a:xfrm>
          <a:prstGeom prst="roundRect">
            <a:avLst>
              <a:gd name="adj" fmla="val 12903"/>
            </a:avLst>
          </a:prstGeom>
          <a:solidFill>
            <a:srgbClr val="1A2333"/>
          </a:solidFill>
          <a:ln w="9525">
            <a:solidFill>
              <a:srgbClr val="243044"/>
            </a:solidFill>
            <a:prstDash val="solid"/>
          </a:ln>
        </p:spPr>
      </p:sp>
      <p:sp>
        <p:nvSpPr>
          <p:cNvPr id="47" name="Shape 43"/>
          <p:cNvSpPr/>
          <p:nvPr/>
        </p:nvSpPr>
        <p:spPr>
          <a:xfrm>
            <a:off x="9046159" y="4480560"/>
            <a:ext cx="566928" cy="566928"/>
          </a:xfrm>
          <a:prstGeom prst="roundRect">
            <a:avLst>
              <a:gd name="adj" fmla="val 12903"/>
            </a:avLst>
          </a:prstGeom>
          <a:solidFill>
            <a:srgbClr val="1A2333"/>
          </a:solidFill>
          <a:ln w="9525">
            <a:solidFill>
              <a:srgbClr val="243044"/>
            </a:solidFill>
            <a:prstDash val="solid"/>
          </a:ln>
        </p:spPr>
      </p:sp>
      <p:sp>
        <p:nvSpPr>
          <p:cNvPr id="48" name="Shape 44"/>
          <p:cNvSpPr/>
          <p:nvPr/>
        </p:nvSpPr>
        <p:spPr>
          <a:xfrm>
            <a:off x="9722815" y="4480560"/>
            <a:ext cx="566928" cy="566928"/>
          </a:xfrm>
          <a:prstGeom prst="roundRect">
            <a:avLst>
              <a:gd name="adj" fmla="val 12903"/>
            </a:avLst>
          </a:prstGeom>
          <a:solidFill>
            <a:srgbClr val="1A2333"/>
          </a:solidFill>
          <a:ln w="9525">
            <a:solidFill>
              <a:srgbClr val="243044"/>
            </a:solidFill>
            <a:prstDash val="solid"/>
          </a:ln>
        </p:spPr>
      </p:sp>
      <p:sp>
        <p:nvSpPr>
          <p:cNvPr id="49" name="Shape 45"/>
          <p:cNvSpPr/>
          <p:nvPr/>
        </p:nvSpPr>
        <p:spPr>
          <a:xfrm>
            <a:off x="10399471" y="4480560"/>
            <a:ext cx="566928" cy="566928"/>
          </a:xfrm>
          <a:prstGeom prst="roundRect">
            <a:avLst>
              <a:gd name="adj" fmla="val 12903"/>
            </a:avLst>
          </a:prstGeom>
          <a:solidFill>
            <a:srgbClr val="1A2333"/>
          </a:solidFill>
          <a:ln w="9525">
            <a:solidFill>
              <a:srgbClr val="243044"/>
            </a:solidFill>
            <a:prstDash val="solid"/>
          </a:ln>
        </p:spPr>
      </p:sp>
      <p:sp>
        <p:nvSpPr>
          <p:cNvPr id="50" name="Shape 46"/>
          <p:cNvSpPr/>
          <p:nvPr/>
        </p:nvSpPr>
        <p:spPr>
          <a:xfrm>
            <a:off x="11076127" y="4480560"/>
            <a:ext cx="566928" cy="566928"/>
          </a:xfrm>
          <a:prstGeom prst="roundRect">
            <a:avLst>
              <a:gd name="adj" fmla="val 12903"/>
            </a:avLst>
          </a:prstGeom>
          <a:solidFill>
            <a:srgbClr val="1A2333"/>
          </a:solidFill>
          <a:ln w="9525">
            <a:solidFill>
              <a:srgbClr val="243044"/>
            </a:solidFill>
            <a:prstDash val="solid"/>
          </a:ln>
        </p:spPr>
      </p:sp>
      <p:sp>
        <p:nvSpPr>
          <p:cNvPr id="51" name="Text 47"/>
          <p:cNvSpPr txBox="1"/>
          <p:nvPr/>
        </p:nvSpPr>
        <p:spPr>
          <a:xfrm>
            <a:off x="7016191" y="5248656"/>
            <a:ext cx="4626864"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80,000 tiles, one wall: edge analytics, regional hubs, one control plane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SOLUTION · PROBLEM AND MODEL</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Many owners, 80,000 cameras, and one picture is needed</a:t>
            </a:r>
            <a:endParaRPr lang="en-US" sz="2400" dirty="0"/>
          </a:p>
        </p:txBody>
      </p:sp>
      <p:sp>
        <p:nvSpPr>
          <p:cNvPr id="5" name="Shape 2"/>
          <p:cNvSpPr/>
          <p:nvPr/>
        </p:nvSpPr>
        <p:spPr>
          <a:xfrm>
            <a:off x="548640" y="1600200"/>
            <a:ext cx="2602154" cy="2011680"/>
          </a:xfrm>
          <a:prstGeom prst="roundRect">
            <a:avLst>
              <a:gd name="adj" fmla="val 5455"/>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Shape 3"/>
          <p:cNvSpPr/>
          <p:nvPr/>
        </p:nvSpPr>
        <p:spPr>
          <a:xfrm>
            <a:off x="749808" y="1783080"/>
            <a:ext cx="457200" cy="457200"/>
          </a:xfrm>
          <a:prstGeom prst="ellipse">
            <a:avLst/>
          </a:prstGeom>
          <a:solidFill>
            <a:schemeClr val="accent1">
              <a:alpha val="12000"/>
            </a:schemeClr>
          </a:solidFill>
          <a:ln w="6350">
            <a:solidFill>
              <a:schemeClr val="accent1">
                <a:alpha val="30000"/>
              </a:schemeClr>
            </a:solidFill>
            <a:prstDash val="solid"/>
          </a:ln>
        </p:spPr>
      </p:sp>
      <p:pic>
        <p:nvPicPr>
          <p:cNvPr id="7" name="Image 0" descr="preencoded.png">    </p:cNvPr>
          <p:cNvPicPr>
            <a:picLocks noChangeAspect="1"/>
          </p:cNvPicPr>
          <p:nvPr/>
        </p:nvPicPr>
        <p:blipFill>
          <a:blip r:embed="rId1"/>
          <a:stretch>
            <a:fillRect/>
          </a:stretch>
        </p:blipFill>
        <p:spPr>
          <a:xfrm>
            <a:off x="864108" y="1897380"/>
            <a:ext cx="228600" cy="228600"/>
          </a:xfrm>
          <a:prstGeom prst="rect">
            <a:avLst/>
          </a:prstGeom>
        </p:spPr>
      </p:pic>
      <p:sp>
        <p:nvSpPr>
          <p:cNvPr id="8" name="Text 4"/>
          <p:cNvSpPr txBox="1"/>
          <p:nvPr/>
        </p:nvSpPr>
        <p:spPr>
          <a:xfrm>
            <a:off x="749808" y="2359152"/>
            <a:ext cx="2199818" cy="320040"/>
          </a:xfrm>
          <a:prstGeom prst="rect">
            <a:avLst/>
          </a:prstGeom>
          <a:noFill/>
          <a:ln/>
        </p:spPr>
        <p:txBody>
          <a:bodyPr wrap="square" lIns="0" tIns="0" rIns="0" bIns="0" rtlCol="0" anchor="t"/>
          <a:lstStyle/>
          <a:p>
            <a:pPr indent="0" marL="0">
              <a:buNone/>
            </a:pPr>
            <a:r>
              <a:rPr lang="en-US" sz="1350" b="1" dirty="0">
                <a:solidFill>
                  <a:schemeClr val="tx1"/>
                </a:solidFill>
                <a:latin typeface="Century Gothic" pitchFamily="34" charset="0"/>
                <a:ea typeface="Century Gothic" pitchFamily="34" charset="-122"/>
                <a:cs typeface="Century Gothic" pitchFamily="34" charset="-120"/>
              </a:rPr>
              <a:t>Fragmented ownership</a:t>
            </a:r>
            <a:endParaRPr lang="en-US" sz="1350" dirty="0"/>
          </a:p>
        </p:txBody>
      </p:sp>
      <p:sp>
        <p:nvSpPr>
          <p:cNvPr id="9" name="Text 5"/>
          <p:cNvSpPr txBox="1"/>
          <p:nvPr/>
        </p:nvSpPr>
        <p:spPr>
          <a:xfrm>
            <a:off x="749808" y="2724912"/>
            <a:ext cx="2199818"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Every department runs its own system. Retention is 7 to 15+ days; some use cloud, some local storage.</a:t>
            </a:r>
            <a:endParaRPr lang="en-US" sz="1300" dirty="0"/>
          </a:p>
        </p:txBody>
      </p:sp>
      <p:sp>
        <p:nvSpPr>
          <p:cNvPr id="10" name="Shape 6"/>
          <p:cNvSpPr/>
          <p:nvPr/>
        </p:nvSpPr>
        <p:spPr>
          <a:xfrm>
            <a:off x="3379394" y="1600200"/>
            <a:ext cx="2602154" cy="2011680"/>
          </a:xfrm>
          <a:prstGeom prst="roundRect">
            <a:avLst>
              <a:gd name="adj" fmla="val 5455"/>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1" name="Shape 7"/>
          <p:cNvSpPr/>
          <p:nvPr/>
        </p:nvSpPr>
        <p:spPr>
          <a:xfrm>
            <a:off x="3580562" y="1783080"/>
            <a:ext cx="457200" cy="457200"/>
          </a:xfrm>
          <a:prstGeom prst="ellipse">
            <a:avLst/>
          </a:prstGeom>
          <a:solidFill>
            <a:schemeClr val="accent1">
              <a:alpha val="12000"/>
            </a:schemeClr>
          </a:solidFill>
          <a:ln w="6350">
            <a:solidFill>
              <a:schemeClr val="accent1">
                <a:alpha val="30000"/>
              </a:schemeClr>
            </a:solidFill>
            <a:prstDash val="solid"/>
          </a:ln>
        </p:spPr>
      </p:sp>
      <p:pic>
        <p:nvPicPr>
          <p:cNvPr id="12" name="Image 1" descr="preencoded.png">    </p:cNvPr>
          <p:cNvPicPr>
            <a:picLocks noChangeAspect="1"/>
          </p:cNvPicPr>
          <p:nvPr/>
        </p:nvPicPr>
        <p:blipFill>
          <a:blip r:embed="rId2"/>
          <a:stretch>
            <a:fillRect/>
          </a:stretch>
        </p:blipFill>
        <p:spPr>
          <a:xfrm>
            <a:off x="3694862" y="1897380"/>
            <a:ext cx="228600" cy="228600"/>
          </a:xfrm>
          <a:prstGeom prst="rect">
            <a:avLst/>
          </a:prstGeom>
        </p:spPr>
      </p:pic>
      <p:sp>
        <p:nvSpPr>
          <p:cNvPr id="13" name="Text 8"/>
          <p:cNvSpPr txBox="1"/>
          <p:nvPr/>
        </p:nvSpPr>
        <p:spPr>
          <a:xfrm>
            <a:off x="3580562" y="2359152"/>
            <a:ext cx="2199818" cy="320040"/>
          </a:xfrm>
          <a:prstGeom prst="rect">
            <a:avLst/>
          </a:prstGeom>
          <a:noFill/>
          <a:ln/>
        </p:spPr>
        <p:txBody>
          <a:bodyPr wrap="square" lIns="0" tIns="0" rIns="0" bIns="0" rtlCol="0" anchor="t"/>
          <a:lstStyle/>
          <a:p>
            <a:pPr indent="0" marL="0">
              <a:buNone/>
            </a:pPr>
            <a:r>
              <a:rPr lang="en-US" sz="1350" b="1" dirty="0">
                <a:solidFill>
                  <a:schemeClr val="tx1"/>
                </a:solidFill>
                <a:latin typeface="Century Gothic" pitchFamily="34" charset="0"/>
                <a:ea typeface="Century Gothic" pitchFamily="34" charset="-122"/>
                <a:cs typeface="Century Gothic" pitchFamily="34" charset="-120"/>
              </a:rPr>
              <a:t>Too much to watch</a:t>
            </a:r>
            <a:endParaRPr lang="en-US" sz="1350" dirty="0"/>
          </a:p>
        </p:txBody>
      </p:sp>
      <p:sp>
        <p:nvSpPr>
          <p:cNvPr id="14" name="Text 9"/>
          <p:cNvSpPr txBox="1"/>
          <p:nvPr/>
        </p:nvSpPr>
        <p:spPr>
          <a:xfrm>
            <a:off x="3580562" y="2724912"/>
            <a:ext cx="2199818"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80,000 cameras cannot be watched by people, or hauled to one place: about 160 Gbps of video.</a:t>
            </a:r>
            <a:endParaRPr lang="en-US" sz="1300" dirty="0"/>
          </a:p>
        </p:txBody>
      </p:sp>
      <p:sp>
        <p:nvSpPr>
          <p:cNvPr id="15" name="Shape 10"/>
          <p:cNvSpPr/>
          <p:nvPr/>
        </p:nvSpPr>
        <p:spPr>
          <a:xfrm>
            <a:off x="6210148" y="1600200"/>
            <a:ext cx="2602154" cy="2011680"/>
          </a:xfrm>
          <a:prstGeom prst="roundRect">
            <a:avLst>
              <a:gd name="adj" fmla="val 5455"/>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6" name="Shape 11"/>
          <p:cNvSpPr/>
          <p:nvPr/>
        </p:nvSpPr>
        <p:spPr>
          <a:xfrm>
            <a:off x="6411316" y="1783080"/>
            <a:ext cx="457200" cy="457200"/>
          </a:xfrm>
          <a:prstGeom prst="ellipse">
            <a:avLst/>
          </a:prstGeom>
          <a:solidFill>
            <a:schemeClr val="accent1">
              <a:alpha val="12000"/>
            </a:schemeClr>
          </a:solidFill>
          <a:ln w="6350">
            <a:solidFill>
              <a:schemeClr val="accent1">
                <a:alpha val="30000"/>
              </a:schemeClr>
            </a:solidFill>
            <a:prstDash val="solid"/>
          </a:ln>
        </p:spPr>
      </p:sp>
      <p:pic>
        <p:nvPicPr>
          <p:cNvPr id="17" name="Image 2" descr="preencoded.png">    </p:cNvPr>
          <p:cNvPicPr>
            <a:picLocks noChangeAspect="1"/>
          </p:cNvPicPr>
          <p:nvPr/>
        </p:nvPicPr>
        <p:blipFill>
          <a:blip r:embed="rId3"/>
          <a:stretch>
            <a:fillRect/>
          </a:stretch>
        </p:blipFill>
        <p:spPr>
          <a:xfrm>
            <a:off x="6525616" y="1897380"/>
            <a:ext cx="228600" cy="228600"/>
          </a:xfrm>
          <a:prstGeom prst="rect">
            <a:avLst/>
          </a:prstGeom>
        </p:spPr>
      </p:pic>
      <p:sp>
        <p:nvSpPr>
          <p:cNvPr id="18" name="Text 12"/>
          <p:cNvSpPr txBox="1"/>
          <p:nvPr/>
        </p:nvSpPr>
        <p:spPr>
          <a:xfrm>
            <a:off x="6411316" y="2359152"/>
            <a:ext cx="2199818" cy="320040"/>
          </a:xfrm>
          <a:prstGeom prst="rect">
            <a:avLst/>
          </a:prstGeom>
          <a:noFill/>
          <a:ln/>
        </p:spPr>
        <p:txBody>
          <a:bodyPr wrap="square" lIns="0" tIns="0" rIns="0" bIns="0" rtlCol="0" anchor="t"/>
          <a:lstStyle/>
          <a:p>
            <a:pPr indent="0" marL="0">
              <a:buNone/>
            </a:pPr>
            <a:r>
              <a:rPr lang="en-US" sz="1350" b="1" dirty="0">
                <a:solidFill>
                  <a:schemeClr val="tx1"/>
                </a:solidFill>
                <a:latin typeface="Century Gothic" pitchFamily="34" charset="0"/>
                <a:ea typeface="Century Gothic" pitchFamily="34" charset="-122"/>
                <a:cs typeface="Century Gothic" pitchFamily="34" charset="-120"/>
              </a:rPr>
              <a:t>Incidents cross borders</a:t>
            </a:r>
            <a:endParaRPr lang="en-US" sz="1350" dirty="0"/>
          </a:p>
        </p:txBody>
      </p:sp>
      <p:sp>
        <p:nvSpPr>
          <p:cNvPr id="19" name="Text 13"/>
          <p:cNvSpPr txBox="1"/>
          <p:nvPr/>
        </p:nvSpPr>
        <p:spPr>
          <a:xfrm>
            <a:off x="6411316" y="2724912"/>
            <a:ext cx="2199818"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 vehicle or person moves between districts and departments; evidence is scattered and expires.</a:t>
            </a:r>
            <a:endParaRPr lang="en-US" sz="1300" dirty="0"/>
          </a:p>
        </p:txBody>
      </p:sp>
      <p:sp>
        <p:nvSpPr>
          <p:cNvPr id="20" name="Shape 14"/>
          <p:cNvSpPr/>
          <p:nvPr/>
        </p:nvSpPr>
        <p:spPr>
          <a:xfrm>
            <a:off x="9040901" y="1600200"/>
            <a:ext cx="2602154" cy="2011680"/>
          </a:xfrm>
          <a:prstGeom prst="roundRect">
            <a:avLst>
              <a:gd name="adj" fmla="val 5455"/>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1" name="Shape 15"/>
          <p:cNvSpPr/>
          <p:nvPr/>
        </p:nvSpPr>
        <p:spPr>
          <a:xfrm>
            <a:off x="9242069" y="1783080"/>
            <a:ext cx="457200" cy="457200"/>
          </a:xfrm>
          <a:prstGeom prst="ellipse">
            <a:avLst/>
          </a:prstGeom>
          <a:solidFill>
            <a:schemeClr val="accent1">
              <a:alpha val="12000"/>
            </a:schemeClr>
          </a:solidFill>
          <a:ln w="6350">
            <a:solidFill>
              <a:schemeClr val="accent1">
                <a:alpha val="30000"/>
              </a:schemeClr>
            </a:solidFill>
            <a:prstDash val="solid"/>
          </a:ln>
        </p:spPr>
      </p:sp>
      <p:pic>
        <p:nvPicPr>
          <p:cNvPr id="22" name="Image 3" descr="preencoded.png">    </p:cNvPr>
          <p:cNvPicPr>
            <a:picLocks noChangeAspect="1"/>
          </p:cNvPicPr>
          <p:nvPr/>
        </p:nvPicPr>
        <p:blipFill>
          <a:blip r:embed="rId4"/>
          <a:stretch>
            <a:fillRect/>
          </a:stretch>
        </p:blipFill>
        <p:spPr>
          <a:xfrm>
            <a:off x="9356369" y="1897380"/>
            <a:ext cx="228600" cy="228600"/>
          </a:xfrm>
          <a:prstGeom prst="rect">
            <a:avLst/>
          </a:prstGeom>
        </p:spPr>
      </p:pic>
      <p:sp>
        <p:nvSpPr>
          <p:cNvPr id="23" name="Text 16"/>
          <p:cNvSpPr txBox="1"/>
          <p:nvPr/>
        </p:nvSpPr>
        <p:spPr>
          <a:xfrm>
            <a:off x="9242069" y="2359152"/>
            <a:ext cx="2199818" cy="320040"/>
          </a:xfrm>
          <a:prstGeom prst="rect">
            <a:avLst/>
          </a:prstGeom>
          <a:noFill/>
          <a:ln/>
        </p:spPr>
        <p:txBody>
          <a:bodyPr wrap="square" lIns="0" tIns="0" rIns="0" bIns="0" rtlCol="0" anchor="t"/>
          <a:lstStyle/>
          <a:p>
            <a:pPr indent="0" marL="0">
              <a:buNone/>
            </a:pPr>
            <a:r>
              <a:rPr lang="en-US" sz="1350" b="1" dirty="0">
                <a:solidFill>
                  <a:schemeClr val="tx1"/>
                </a:solidFill>
                <a:latin typeface="Century Gothic" pitchFamily="34" charset="0"/>
                <a:ea typeface="Century Gothic" pitchFamily="34" charset="-122"/>
                <a:cs typeface="Century Gothic" pitchFamily="34" charset="-120"/>
              </a:rPr>
              <a:t>Nothing may break</a:t>
            </a:r>
            <a:endParaRPr lang="en-US" sz="1350" dirty="0"/>
          </a:p>
        </p:txBody>
      </p:sp>
      <p:sp>
        <p:nvSpPr>
          <p:cNvPr id="24" name="Text 17"/>
          <p:cNvSpPr txBox="1"/>
          <p:nvPr/>
        </p:nvSpPr>
        <p:spPr>
          <a:xfrm>
            <a:off x="9242069" y="2724912"/>
            <a:ext cx="2199818" cy="8686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Department systems must stay unaffected: read-only access, and no new layer where one is forbidden.</a:t>
            </a:r>
            <a:endParaRPr lang="en-US" sz="1300" dirty="0"/>
          </a:p>
        </p:txBody>
      </p:sp>
      <p:sp>
        <p:nvSpPr>
          <p:cNvPr id="25" name="Text 18"/>
          <p:cNvSpPr txBox="1"/>
          <p:nvPr/>
        </p:nvSpPr>
        <p:spPr>
          <a:xfrm>
            <a:off x="548640" y="3794760"/>
            <a:ext cx="11094415" cy="256032"/>
          </a:xfrm>
          <a:prstGeom prst="rect">
            <a:avLst/>
          </a:prstGeom>
          <a:noFill/>
          <a:ln/>
        </p:spPr>
        <p:txBody>
          <a:bodyPr wrap="square" lIns="0" tIns="0" rIns="0" bIns="0" rtlCol="0" anchor="t"/>
          <a:lstStyle/>
          <a:p>
            <a:pPr indent="0" marL="0">
              <a:buNone/>
            </a:pPr>
            <a:r>
              <a:rPr lang="en-US" sz="1100" b="1" dirty="0">
                <a:solidFill>
                  <a:schemeClr val="accent1"/>
                </a:solidFill>
                <a:latin typeface="Consolas" pitchFamily="34" charset="0"/>
                <a:ea typeface="Consolas" pitchFamily="34" charset="-122"/>
                <a:cs typeface="Consolas" pitchFamily="34" charset="-120"/>
              </a:rPr>
              <a:t>PROPOSED MODEL: ONE PLATFORM, THREE DEPLOYMENT PROFILES</a:t>
            </a:r>
            <a:endParaRPr lang="en-US" sz="1100" dirty="0"/>
          </a:p>
        </p:txBody>
      </p:sp>
      <p:sp>
        <p:nvSpPr>
          <p:cNvPr id="26" name="Shape 19"/>
          <p:cNvSpPr/>
          <p:nvPr/>
        </p:nvSpPr>
        <p:spPr>
          <a:xfrm>
            <a:off x="548640" y="4114800"/>
            <a:ext cx="3515258" cy="1600200"/>
          </a:xfrm>
          <a:prstGeom prst="roundRect">
            <a:avLst>
              <a:gd name="adj" fmla="val 6857"/>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7" name="Text 20"/>
          <p:cNvSpPr txBox="1"/>
          <p:nvPr/>
        </p:nvSpPr>
        <p:spPr>
          <a:xfrm>
            <a:off x="777240" y="4251960"/>
            <a:ext cx="3058058" cy="320040"/>
          </a:xfrm>
          <a:prstGeom prst="rect">
            <a:avLst/>
          </a:prstGeom>
          <a:noFill/>
          <a:ln/>
        </p:spPr>
        <p:txBody>
          <a:bodyPr wrap="square" lIns="0" tIns="0" rIns="0" bIns="0" rtlCol="0" anchor="t"/>
          <a:lstStyle/>
          <a:p>
            <a:pPr indent="0" marL="0">
              <a:buNone/>
            </a:pPr>
            <a:r>
              <a:rPr lang="en-US" sz="1500" b="1" dirty="0">
                <a:solidFill>
                  <a:schemeClr val="accent1"/>
                </a:solidFill>
                <a:latin typeface="Century Gothic" pitchFamily="34" charset="0"/>
                <a:ea typeface="Century Gothic" pitchFamily="34" charset="-122"/>
                <a:cs typeface="Century Gothic" pitchFamily="34" charset="-120"/>
              </a:rPr>
              <a:t>Unified viewing</a:t>
            </a:r>
            <a:endParaRPr lang="en-US" sz="1500" dirty="0"/>
          </a:p>
        </p:txBody>
      </p:sp>
      <p:sp>
        <p:nvSpPr>
          <p:cNvPr id="28" name="Text 21"/>
          <p:cNvSpPr txBox="1"/>
          <p:nvPr/>
        </p:nvSpPr>
        <p:spPr>
          <a:xfrm>
            <a:off x="777240" y="4617720"/>
            <a:ext cx="3058058"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Direct to each camera or system, no intermediate layer. Walls, plate metadata, tagging, searchable movement, alerts.</a:t>
            </a:r>
            <a:endParaRPr lang="en-US" sz="1300" dirty="0"/>
          </a:p>
        </p:txBody>
      </p:sp>
      <p:sp>
        <p:nvSpPr>
          <p:cNvPr id="29" name="Shape 22"/>
          <p:cNvSpPr/>
          <p:nvPr/>
        </p:nvSpPr>
        <p:spPr>
          <a:xfrm>
            <a:off x="4338218" y="4114800"/>
            <a:ext cx="3515258" cy="1600200"/>
          </a:xfrm>
          <a:prstGeom prst="roundRect">
            <a:avLst>
              <a:gd name="adj" fmla="val 6857"/>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0" name="Text 23"/>
          <p:cNvSpPr txBox="1"/>
          <p:nvPr/>
        </p:nvSpPr>
        <p:spPr>
          <a:xfrm>
            <a:off x="4566818" y="4251960"/>
            <a:ext cx="3058058" cy="320040"/>
          </a:xfrm>
          <a:prstGeom prst="rect">
            <a:avLst/>
          </a:prstGeom>
          <a:noFill/>
          <a:ln/>
        </p:spPr>
        <p:txBody>
          <a:bodyPr wrap="square" lIns="0" tIns="0" rIns="0" bIns="0" rtlCol="0" anchor="t"/>
          <a:lstStyle/>
          <a:p>
            <a:pPr indent="0" marL="0">
              <a:buNone/>
            </a:pPr>
            <a:r>
              <a:rPr lang="en-US" sz="1500" b="1" dirty="0">
                <a:solidFill>
                  <a:schemeClr val="accent1"/>
                </a:solidFill>
                <a:latin typeface="Century Gothic" pitchFamily="34" charset="0"/>
                <a:ea typeface="Century Gothic" pitchFamily="34" charset="-122"/>
                <a:cs typeface="Century Gothic" pitchFamily="34" charset="-120"/>
              </a:rPr>
              <a:t>Federation middleware</a:t>
            </a:r>
            <a:endParaRPr lang="en-US" sz="1500" dirty="0"/>
          </a:p>
        </p:txBody>
      </p:sp>
      <p:sp>
        <p:nvSpPr>
          <p:cNvPr id="31" name="Text 24"/>
          <p:cNvSpPr txBox="1"/>
          <p:nvPr/>
        </p:nvSpPr>
        <p:spPr>
          <a:xfrm>
            <a:off x="4566818" y="4617720"/>
            <a:ext cx="3058058"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Connectors and an event bus give departments one interface. Cross-system correlation; video stays with its owner.</a:t>
            </a:r>
            <a:endParaRPr lang="en-US" sz="1300" dirty="0"/>
          </a:p>
        </p:txBody>
      </p:sp>
      <p:sp>
        <p:nvSpPr>
          <p:cNvPr id="32" name="Shape 25"/>
          <p:cNvSpPr/>
          <p:nvPr/>
        </p:nvSpPr>
        <p:spPr>
          <a:xfrm>
            <a:off x="8127797" y="4114800"/>
            <a:ext cx="3515258" cy="1600200"/>
          </a:xfrm>
          <a:prstGeom prst="roundRect">
            <a:avLst>
              <a:gd name="adj" fmla="val 6857"/>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3" name="Text 26"/>
          <p:cNvSpPr txBox="1"/>
          <p:nvPr/>
        </p:nvSpPr>
        <p:spPr>
          <a:xfrm>
            <a:off x="8356397" y="4251960"/>
            <a:ext cx="3058058" cy="320040"/>
          </a:xfrm>
          <a:prstGeom prst="rect">
            <a:avLst/>
          </a:prstGeom>
          <a:noFill/>
          <a:ln/>
        </p:spPr>
        <p:txBody>
          <a:bodyPr wrap="square" lIns="0" tIns="0" rIns="0" bIns="0" rtlCol="0" anchor="t"/>
          <a:lstStyle/>
          <a:p>
            <a:pPr indent="0" marL="0">
              <a:buNone/>
            </a:pPr>
            <a:r>
              <a:rPr lang="en-US" sz="1500" b="1" dirty="0">
                <a:solidFill>
                  <a:schemeClr val="accent1"/>
                </a:solidFill>
                <a:latin typeface="Century Gothic" pitchFamily="34" charset="0"/>
                <a:ea typeface="Century Gothic" pitchFamily="34" charset="-122"/>
                <a:cs typeface="Century Gothic" pitchFamily="34" charset="-120"/>
              </a:rPr>
              <a:t>Central VMS, regional edge</a:t>
            </a:r>
            <a:endParaRPr lang="en-US" sz="1500" dirty="0"/>
          </a:p>
        </p:txBody>
      </p:sp>
      <p:sp>
        <p:nvSpPr>
          <p:cNvPr id="34" name="Text 27"/>
          <p:cNvSpPr txBox="1"/>
          <p:nvPr/>
        </p:nvSpPr>
        <p:spPr>
          <a:xfrm>
            <a:off x="8356397" y="4617720"/>
            <a:ext cx="3058058" cy="10058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Statewide recording in hot, warm and cold tiers, ANPR and tracking across locations, about 80,000 cameras.</a:t>
            </a:r>
            <a:endParaRPr lang="en-US" sz="1300" dirty="0"/>
          </a:p>
        </p:txBody>
      </p:sp>
      <p:sp>
        <p:nvSpPr>
          <p:cNvPr id="35" name="Shape 28"/>
          <p:cNvSpPr/>
          <p:nvPr/>
        </p:nvSpPr>
        <p:spPr>
          <a:xfrm>
            <a:off x="548640" y="5833872"/>
            <a:ext cx="11094415" cy="457200"/>
          </a:xfrm>
          <a:prstGeom prst="roundRect">
            <a:avLst>
              <a:gd name="adj" fmla="val 24000"/>
            </a:avLst>
          </a:prstGeom>
          <a:solidFill>
            <a:schemeClr val="accent1">
              <a:alpha val="8000"/>
            </a:schemeClr>
          </a:solidFill>
          <a:ln w="9525">
            <a:solidFill>
              <a:schemeClr val="accent6"/>
            </a:solidFill>
            <a:prstDash val="solid"/>
          </a:ln>
        </p:spPr>
      </p:sp>
      <p:sp>
        <p:nvSpPr>
          <p:cNvPr id="36" name="Text 29"/>
          <p:cNvSpPr txBox="1"/>
          <p:nvPr/>
        </p:nvSpPr>
        <p:spPr>
          <a:xfrm>
            <a:off x="777240" y="5833872"/>
            <a:ext cx="10637215" cy="4572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Why one platform.  </a:t>
            </a:r>
            <a:pPr indent="0" marL="0">
              <a:buNone/>
            </a:pPr>
            <a:r>
              <a:rPr lang="en-US" sz="1200" dirty="0">
                <a:solidFill>
                  <a:schemeClr val="tx1"/>
                </a:solidFill>
                <a:latin typeface="Calibri" pitchFamily="34" charset="0"/>
                <a:ea typeface="Calibri" pitchFamily="34" charset="-122"/>
                <a:cs typeface="Calibri" pitchFamily="34" charset="-120"/>
              </a:rPr>
              <a:t>Connectors, events, analyzers, rules and search are shared; each profile switches on different modules, so the State keeps the choice.</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SOLUTION · KEY FEATURES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Key features: from camera to alert to evidence</a:t>
            </a:r>
            <a:endParaRPr lang="en-US" sz="2400" dirty="0"/>
          </a:p>
        </p:txBody>
      </p:sp>
      <p:sp>
        <p:nvSpPr>
          <p:cNvPr id="5" name="Shape 2"/>
          <p:cNvSpPr/>
          <p:nvPr/>
        </p:nvSpPr>
        <p:spPr>
          <a:xfrm>
            <a:off x="548640"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Shape 3"/>
          <p:cNvSpPr/>
          <p:nvPr/>
        </p:nvSpPr>
        <p:spPr>
          <a:xfrm>
            <a:off x="749808"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7" name="Image 0" descr="preencoded.png">    </p:cNvPr>
          <p:cNvPicPr>
            <a:picLocks noChangeAspect="1"/>
          </p:cNvPicPr>
          <p:nvPr/>
        </p:nvPicPr>
        <p:blipFill>
          <a:blip r:embed="rId1"/>
          <a:stretch>
            <a:fillRect/>
          </a:stretch>
        </p:blipFill>
        <p:spPr>
          <a:xfrm>
            <a:off x="854964" y="1888236"/>
            <a:ext cx="210312" cy="210312"/>
          </a:xfrm>
          <a:prstGeom prst="rect">
            <a:avLst/>
          </a:prstGeom>
        </p:spPr>
      </p:pic>
      <p:sp>
        <p:nvSpPr>
          <p:cNvPr id="8" name="Text 4"/>
          <p:cNvSpPr txBox="1"/>
          <p:nvPr/>
        </p:nvSpPr>
        <p:spPr>
          <a:xfrm>
            <a:off x="749808"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Onboarding and registry</a:t>
            </a:r>
            <a:endParaRPr lang="en-US" sz="1300" dirty="0"/>
          </a:p>
        </p:txBody>
      </p:sp>
      <p:sp>
        <p:nvSpPr>
          <p:cNvPr id="9" name="Text 5"/>
          <p:cNvSpPr txBox="1"/>
          <p:nvPr/>
        </p:nvSpPr>
        <p:spPr>
          <a:xfrm>
            <a:off x="749808" y="2651760"/>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ONVIF discovery, Hikvision and Dahua channels, RTSP and HLS; each camera probed first.</a:t>
            </a:r>
            <a:endParaRPr lang="en-US" sz="1250" dirty="0"/>
          </a:p>
        </p:txBody>
      </p:sp>
      <p:sp>
        <p:nvSpPr>
          <p:cNvPr id="10" name="chip BUILT"/>
          <p:cNvSpPr/>
          <p:nvPr/>
        </p:nvSpPr>
        <p:spPr>
          <a:xfrm>
            <a:off x="749808"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11" name="Text 7"/>
          <p:cNvSpPr txBox="1"/>
          <p:nvPr/>
        </p:nvSpPr>
        <p:spPr>
          <a:xfrm>
            <a:off x="749808"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12" name="Shape 8"/>
          <p:cNvSpPr/>
          <p:nvPr/>
        </p:nvSpPr>
        <p:spPr>
          <a:xfrm>
            <a:off x="3379394"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3" name="Shape 9"/>
          <p:cNvSpPr/>
          <p:nvPr/>
        </p:nvSpPr>
        <p:spPr>
          <a:xfrm>
            <a:off x="3580562"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14" name="Image 1" descr="preencoded.png">    </p:cNvPr>
          <p:cNvPicPr>
            <a:picLocks noChangeAspect="1"/>
          </p:cNvPicPr>
          <p:nvPr/>
        </p:nvPicPr>
        <p:blipFill>
          <a:blip r:embed="rId2"/>
          <a:stretch>
            <a:fillRect/>
          </a:stretch>
        </p:blipFill>
        <p:spPr>
          <a:xfrm>
            <a:off x="3685718" y="1888236"/>
            <a:ext cx="210312" cy="210312"/>
          </a:xfrm>
          <a:prstGeom prst="rect">
            <a:avLst/>
          </a:prstGeom>
        </p:spPr>
      </p:pic>
      <p:sp>
        <p:nvSpPr>
          <p:cNvPr id="15" name="Text 10"/>
          <p:cNvSpPr txBox="1"/>
          <p:nvPr/>
        </p:nvSpPr>
        <p:spPr>
          <a:xfrm>
            <a:off x="3580562"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Live wall</a:t>
            </a:r>
            <a:endParaRPr lang="en-US" sz="1300" dirty="0"/>
          </a:p>
        </p:txBody>
      </p:sp>
      <p:sp>
        <p:nvSpPr>
          <p:cNvPr id="16" name="Text 11"/>
          <p:cNvSpPr txBox="1"/>
          <p:nvPr/>
        </p:nvSpPr>
        <p:spPr>
          <a:xfrm>
            <a:off x="3580562" y="2651760"/>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WebRTC and HLS from a media server that pulls each camera once for every viewer.</a:t>
            </a:r>
            <a:endParaRPr lang="en-US" sz="1250" dirty="0"/>
          </a:p>
        </p:txBody>
      </p:sp>
      <p:sp>
        <p:nvSpPr>
          <p:cNvPr id="17" name="chip BUILT"/>
          <p:cNvSpPr/>
          <p:nvPr/>
        </p:nvSpPr>
        <p:spPr>
          <a:xfrm>
            <a:off x="3580562"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18" name="Text 13"/>
          <p:cNvSpPr txBox="1"/>
          <p:nvPr/>
        </p:nvSpPr>
        <p:spPr>
          <a:xfrm>
            <a:off x="3580562"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19" name="Shape 14"/>
          <p:cNvSpPr/>
          <p:nvPr/>
        </p:nvSpPr>
        <p:spPr>
          <a:xfrm>
            <a:off x="6210148"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0" name="Shape 15"/>
          <p:cNvSpPr/>
          <p:nvPr/>
        </p:nvSpPr>
        <p:spPr>
          <a:xfrm>
            <a:off x="6411316"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21" name="Image 2" descr="preencoded.png">    </p:cNvPr>
          <p:cNvPicPr>
            <a:picLocks noChangeAspect="1"/>
          </p:cNvPicPr>
          <p:nvPr/>
        </p:nvPicPr>
        <p:blipFill>
          <a:blip r:embed="rId3"/>
          <a:stretch>
            <a:fillRect/>
          </a:stretch>
        </p:blipFill>
        <p:spPr>
          <a:xfrm>
            <a:off x="6516472" y="1888236"/>
            <a:ext cx="210312" cy="210312"/>
          </a:xfrm>
          <a:prstGeom prst="rect">
            <a:avLst/>
          </a:prstGeom>
        </p:spPr>
      </p:pic>
      <p:sp>
        <p:nvSpPr>
          <p:cNvPr id="22" name="Text 16"/>
          <p:cNvSpPr txBox="1"/>
          <p:nvPr/>
        </p:nvSpPr>
        <p:spPr>
          <a:xfrm>
            <a:off x="6411316"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AI scene analysis</a:t>
            </a:r>
            <a:endParaRPr lang="en-US" sz="1300" dirty="0"/>
          </a:p>
        </p:txBody>
      </p:sp>
      <p:sp>
        <p:nvSpPr>
          <p:cNvPr id="23" name="Text 17"/>
          <p:cNvSpPr txBox="1"/>
          <p:nvPr/>
        </p:nvSpPr>
        <p:spPr>
          <a:xfrm>
            <a:off x="6411316" y="2651760"/>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People, vehicles, brands and unusual activity; model provider is a setting, not code.</a:t>
            </a:r>
            <a:endParaRPr lang="en-US" sz="1250" dirty="0"/>
          </a:p>
        </p:txBody>
      </p:sp>
      <p:sp>
        <p:nvSpPr>
          <p:cNvPr id="24" name="chip BUILT"/>
          <p:cNvSpPr/>
          <p:nvPr/>
        </p:nvSpPr>
        <p:spPr>
          <a:xfrm>
            <a:off x="6411316"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25" name="Text 19"/>
          <p:cNvSpPr txBox="1"/>
          <p:nvPr/>
        </p:nvSpPr>
        <p:spPr>
          <a:xfrm>
            <a:off x="6411316"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26" name="Shape 20"/>
          <p:cNvSpPr/>
          <p:nvPr/>
        </p:nvSpPr>
        <p:spPr>
          <a:xfrm>
            <a:off x="9040901"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7" name="Shape 21"/>
          <p:cNvSpPr/>
          <p:nvPr/>
        </p:nvSpPr>
        <p:spPr>
          <a:xfrm>
            <a:off x="9242069"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28" name="Image 3" descr="preencoded.png">    </p:cNvPr>
          <p:cNvPicPr>
            <a:picLocks noChangeAspect="1"/>
          </p:cNvPicPr>
          <p:nvPr/>
        </p:nvPicPr>
        <p:blipFill>
          <a:blip r:embed="rId4"/>
          <a:stretch>
            <a:fillRect/>
          </a:stretch>
        </p:blipFill>
        <p:spPr>
          <a:xfrm>
            <a:off x="9347225" y="1888236"/>
            <a:ext cx="210312" cy="210312"/>
          </a:xfrm>
          <a:prstGeom prst="rect">
            <a:avLst/>
          </a:prstGeom>
        </p:spPr>
      </p:pic>
      <p:sp>
        <p:nvSpPr>
          <p:cNvPr id="29" name="Text 22"/>
          <p:cNvSpPr txBox="1"/>
          <p:nvPr/>
        </p:nvSpPr>
        <p:spPr>
          <a:xfrm>
            <a:off x="9242069"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ANPR and watchlists</a:t>
            </a:r>
            <a:endParaRPr lang="en-US" sz="1300" dirty="0"/>
          </a:p>
        </p:txBody>
      </p:sp>
      <p:sp>
        <p:nvSpPr>
          <p:cNvPr id="30" name="Text 23"/>
          <p:cNvSpPr txBox="1"/>
          <p:nvPr/>
        </p:nvSpPr>
        <p:spPr>
          <a:xfrm>
            <a:off x="9242069" y="2651760"/>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Dedicated plate detector and OCR, Indian plate format checks, watchlist and wanted-vehicle hits.</a:t>
            </a:r>
            <a:endParaRPr lang="en-US" sz="1250" dirty="0"/>
          </a:p>
        </p:txBody>
      </p:sp>
      <p:sp>
        <p:nvSpPr>
          <p:cNvPr id="31" name="chip BUILT"/>
          <p:cNvSpPr/>
          <p:nvPr/>
        </p:nvSpPr>
        <p:spPr>
          <a:xfrm>
            <a:off x="9242069"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32" name="Text 25"/>
          <p:cNvSpPr txBox="1"/>
          <p:nvPr/>
        </p:nvSpPr>
        <p:spPr>
          <a:xfrm>
            <a:off x="9242069"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33" name="Shape 26"/>
          <p:cNvSpPr/>
          <p:nvPr/>
        </p:nvSpPr>
        <p:spPr>
          <a:xfrm>
            <a:off x="548640"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4" name="Shape 27"/>
          <p:cNvSpPr/>
          <p:nvPr/>
        </p:nvSpPr>
        <p:spPr>
          <a:xfrm>
            <a:off x="749808"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35" name="Image 4" descr="preencoded.png">    </p:cNvPr>
          <p:cNvPicPr>
            <a:picLocks noChangeAspect="1"/>
          </p:cNvPicPr>
          <p:nvPr/>
        </p:nvPicPr>
        <p:blipFill>
          <a:blip r:embed="rId5"/>
          <a:stretch>
            <a:fillRect/>
          </a:stretch>
        </p:blipFill>
        <p:spPr>
          <a:xfrm>
            <a:off x="854964" y="4238244"/>
            <a:ext cx="210312" cy="210312"/>
          </a:xfrm>
          <a:prstGeom prst="rect">
            <a:avLst/>
          </a:prstGeom>
        </p:spPr>
      </p:pic>
      <p:sp>
        <p:nvSpPr>
          <p:cNvPr id="36" name="Text 28"/>
          <p:cNvSpPr txBox="1"/>
          <p:nvPr/>
        </p:nvSpPr>
        <p:spPr>
          <a:xfrm>
            <a:off x="749808"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Vehicle tracking</a:t>
            </a:r>
            <a:endParaRPr lang="en-US" sz="1300" dirty="0"/>
          </a:p>
        </p:txBody>
      </p:sp>
      <p:sp>
        <p:nvSpPr>
          <p:cNvPr id="37" name="Text 29"/>
          <p:cNvSpPr txBox="1"/>
          <p:nvPr/>
        </p:nvSpPr>
        <p:spPr>
          <a:xfrm>
            <a:off x="749808" y="5001768"/>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Search a plate, rebuild its route on a map, flag impossible legs, export CSV.</a:t>
            </a:r>
            <a:endParaRPr lang="en-US" sz="1250" dirty="0"/>
          </a:p>
        </p:txBody>
      </p:sp>
      <p:sp>
        <p:nvSpPr>
          <p:cNvPr id="38" name="chip BUILT"/>
          <p:cNvSpPr/>
          <p:nvPr/>
        </p:nvSpPr>
        <p:spPr>
          <a:xfrm>
            <a:off x="749808" y="5751576"/>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39" name="Text 31"/>
          <p:cNvSpPr txBox="1"/>
          <p:nvPr/>
        </p:nvSpPr>
        <p:spPr>
          <a:xfrm>
            <a:off x="749808" y="5751576"/>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40" name="Shape 32"/>
          <p:cNvSpPr/>
          <p:nvPr/>
        </p:nvSpPr>
        <p:spPr>
          <a:xfrm>
            <a:off x="3379394"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41" name="Shape 33"/>
          <p:cNvSpPr/>
          <p:nvPr/>
        </p:nvSpPr>
        <p:spPr>
          <a:xfrm>
            <a:off x="3580562"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42" name="Image 5" descr="preencoded.png">    </p:cNvPr>
          <p:cNvPicPr>
            <a:picLocks noChangeAspect="1"/>
          </p:cNvPicPr>
          <p:nvPr/>
        </p:nvPicPr>
        <p:blipFill>
          <a:blip r:embed="rId6"/>
          <a:stretch>
            <a:fillRect/>
          </a:stretch>
        </p:blipFill>
        <p:spPr>
          <a:xfrm>
            <a:off x="3685718" y="4238244"/>
            <a:ext cx="210312" cy="210312"/>
          </a:xfrm>
          <a:prstGeom prst="rect">
            <a:avLst/>
          </a:prstGeom>
        </p:spPr>
      </p:pic>
      <p:sp>
        <p:nvSpPr>
          <p:cNvPr id="43" name="Text 34"/>
          <p:cNvSpPr txBox="1"/>
          <p:nvPr/>
        </p:nvSpPr>
        <p:spPr>
          <a:xfrm>
            <a:off x="3580562"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Events, rules, alerts</a:t>
            </a:r>
            <a:endParaRPr lang="en-US" sz="1300" dirty="0"/>
          </a:p>
        </p:txBody>
      </p:sp>
      <p:sp>
        <p:nvSpPr>
          <p:cNvPr id="44" name="Text 35"/>
          <p:cNvSpPr txBox="1"/>
          <p:nvPr/>
        </p:nvSpPr>
        <p:spPr>
          <a:xfrm>
            <a:off x="3580562" y="5001768"/>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Search and tag events; rules by type, camera, department and schedule; signed webhooks.</a:t>
            </a:r>
            <a:endParaRPr lang="en-US" sz="1250" dirty="0"/>
          </a:p>
        </p:txBody>
      </p:sp>
      <p:sp>
        <p:nvSpPr>
          <p:cNvPr id="45" name="chip BUILT"/>
          <p:cNvSpPr/>
          <p:nvPr/>
        </p:nvSpPr>
        <p:spPr>
          <a:xfrm>
            <a:off x="3580562" y="5751576"/>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46" name="Text 37"/>
          <p:cNvSpPr txBox="1"/>
          <p:nvPr/>
        </p:nvSpPr>
        <p:spPr>
          <a:xfrm>
            <a:off x="3580562" y="5751576"/>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47" name="Shape 38"/>
          <p:cNvSpPr/>
          <p:nvPr/>
        </p:nvSpPr>
        <p:spPr>
          <a:xfrm>
            <a:off x="6210148"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48" name="Shape 39"/>
          <p:cNvSpPr/>
          <p:nvPr/>
        </p:nvSpPr>
        <p:spPr>
          <a:xfrm>
            <a:off x="6411316"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49" name="Image 6" descr="preencoded.png">    </p:cNvPr>
          <p:cNvPicPr>
            <a:picLocks noChangeAspect="1"/>
          </p:cNvPicPr>
          <p:nvPr/>
        </p:nvPicPr>
        <p:blipFill>
          <a:blip r:embed="rId7"/>
          <a:stretch>
            <a:fillRect/>
          </a:stretch>
        </p:blipFill>
        <p:spPr>
          <a:xfrm>
            <a:off x="6516472" y="4238244"/>
            <a:ext cx="210312" cy="210312"/>
          </a:xfrm>
          <a:prstGeom prst="rect">
            <a:avLst/>
          </a:prstGeom>
        </p:spPr>
      </p:pic>
      <p:sp>
        <p:nvSpPr>
          <p:cNvPr id="50" name="Text 40"/>
          <p:cNvSpPr txBox="1"/>
          <p:nvPr/>
        </p:nvSpPr>
        <p:spPr>
          <a:xfrm>
            <a:off x="6411316"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Recording and evidence</a:t>
            </a:r>
            <a:endParaRPr lang="en-US" sz="1300" dirty="0"/>
          </a:p>
        </p:txBody>
      </p:sp>
      <p:sp>
        <p:nvSpPr>
          <p:cNvPr id="51" name="Text 41"/>
          <p:cNvSpPr txBox="1"/>
          <p:nvPr/>
        </p:nvSpPr>
        <p:spPr>
          <a:xfrm>
            <a:off x="6411316" y="5001768"/>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Hot, warm and cold tiers, clips without re-encoding, hashed exports with a legal hold.</a:t>
            </a:r>
            <a:endParaRPr lang="en-US" sz="1250" dirty="0"/>
          </a:p>
        </p:txBody>
      </p:sp>
      <p:sp>
        <p:nvSpPr>
          <p:cNvPr id="52" name="chip BUILT · API"/>
          <p:cNvSpPr/>
          <p:nvPr/>
        </p:nvSpPr>
        <p:spPr>
          <a:xfrm>
            <a:off x="6411316" y="5751576"/>
            <a:ext cx="1141171"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53" name="Text 43"/>
          <p:cNvSpPr txBox="1"/>
          <p:nvPr/>
        </p:nvSpPr>
        <p:spPr>
          <a:xfrm>
            <a:off x="6411316" y="5751576"/>
            <a:ext cx="1141171"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 · API</a:t>
            </a:r>
            <a:endParaRPr lang="en-US" sz="1000" dirty="0"/>
          </a:p>
        </p:txBody>
      </p:sp>
      <p:sp>
        <p:nvSpPr>
          <p:cNvPr id="54" name="Shape 44"/>
          <p:cNvSpPr/>
          <p:nvPr/>
        </p:nvSpPr>
        <p:spPr>
          <a:xfrm>
            <a:off x="9040901"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55" name="Shape 45"/>
          <p:cNvSpPr/>
          <p:nvPr/>
        </p:nvSpPr>
        <p:spPr>
          <a:xfrm>
            <a:off x="9242069"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56" name="Image 7" descr="preencoded.png">    </p:cNvPr>
          <p:cNvPicPr>
            <a:picLocks noChangeAspect="1"/>
          </p:cNvPicPr>
          <p:nvPr/>
        </p:nvPicPr>
        <p:blipFill>
          <a:blip r:embed="rId8"/>
          <a:stretch>
            <a:fillRect/>
          </a:stretch>
        </p:blipFill>
        <p:spPr>
          <a:xfrm>
            <a:off x="9347225" y="4238244"/>
            <a:ext cx="210312" cy="210312"/>
          </a:xfrm>
          <a:prstGeom prst="rect">
            <a:avLst/>
          </a:prstGeom>
        </p:spPr>
      </p:pic>
      <p:sp>
        <p:nvSpPr>
          <p:cNvPr id="57" name="Text 46"/>
          <p:cNvSpPr txBox="1"/>
          <p:nvPr/>
        </p:nvSpPr>
        <p:spPr>
          <a:xfrm>
            <a:off x="9242069"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Departments and roles</a:t>
            </a:r>
            <a:endParaRPr lang="en-US" sz="1300" dirty="0"/>
          </a:p>
        </p:txBody>
      </p:sp>
      <p:sp>
        <p:nvSpPr>
          <p:cNvPr id="58" name="Text 47"/>
          <p:cNvSpPr txBox="1"/>
          <p:nvPr/>
        </p:nvSpPr>
        <p:spPr>
          <a:xfrm>
            <a:off x="9242069" y="5001768"/>
            <a:ext cx="2199818"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Viewer, operator and admin roles, department scoping of cameras and events, access log.</a:t>
            </a:r>
            <a:endParaRPr lang="en-US" sz="1250" dirty="0"/>
          </a:p>
        </p:txBody>
      </p:sp>
      <p:sp>
        <p:nvSpPr>
          <p:cNvPr id="59" name="chip BUILT"/>
          <p:cNvSpPr/>
          <p:nvPr/>
        </p:nvSpPr>
        <p:spPr>
          <a:xfrm>
            <a:off x="9242069" y="5751576"/>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60" name="Text 49"/>
          <p:cNvSpPr txBox="1"/>
          <p:nvPr/>
        </p:nvSpPr>
        <p:spPr>
          <a:xfrm>
            <a:off x="9242069" y="5751576"/>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SOLUTION · ARCHITECTURE</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High-level design: five stages from source to screen</a:t>
            </a:r>
            <a:endParaRPr lang="en-US" sz="2400" dirty="0"/>
          </a:p>
        </p:txBody>
      </p:sp>
      <p:sp>
        <p:nvSpPr>
          <p:cNvPr id="5" name="Text 2"/>
          <p:cNvSpPr txBox="1"/>
          <p:nvPr/>
        </p:nvSpPr>
        <p:spPr>
          <a:xfrm>
            <a:off x="548640" y="1572768"/>
            <a:ext cx="1984248" cy="256032"/>
          </a:xfrm>
          <a:prstGeom prst="rect">
            <a:avLst/>
          </a:prstGeom>
          <a:noFill/>
          <a:ln/>
        </p:spPr>
        <p:txBody>
          <a:bodyPr wrap="square" lIns="0" tIns="0" rIns="0" bIns="0" rtlCol="0" anchor="t"/>
          <a:lstStyle/>
          <a:p>
            <a:pPr algn="ctr" indent="0" marL="0">
              <a:buNone/>
            </a:pPr>
            <a:r>
              <a:rPr lang="en-US" sz="1100" b="1" dirty="0">
                <a:solidFill>
                  <a:schemeClr val="accent1"/>
                </a:solidFill>
                <a:latin typeface="Consolas" pitchFamily="34" charset="0"/>
                <a:ea typeface="Consolas" pitchFamily="34" charset="-122"/>
                <a:cs typeface="Consolas" pitchFamily="34" charset="-120"/>
              </a:rPr>
              <a:t>SOURCES</a:t>
            </a:r>
            <a:endParaRPr lang="en-US" sz="1100" dirty="0"/>
          </a:p>
        </p:txBody>
      </p:sp>
      <p:sp>
        <p:nvSpPr>
          <p:cNvPr id="6" name="Shape 3"/>
          <p:cNvSpPr/>
          <p:nvPr/>
        </p:nvSpPr>
        <p:spPr>
          <a:xfrm>
            <a:off x="548640" y="1901952"/>
            <a:ext cx="1984248" cy="603504"/>
          </a:xfrm>
          <a:prstGeom prst="roundRect">
            <a:avLst>
              <a:gd name="adj" fmla="val 15152"/>
            </a:avLst>
          </a:prstGeom>
          <a:solidFill>
            <a:schemeClr val="bg1"/>
          </a:solidFill>
          <a:ln w="9525">
            <a:solidFill>
              <a:schemeClr val="accent6"/>
            </a:solidFill>
            <a:prstDash val="solid"/>
          </a:ln>
        </p:spPr>
      </p:sp>
      <p:sp>
        <p:nvSpPr>
          <p:cNvPr id="7" name="Text 4"/>
          <p:cNvSpPr txBox="1"/>
          <p:nvPr/>
        </p:nvSpPr>
        <p:spPr>
          <a:xfrm>
            <a:off x="640080" y="190195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Cameras: RTSP, ONVIF</a:t>
            </a:r>
            <a:endParaRPr lang="en-US" sz="1250" dirty="0"/>
          </a:p>
        </p:txBody>
      </p:sp>
      <p:sp>
        <p:nvSpPr>
          <p:cNvPr id="8" name="Shape 5"/>
          <p:cNvSpPr/>
          <p:nvPr/>
        </p:nvSpPr>
        <p:spPr>
          <a:xfrm>
            <a:off x="548640" y="2633472"/>
            <a:ext cx="1984248" cy="603504"/>
          </a:xfrm>
          <a:prstGeom prst="roundRect">
            <a:avLst>
              <a:gd name="adj" fmla="val 15152"/>
            </a:avLst>
          </a:prstGeom>
          <a:solidFill>
            <a:schemeClr val="bg1"/>
          </a:solidFill>
          <a:ln w="9525">
            <a:solidFill>
              <a:schemeClr val="accent6"/>
            </a:solidFill>
            <a:prstDash val="solid"/>
          </a:ln>
        </p:spPr>
      </p:sp>
      <p:sp>
        <p:nvSpPr>
          <p:cNvPr id="9" name="Text 6"/>
          <p:cNvSpPr txBox="1"/>
          <p:nvPr/>
        </p:nvSpPr>
        <p:spPr>
          <a:xfrm>
            <a:off x="640080" y="263347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Recorders: Hikvision, Dahua</a:t>
            </a:r>
            <a:endParaRPr lang="en-US" sz="1250" dirty="0"/>
          </a:p>
        </p:txBody>
      </p:sp>
      <p:sp>
        <p:nvSpPr>
          <p:cNvPr id="10" name="Shape 7"/>
          <p:cNvSpPr/>
          <p:nvPr/>
        </p:nvSpPr>
        <p:spPr>
          <a:xfrm>
            <a:off x="548640" y="3364992"/>
            <a:ext cx="1984248" cy="603504"/>
          </a:xfrm>
          <a:prstGeom prst="roundRect">
            <a:avLst>
              <a:gd name="adj" fmla="val 15152"/>
            </a:avLst>
          </a:prstGeom>
          <a:solidFill>
            <a:schemeClr val="bg1"/>
          </a:solidFill>
          <a:ln w="9525">
            <a:solidFill>
              <a:schemeClr val="accent6"/>
            </a:solidFill>
            <a:prstDash val="solid"/>
          </a:ln>
        </p:spPr>
      </p:sp>
      <p:sp>
        <p:nvSpPr>
          <p:cNvPr id="11" name="Text 8"/>
          <p:cNvSpPr txBox="1"/>
          <p:nvPr/>
        </p:nvSpPr>
        <p:spPr>
          <a:xfrm>
            <a:off x="640080" y="336499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Department video systems</a:t>
            </a:r>
            <a:endParaRPr lang="en-US" sz="1250" dirty="0"/>
          </a:p>
        </p:txBody>
      </p:sp>
      <p:sp>
        <p:nvSpPr>
          <p:cNvPr id="12" name="Shape 9"/>
          <p:cNvSpPr/>
          <p:nvPr/>
        </p:nvSpPr>
        <p:spPr>
          <a:xfrm>
            <a:off x="548640" y="4096512"/>
            <a:ext cx="1984248" cy="603504"/>
          </a:xfrm>
          <a:prstGeom prst="roundRect">
            <a:avLst>
              <a:gd name="adj" fmla="val 15152"/>
            </a:avLst>
          </a:prstGeom>
          <a:solidFill>
            <a:schemeClr val="bg1"/>
          </a:solidFill>
          <a:ln w="9525">
            <a:solidFill>
              <a:schemeClr val="accent6"/>
            </a:solidFill>
            <a:prstDash val="solid"/>
          </a:ln>
        </p:spPr>
      </p:sp>
      <p:sp>
        <p:nvSpPr>
          <p:cNvPr id="13" name="Text 10"/>
          <p:cNvSpPr txBox="1"/>
          <p:nvPr/>
        </p:nvSpPr>
        <p:spPr>
          <a:xfrm>
            <a:off x="640080" y="409651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Grid and integrator feeds</a:t>
            </a:r>
            <a:endParaRPr lang="en-US" sz="1250" dirty="0"/>
          </a:p>
        </p:txBody>
      </p:sp>
      <p:sp>
        <p:nvSpPr>
          <p:cNvPr id="14" name="Shape 11"/>
          <p:cNvSpPr/>
          <p:nvPr/>
        </p:nvSpPr>
        <p:spPr>
          <a:xfrm>
            <a:off x="2569464" y="3246120"/>
            <a:ext cx="220142" cy="0"/>
          </a:xfrm>
          <a:prstGeom prst="line">
            <a:avLst/>
          </a:prstGeom>
          <a:noFill/>
          <a:ln w="22225">
            <a:solidFill>
              <a:schemeClr val="accent1"/>
            </a:solidFill>
            <a:prstDash val="solid"/>
            <a:tailEnd type="triangle"/>
          </a:ln>
        </p:spPr>
      </p:sp>
      <p:sp>
        <p:nvSpPr>
          <p:cNvPr id="15" name="Text 12"/>
          <p:cNvSpPr txBox="1"/>
          <p:nvPr/>
        </p:nvSpPr>
        <p:spPr>
          <a:xfrm>
            <a:off x="2826182" y="1572768"/>
            <a:ext cx="1984248" cy="256032"/>
          </a:xfrm>
          <a:prstGeom prst="rect">
            <a:avLst/>
          </a:prstGeom>
          <a:noFill/>
          <a:ln/>
        </p:spPr>
        <p:txBody>
          <a:bodyPr wrap="square" lIns="0" tIns="0" rIns="0" bIns="0" rtlCol="0" anchor="t"/>
          <a:lstStyle/>
          <a:p>
            <a:pPr algn="ctr" indent="0" marL="0">
              <a:buNone/>
            </a:pPr>
            <a:r>
              <a:rPr lang="en-US" sz="1100" b="1" dirty="0">
                <a:solidFill>
                  <a:schemeClr val="accent1"/>
                </a:solidFill>
                <a:latin typeface="Consolas" pitchFamily="34" charset="0"/>
                <a:ea typeface="Consolas" pitchFamily="34" charset="-122"/>
                <a:cs typeface="Consolas" pitchFamily="34" charset="-120"/>
              </a:rPr>
              <a:t>INGEST</a:t>
            </a:r>
            <a:endParaRPr lang="en-US" sz="1100" dirty="0"/>
          </a:p>
        </p:txBody>
      </p:sp>
      <p:sp>
        <p:nvSpPr>
          <p:cNvPr id="16" name="Shape 13"/>
          <p:cNvSpPr/>
          <p:nvPr/>
        </p:nvSpPr>
        <p:spPr>
          <a:xfrm>
            <a:off x="2826182" y="1901952"/>
            <a:ext cx="1984248" cy="603504"/>
          </a:xfrm>
          <a:prstGeom prst="roundRect">
            <a:avLst>
              <a:gd name="adj" fmla="val 15152"/>
            </a:avLst>
          </a:prstGeom>
          <a:solidFill>
            <a:schemeClr val="bg1"/>
          </a:solidFill>
          <a:ln w="9525">
            <a:solidFill>
              <a:schemeClr val="accent6"/>
            </a:solidFill>
            <a:prstDash val="solid"/>
          </a:ln>
        </p:spPr>
      </p:sp>
      <p:sp>
        <p:nvSpPr>
          <p:cNvPr id="17" name="Text 14"/>
          <p:cNvSpPr txBox="1"/>
          <p:nvPr/>
        </p:nvSpPr>
        <p:spPr>
          <a:xfrm>
            <a:off x="2917622" y="190195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Source adapters and probe</a:t>
            </a:r>
            <a:endParaRPr lang="en-US" sz="1250" dirty="0"/>
          </a:p>
        </p:txBody>
      </p:sp>
      <p:sp>
        <p:nvSpPr>
          <p:cNvPr id="18" name="Shape 15"/>
          <p:cNvSpPr/>
          <p:nvPr/>
        </p:nvSpPr>
        <p:spPr>
          <a:xfrm>
            <a:off x="2826182" y="2633472"/>
            <a:ext cx="1984248" cy="603504"/>
          </a:xfrm>
          <a:prstGeom prst="roundRect">
            <a:avLst>
              <a:gd name="adj" fmla="val 15152"/>
            </a:avLst>
          </a:prstGeom>
          <a:solidFill>
            <a:schemeClr val="bg1"/>
          </a:solidFill>
          <a:ln w="9525">
            <a:solidFill>
              <a:schemeClr val="accent6"/>
            </a:solidFill>
            <a:prstDash val="solid"/>
          </a:ln>
        </p:spPr>
      </p:sp>
      <p:sp>
        <p:nvSpPr>
          <p:cNvPr id="19" name="Text 16"/>
          <p:cNvSpPr txBox="1"/>
          <p:nvPr/>
        </p:nvSpPr>
        <p:spPr>
          <a:xfrm>
            <a:off x="2917622" y="263347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Media server: WebRTC, HLS</a:t>
            </a:r>
            <a:endParaRPr lang="en-US" sz="1250" dirty="0"/>
          </a:p>
        </p:txBody>
      </p:sp>
      <p:sp>
        <p:nvSpPr>
          <p:cNvPr id="20" name="Shape 17"/>
          <p:cNvSpPr/>
          <p:nvPr/>
        </p:nvSpPr>
        <p:spPr>
          <a:xfrm>
            <a:off x="2826182" y="3364992"/>
            <a:ext cx="1984248" cy="603504"/>
          </a:xfrm>
          <a:prstGeom prst="roundRect">
            <a:avLst>
              <a:gd name="adj" fmla="val 15152"/>
            </a:avLst>
          </a:prstGeom>
          <a:solidFill>
            <a:schemeClr val="bg1"/>
          </a:solidFill>
          <a:ln w="9525">
            <a:solidFill>
              <a:schemeClr val="accent6"/>
            </a:solidFill>
            <a:prstDash val="solid"/>
          </a:ln>
        </p:spPr>
      </p:sp>
      <p:sp>
        <p:nvSpPr>
          <p:cNvPr id="21" name="Text 18"/>
          <p:cNvSpPr txBox="1"/>
          <p:nvPr/>
        </p:nvSpPr>
        <p:spPr>
          <a:xfrm>
            <a:off x="2917622" y="336499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Regional gateways at the edge</a:t>
            </a:r>
            <a:endParaRPr lang="en-US" sz="1250" dirty="0"/>
          </a:p>
        </p:txBody>
      </p:sp>
      <p:sp>
        <p:nvSpPr>
          <p:cNvPr id="22" name="Shape 19"/>
          <p:cNvSpPr/>
          <p:nvPr/>
        </p:nvSpPr>
        <p:spPr>
          <a:xfrm>
            <a:off x="2826182" y="4096512"/>
            <a:ext cx="1984248" cy="603504"/>
          </a:xfrm>
          <a:prstGeom prst="roundRect">
            <a:avLst>
              <a:gd name="adj" fmla="val 15152"/>
            </a:avLst>
          </a:prstGeom>
          <a:solidFill>
            <a:schemeClr val="bg1"/>
          </a:solidFill>
          <a:ln w="9525">
            <a:solidFill>
              <a:schemeClr val="accent6"/>
            </a:solidFill>
            <a:prstDash val="solid"/>
          </a:ln>
        </p:spPr>
      </p:sp>
      <p:sp>
        <p:nvSpPr>
          <p:cNvPr id="23" name="Text 20"/>
          <p:cNvSpPr txBox="1"/>
          <p:nvPr/>
        </p:nvSpPr>
        <p:spPr>
          <a:xfrm>
            <a:off x="2917622" y="409651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Recorder: hot, warm, cold</a:t>
            </a:r>
            <a:endParaRPr lang="en-US" sz="1250" dirty="0"/>
          </a:p>
        </p:txBody>
      </p:sp>
      <p:sp>
        <p:nvSpPr>
          <p:cNvPr id="24" name="Shape 21"/>
          <p:cNvSpPr/>
          <p:nvPr/>
        </p:nvSpPr>
        <p:spPr>
          <a:xfrm>
            <a:off x="4847006" y="3246120"/>
            <a:ext cx="220142" cy="0"/>
          </a:xfrm>
          <a:prstGeom prst="line">
            <a:avLst/>
          </a:prstGeom>
          <a:noFill/>
          <a:ln w="22225">
            <a:solidFill>
              <a:schemeClr val="accent1"/>
            </a:solidFill>
            <a:prstDash val="solid"/>
            <a:tailEnd type="triangle"/>
          </a:ln>
        </p:spPr>
      </p:sp>
      <p:sp>
        <p:nvSpPr>
          <p:cNvPr id="25" name="Text 22"/>
          <p:cNvSpPr txBox="1"/>
          <p:nvPr/>
        </p:nvSpPr>
        <p:spPr>
          <a:xfrm>
            <a:off x="5103724" y="1572768"/>
            <a:ext cx="1984248" cy="256032"/>
          </a:xfrm>
          <a:prstGeom prst="rect">
            <a:avLst/>
          </a:prstGeom>
          <a:noFill/>
          <a:ln/>
        </p:spPr>
        <p:txBody>
          <a:bodyPr wrap="square" lIns="0" tIns="0" rIns="0" bIns="0" rtlCol="0" anchor="t"/>
          <a:lstStyle/>
          <a:p>
            <a:pPr algn="ctr" indent="0" marL="0">
              <a:buNone/>
            </a:pPr>
            <a:r>
              <a:rPr lang="en-US" sz="1100" b="1" dirty="0">
                <a:solidFill>
                  <a:schemeClr val="accent1"/>
                </a:solidFill>
                <a:latin typeface="Consolas" pitchFamily="34" charset="0"/>
                <a:ea typeface="Consolas" pitchFamily="34" charset="-122"/>
                <a:cs typeface="Consolas" pitchFamily="34" charset="-120"/>
              </a:rPr>
              <a:t>ANALYSIS</a:t>
            </a:r>
            <a:endParaRPr lang="en-US" sz="1100" dirty="0"/>
          </a:p>
        </p:txBody>
      </p:sp>
      <p:sp>
        <p:nvSpPr>
          <p:cNvPr id="26" name="Shape 23"/>
          <p:cNvSpPr/>
          <p:nvPr/>
        </p:nvSpPr>
        <p:spPr>
          <a:xfrm>
            <a:off x="5103724" y="1901952"/>
            <a:ext cx="1984248" cy="603504"/>
          </a:xfrm>
          <a:prstGeom prst="roundRect">
            <a:avLst>
              <a:gd name="adj" fmla="val 15152"/>
            </a:avLst>
          </a:prstGeom>
          <a:solidFill>
            <a:schemeClr val="bg1"/>
          </a:solidFill>
          <a:ln w="9525">
            <a:solidFill>
              <a:schemeClr val="accent6"/>
            </a:solidFill>
            <a:prstDash val="solid"/>
          </a:ln>
        </p:spPr>
      </p:sp>
      <p:sp>
        <p:nvSpPr>
          <p:cNvPr id="27" name="Text 24"/>
          <p:cNvSpPr txBox="1"/>
          <p:nvPr/>
        </p:nvSpPr>
        <p:spPr>
          <a:xfrm>
            <a:off x="5195164" y="190195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Frame gate</a:t>
            </a:r>
            <a:endParaRPr lang="en-US" sz="1250" dirty="0"/>
          </a:p>
        </p:txBody>
      </p:sp>
      <p:sp>
        <p:nvSpPr>
          <p:cNvPr id="28" name="Shape 25"/>
          <p:cNvSpPr/>
          <p:nvPr/>
        </p:nvSpPr>
        <p:spPr>
          <a:xfrm>
            <a:off x="5103724" y="2633472"/>
            <a:ext cx="1984248" cy="603504"/>
          </a:xfrm>
          <a:prstGeom prst="roundRect">
            <a:avLst>
              <a:gd name="adj" fmla="val 15152"/>
            </a:avLst>
          </a:prstGeom>
          <a:solidFill>
            <a:schemeClr val="bg1"/>
          </a:solidFill>
          <a:ln w="9525">
            <a:solidFill>
              <a:schemeClr val="accent6"/>
            </a:solidFill>
            <a:prstDash val="solid"/>
          </a:ln>
        </p:spPr>
      </p:sp>
      <p:sp>
        <p:nvSpPr>
          <p:cNvPr id="29" name="Text 26"/>
          <p:cNvSpPr txBox="1"/>
          <p:nvPr/>
        </p:nvSpPr>
        <p:spPr>
          <a:xfrm>
            <a:off x="5195164" y="263347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Scene model, pluggable</a:t>
            </a:r>
            <a:endParaRPr lang="en-US" sz="1250" dirty="0"/>
          </a:p>
        </p:txBody>
      </p:sp>
      <p:sp>
        <p:nvSpPr>
          <p:cNvPr id="30" name="Shape 27"/>
          <p:cNvSpPr/>
          <p:nvPr/>
        </p:nvSpPr>
        <p:spPr>
          <a:xfrm>
            <a:off x="5103724" y="3364992"/>
            <a:ext cx="1984248" cy="603504"/>
          </a:xfrm>
          <a:prstGeom prst="roundRect">
            <a:avLst>
              <a:gd name="adj" fmla="val 15152"/>
            </a:avLst>
          </a:prstGeom>
          <a:solidFill>
            <a:schemeClr val="bg1"/>
          </a:solidFill>
          <a:ln w="9525">
            <a:solidFill>
              <a:schemeClr val="accent6"/>
            </a:solidFill>
            <a:prstDash val="solid"/>
          </a:ln>
        </p:spPr>
      </p:sp>
      <p:sp>
        <p:nvSpPr>
          <p:cNvPr id="31" name="Text 28"/>
          <p:cNvSpPr txBox="1"/>
          <p:nvPr/>
        </p:nvSpPr>
        <p:spPr>
          <a:xfrm>
            <a:off x="5195164" y="336499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ANPR service on GPU</a:t>
            </a:r>
            <a:endParaRPr lang="en-US" sz="1250" dirty="0"/>
          </a:p>
        </p:txBody>
      </p:sp>
      <p:sp>
        <p:nvSpPr>
          <p:cNvPr id="32" name="Shape 29"/>
          <p:cNvSpPr/>
          <p:nvPr/>
        </p:nvSpPr>
        <p:spPr>
          <a:xfrm>
            <a:off x="5103724" y="4096512"/>
            <a:ext cx="1984248" cy="603504"/>
          </a:xfrm>
          <a:prstGeom prst="roundRect">
            <a:avLst>
              <a:gd name="adj" fmla="val 15152"/>
            </a:avLst>
          </a:prstGeom>
          <a:solidFill>
            <a:schemeClr val="bg1"/>
          </a:solidFill>
          <a:ln w="9525">
            <a:solidFill>
              <a:schemeClr val="accent6"/>
            </a:solidFill>
            <a:prstDash val="solid"/>
          </a:ln>
        </p:spPr>
      </p:sp>
      <p:sp>
        <p:nvSpPr>
          <p:cNvPr id="33" name="Text 30"/>
          <p:cNvSpPr txBox="1"/>
          <p:nvPr/>
        </p:nvSpPr>
        <p:spPr>
          <a:xfrm>
            <a:off x="5195164" y="409651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Local detector and tamper</a:t>
            </a:r>
            <a:endParaRPr lang="en-US" sz="1250" dirty="0"/>
          </a:p>
        </p:txBody>
      </p:sp>
      <p:sp>
        <p:nvSpPr>
          <p:cNvPr id="34" name="Shape 31"/>
          <p:cNvSpPr/>
          <p:nvPr/>
        </p:nvSpPr>
        <p:spPr>
          <a:xfrm>
            <a:off x="7124548" y="3246120"/>
            <a:ext cx="220142" cy="0"/>
          </a:xfrm>
          <a:prstGeom prst="line">
            <a:avLst/>
          </a:prstGeom>
          <a:noFill/>
          <a:ln w="22225">
            <a:solidFill>
              <a:schemeClr val="accent1"/>
            </a:solidFill>
            <a:prstDash val="solid"/>
            <a:tailEnd type="triangle"/>
          </a:ln>
        </p:spPr>
      </p:sp>
      <p:sp>
        <p:nvSpPr>
          <p:cNvPr id="35" name="Text 32"/>
          <p:cNvSpPr txBox="1"/>
          <p:nvPr/>
        </p:nvSpPr>
        <p:spPr>
          <a:xfrm>
            <a:off x="7381265" y="1572768"/>
            <a:ext cx="1984248" cy="256032"/>
          </a:xfrm>
          <a:prstGeom prst="rect">
            <a:avLst/>
          </a:prstGeom>
          <a:noFill/>
          <a:ln/>
        </p:spPr>
        <p:txBody>
          <a:bodyPr wrap="square" lIns="0" tIns="0" rIns="0" bIns="0" rtlCol="0" anchor="t"/>
          <a:lstStyle/>
          <a:p>
            <a:pPr algn="ctr" indent="0" marL="0">
              <a:buNone/>
            </a:pPr>
            <a:r>
              <a:rPr lang="en-US" sz="1100" b="1" dirty="0">
                <a:solidFill>
                  <a:schemeClr val="accent1"/>
                </a:solidFill>
                <a:latin typeface="Consolas" pitchFamily="34" charset="0"/>
                <a:ea typeface="Consolas" pitchFamily="34" charset="-122"/>
                <a:cs typeface="Consolas" pitchFamily="34" charset="-120"/>
              </a:rPr>
              <a:t>EVENTS</a:t>
            </a:r>
            <a:endParaRPr lang="en-US" sz="1100" dirty="0"/>
          </a:p>
        </p:txBody>
      </p:sp>
      <p:sp>
        <p:nvSpPr>
          <p:cNvPr id="36" name="Shape 33"/>
          <p:cNvSpPr/>
          <p:nvPr/>
        </p:nvSpPr>
        <p:spPr>
          <a:xfrm>
            <a:off x="7381265" y="1901952"/>
            <a:ext cx="1984248" cy="603504"/>
          </a:xfrm>
          <a:prstGeom prst="roundRect">
            <a:avLst>
              <a:gd name="adj" fmla="val 15152"/>
            </a:avLst>
          </a:prstGeom>
          <a:solidFill>
            <a:schemeClr val="bg1"/>
          </a:solidFill>
          <a:ln w="9525">
            <a:solidFill>
              <a:schemeClr val="accent6"/>
            </a:solidFill>
            <a:prstDash val="solid"/>
          </a:ln>
        </p:spPr>
      </p:sp>
      <p:sp>
        <p:nvSpPr>
          <p:cNvPr id="37" name="Text 34"/>
          <p:cNvSpPr txBox="1"/>
          <p:nvPr/>
        </p:nvSpPr>
        <p:spPr>
          <a:xfrm>
            <a:off x="7472705" y="190195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Event bus</a:t>
            </a:r>
            <a:endParaRPr lang="en-US" sz="1250" dirty="0"/>
          </a:p>
        </p:txBody>
      </p:sp>
      <p:sp>
        <p:nvSpPr>
          <p:cNvPr id="38" name="Shape 35"/>
          <p:cNvSpPr/>
          <p:nvPr/>
        </p:nvSpPr>
        <p:spPr>
          <a:xfrm>
            <a:off x="7381265" y="2633472"/>
            <a:ext cx="1984248" cy="603504"/>
          </a:xfrm>
          <a:prstGeom prst="roundRect">
            <a:avLst>
              <a:gd name="adj" fmla="val 15152"/>
            </a:avLst>
          </a:prstGeom>
          <a:solidFill>
            <a:schemeClr val="bg1"/>
          </a:solidFill>
          <a:ln w="9525">
            <a:solidFill>
              <a:schemeClr val="accent6"/>
            </a:solidFill>
            <a:prstDash val="solid"/>
          </a:ln>
        </p:spPr>
      </p:sp>
      <p:sp>
        <p:nvSpPr>
          <p:cNvPr id="39" name="Text 36"/>
          <p:cNvSpPr txBox="1"/>
          <p:nvPr/>
        </p:nvSpPr>
        <p:spPr>
          <a:xfrm>
            <a:off x="7472705" y="263347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Event store: Postgres</a:t>
            </a:r>
            <a:endParaRPr lang="en-US" sz="1250" dirty="0"/>
          </a:p>
        </p:txBody>
      </p:sp>
      <p:sp>
        <p:nvSpPr>
          <p:cNvPr id="40" name="Shape 37"/>
          <p:cNvSpPr/>
          <p:nvPr/>
        </p:nvSpPr>
        <p:spPr>
          <a:xfrm>
            <a:off x="7381265" y="3364992"/>
            <a:ext cx="1984248" cy="603504"/>
          </a:xfrm>
          <a:prstGeom prst="roundRect">
            <a:avLst>
              <a:gd name="adj" fmla="val 15152"/>
            </a:avLst>
          </a:prstGeom>
          <a:solidFill>
            <a:schemeClr val="bg1"/>
          </a:solidFill>
          <a:ln w="9525">
            <a:solidFill>
              <a:schemeClr val="accent6"/>
            </a:solidFill>
            <a:prstDash val="solid"/>
          </a:ln>
        </p:spPr>
      </p:sp>
      <p:sp>
        <p:nvSpPr>
          <p:cNvPr id="41" name="Text 38"/>
          <p:cNvSpPr txBox="1"/>
          <p:nvPr/>
        </p:nvSpPr>
        <p:spPr>
          <a:xfrm>
            <a:off x="7472705" y="336499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Rules and alert engine</a:t>
            </a:r>
            <a:endParaRPr lang="en-US" sz="1250" dirty="0"/>
          </a:p>
        </p:txBody>
      </p:sp>
      <p:sp>
        <p:nvSpPr>
          <p:cNvPr id="42" name="Shape 39"/>
          <p:cNvSpPr/>
          <p:nvPr/>
        </p:nvSpPr>
        <p:spPr>
          <a:xfrm>
            <a:off x="7381265" y="4096512"/>
            <a:ext cx="1984248" cy="603504"/>
          </a:xfrm>
          <a:prstGeom prst="roundRect">
            <a:avLst>
              <a:gd name="adj" fmla="val 15152"/>
            </a:avLst>
          </a:prstGeom>
          <a:solidFill>
            <a:schemeClr val="bg1"/>
          </a:solidFill>
          <a:ln w="9525">
            <a:solidFill>
              <a:schemeClr val="accent6"/>
            </a:solidFill>
            <a:prstDash val="solid"/>
          </a:ln>
        </p:spPr>
      </p:sp>
      <p:sp>
        <p:nvSpPr>
          <p:cNvPr id="43" name="Text 40"/>
          <p:cNvSpPr txBox="1"/>
          <p:nvPr/>
        </p:nvSpPr>
        <p:spPr>
          <a:xfrm>
            <a:off x="7472705" y="409651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Webhook and log channels</a:t>
            </a:r>
            <a:endParaRPr lang="en-US" sz="1250" dirty="0"/>
          </a:p>
        </p:txBody>
      </p:sp>
      <p:sp>
        <p:nvSpPr>
          <p:cNvPr id="44" name="Shape 41"/>
          <p:cNvSpPr/>
          <p:nvPr/>
        </p:nvSpPr>
        <p:spPr>
          <a:xfrm>
            <a:off x="9402089" y="3246120"/>
            <a:ext cx="220142" cy="0"/>
          </a:xfrm>
          <a:prstGeom prst="line">
            <a:avLst/>
          </a:prstGeom>
          <a:noFill/>
          <a:ln w="22225">
            <a:solidFill>
              <a:schemeClr val="accent1"/>
            </a:solidFill>
            <a:prstDash val="solid"/>
            <a:tailEnd type="triangle"/>
          </a:ln>
        </p:spPr>
      </p:sp>
      <p:sp>
        <p:nvSpPr>
          <p:cNvPr id="45" name="Text 42"/>
          <p:cNvSpPr txBox="1"/>
          <p:nvPr/>
        </p:nvSpPr>
        <p:spPr>
          <a:xfrm>
            <a:off x="9658807" y="1572768"/>
            <a:ext cx="1984248" cy="256032"/>
          </a:xfrm>
          <a:prstGeom prst="rect">
            <a:avLst/>
          </a:prstGeom>
          <a:noFill/>
          <a:ln/>
        </p:spPr>
        <p:txBody>
          <a:bodyPr wrap="square" lIns="0" tIns="0" rIns="0" bIns="0" rtlCol="0" anchor="t"/>
          <a:lstStyle/>
          <a:p>
            <a:pPr algn="ctr" indent="0" marL="0">
              <a:buNone/>
            </a:pPr>
            <a:r>
              <a:rPr lang="en-US" sz="1100" b="1" dirty="0">
                <a:solidFill>
                  <a:schemeClr val="accent1"/>
                </a:solidFill>
                <a:latin typeface="Consolas" pitchFamily="34" charset="0"/>
                <a:ea typeface="Consolas" pitchFamily="34" charset="-122"/>
                <a:cs typeface="Consolas" pitchFamily="34" charset="-120"/>
              </a:rPr>
              <a:t>EXPERIENCE</a:t>
            </a:r>
            <a:endParaRPr lang="en-US" sz="1100" dirty="0"/>
          </a:p>
        </p:txBody>
      </p:sp>
      <p:sp>
        <p:nvSpPr>
          <p:cNvPr id="46" name="Shape 43"/>
          <p:cNvSpPr/>
          <p:nvPr/>
        </p:nvSpPr>
        <p:spPr>
          <a:xfrm>
            <a:off x="9658807" y="1901952"/>
            <a:ext cx="1984248" cy="603504"/>
          </a:xfrm>
          <a:prstGeom prst="roundRect">
            <a:avLst>
              <a:gd name="adj" fmla="val 15152"/>
            </a:avLst>
          </a:prstGeom>
          <a:solidFill>
            <a:schemeClr val="bg1"/>
          </a:solidFill>
          <a:ln w="9525">
            <a:solidFill>
              <a:schemeClr val="accent6"/>
            </a:solidFill>
            <a:prstDash val="solid"/>
          </a:ln>
        </p:spPr>
      </p:sp>
      <p:sp>
        <p:nvSpPr>
          <p:cNvPr id="47" name="Text 44"/>
          <p:cNvSpPr txBox="1"/>
          <p:nvPr/>
        </p:nvSpPr>
        <p:spPr>
          <a:xfrm>
            <a:off x="9750247" y="190195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Live wall and map</a:t>
            </a:r>
            <a:endParaRPr lang="en-US" sz="1250" dirty="0"/>
          </a:p>
        </p:txBody>
      </p:sp>
      <p:sp>
        <p:nvSpPr>
          <p:cNvPr id="48" name="Shape 45"/>
          <p:cNvSpPr/>
          <p:nvPr/>
        </p:nvSpPr>
        <p:spPr>
          <a:xfrm>
            <a:off x="9658807" y="2633472"/>
            <a:ext cx="1984248" cy="603504"/>
          </a:xfrm>
          <a:prstGeom prst="roundRect">
            <a:avLst>
              <a:gd name="adj" fmla="val 15152"/>
            </a:avLst>
          </a:prstGeom>
          <a:solidFill>
            <a:schemeClr val="bg1"/>
          </a:solidFill>
          <a:ln w="9525">
            <a:solidFill>
              <a:schemeClr val="accent6"/>
            </a:solidFill>
            <a:prstDash val="solid"/>
          </a:ln>
        </p:spPr>
      </p:sp>
      <p:sp>
        <p:nvSpPr>
          <p:cNvPr id="49" name="Text 46"/>
          <p:cNvSpPr txBox="1"/>
          <p:nvPr/>
        </p:nvSpPr>
        <p:spPr>
          <a:xfrm>
            <a:off x="9750247" y="263347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Events, alerts, rules</a:t>
            </a:r>
            <a:endParaRPr lang="en-US" sz="1250" dirty="0"/>
          </a:p>
        </p:txBody>
      </p:sp>
      <p:sp>
        <p:nvSpPr>
          <p:cNvPr id="50" name="Shape 47"/>
          <p:cNvSpPr/>
          <p:nvPr/>
        </p:nvSpPr>
        <p:spPr>
          <a:xfrm>
            <a:off x="9658807" y="3364992"/>
            <a:ext cx="1984248" cy="603504"/>
          </a:xfrm>
          <a:prstGeom prst="roundRect">
            <a:avLst>
              <a:gd name="adj" fmla="val 15152"/>
            </a:avLst>
          </a:prstGeom>
          <a:solidFill>
            <a:schemeClr val="bg1"/>
          </a:solidFill>
          <a:ln w="9525">
            <a:solidFill>
              <a:schemeClr val="accent6"/>
            </a:solidFill>
            <a:prstDash val="solid"/>
          </a:ln>
        </p:spPr>
      </p:sp>
      <p:sp>
        <p:nvSpPr>
          <p:cNvPr id="51" name="Text 48"/>
          <p:cNvSpPr txBox="1"/>
          <p:nvPr/>
        </p:nvSpPr>
        <p:spPr>
          <a:xfrm>
            <a:off x="9750247" y="336499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Vehicle tracking, routes</a:t>
            </a:r>
            <a:endParaRPr lang="en-US" sz="1250" dirty="0"/>
          </a:p>
        </p:txBody>
      </p:sp>
      <p:sp>
        <p:nvSpPr>
          <p:cNvPr id="52" name="Shape 49"/>
          <p:cNvSpPr/>
          <p:nvPr/>
        </p:nvSpPr>
        <p:spPr>
          <a:xfrm>
            <a:off x="9658807" y="4096512"/>
            <a:ext cx="1984248" cy="603504"/>
          </a:xfrm>
          <a:prstGeom prst="roundRect">
            <a:avLst>
              <a:gd name="adj" fmla="val 15152"/>
            </a:avLst>
          </a:prstGeom>
          <a:solidFill>
            <a:schemeClr val="bg1"/>
          </a:solidFill>
          <a:ln w="9525">
            <a:solidFill>
              <a:schemeClr val="accent6"/>
            </a:solidFill>
            <a:prstDash val="solid"/>
          </a:ln>
        </p:spPr>
      </p:sp>
      <p:sp>
        <p:nvSpPr>
          <p:cNvPr id="53" name="Text 50"/>
          <p:cNvSpPr txBox="1"/>
          <p:nvPr/>
        </p:nvSpPr>
        <p:spPr>
          <a:xfrm>
            <a:off x="9750247" y="4096512"/>
            <a:ext cx="1801368" cy="603504"/>
          </a:xfrm>
          <a:prstGeom prst="rect">
            <a:avLst/>
          </a:prstGeom>
          <a:noFill/>
          <a:ln/>
        </p:spPr>
        <p:txBody>
          <a:bodyPr wrap="square" lIns="0" tIns="0" rIns="0" bIns="0" rtlCol="0" anchor="ctr"/>
          <a:lstStyle/>
          <a:p>
            <a:pPr algn="ctr" indent="0" marL="0">
              <a:buNone/>
            </a:pPr>
            <a:r>
              <a:rPr lang="en-US" sz="1250" dirty="0">
                <a:solidFill>
                  <a:schemeClr val="tx1"/>
                </a:solidFill>
                <a:latin typeface="Calibri" pitchFamily="34" charset="0"/>
                <a:ea typeface="Calibri" pitchFamily="34" charset="-122"/>
                <a:cs typeface="Calibri" pitchFamily="34" charset="-120"/>
              </a:rPr>
              <a:t>Analytics, exports, API</a:t>
            </a:r>
            <a:endParaRPr lang="en-US" sz="1250" dirty="0"/>
          </a:p>
        </p:txBody>
      </p:sp>
      <p:sp>
        <p:nvSpPr>
          <p:cNvPr id="54" name="Text 51"/>
          <p:cNvSpPr txBox="1"/>
          <p:nvPr/>
        </p:nvSpPr>
        <p:spPr>
          <a:xfrm>
            <a:off x="548640" y="4919472"/>
            <a:ext cx="11094415" cy="256032"/>
          </a:xfrm>
          <a:prstGeom prst="rect">
            <a:avLst/>
          </a:prstGeom>
          <a:noFill/>
          <a:ln/>
        </p:spPr>
        <p:txBody>
          <a:bodyPr wrap="square" lIns="0" tIns="0" rIns="0" bIns="0" rtlCol="0" anchor="t"/>
          <a:lstStyle/>
          <a:p>
            <a:pPr indent="0" marL="0">
              <a:buNone/>
            </a:pPr>
            <a:r>
              <a:rPr lang="en-US" sz="1100" b="1" dirty="0">
                <a:solidFill>
                  <a:schemeClr val="tx2"/>
                </a:solidFill>
                <a:latin typeface="Consolas" pitchFamily="34" charset="0"/>
                <a:ea typeface="Consolas" pitchFamily="34" charset="-122"/>
                <a:cs typeface="Consolas" pitchFamily="34" charset="-120"/>
              </a:rPr>
              <a:t>APPLIES TO EVERY STAGE</a:t>
            </a:r>
            <a:endParaRPr lang="en-US" sz="1100" dirty="0"/>
          </a:p>
        </p:txBody>
      </p:sp>
      <p:sp>
        <p:nvSpPr>
          <p:cNvPr id="55" name="Shape 52"/>
          <p:cNvSpPr/>
          <p:nvPr/>
        </p:nvSpPr>
        <p:spPr>
          <a:xfrm>
            <a:off x="548640" y="5212080"/>
            <a:ext cx="2636444" cy="502920"/>
          </a:xfrm>
          <a:prstGeom prst="roundRect">
            <a:avLst>
              <a:gd name="adj" fmla="val 18182"/>
            </a:avLst>
          </a:prstGeom>
          <a:solidFill>
            <a:schemeClr val="accent1">
              <a:alpha val="8000"/>
            </a:schemeClr>
          </a:solidFill>
          <a:ln w="6350">
            <a:solidFill>
              <a:schemeClr val="accent1">
                <a:alpha val="25000"/>
              </a:schemeClr>
            </a:solidFill>
            <a:prstDash val="solid"/>
          </a:ln>
        </p:spPr>
      </p:sp>
      <p:sp>
        <p:nvSpPr>
          <p:cNvPr id="56" name="Text 53"/>
          <p:cNvSpPr txBox="1"/>
          <p:nvPr/>
        </p:nvSpPr>
        <p:spPr>
          <a:xfrm>
            <a:off x="640080" y="5212080"/>
            <a:ext cx="2453564" cy="50292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Identity and roles</a:t>
            </a:r>
            <a:endParaRPr lang="en-US" sz="1200" dirty="0"/>
          </a:p>
        </p:txBody>
      </p:sp>
      <p:sp>
        <p:nvSpPr>
          <p:cNvPr id="57" name="Shape 54"/>
          <p:cNvSpPr/>
          <p:nvPr/>
        </p:nvSpPr>
        <p:spPr>
          <a:xfrm>
            <a:off x="3367964" y="5212080"/>
            <a:ext cx="2636444" cy="502920"/>
          </a:xfrm>
          <a:prstGeom prst="roundRect">
            <a:avLst>
              <a:gd name="adj" fmla="val 18182"/>
            </a:avLst>
          </a:prstGeom>
          <a:solidFill>
            <a:schemeClr val="accent1">
              <a:alpha val="8000"/>
            </a:schemeClr>
          </a:solidFill>
          <a:ln w="6350">
            <a:solidFill>
              <a:schemeClr val="accent1">
                <a:alpha val="25000"/>
              </a:schemeClr>
            </a:solidFill>
            <a:prstDash val="solid"/>
          </a:ln>
        </p:spPr>
      </p:sp>
      <p:sp>
        <p:nvSpPr>
          <p:cNvPr id="58" name="Text 55"/>
          <p:cNvSpPr txBox="1"/>
          <p:nvPr/>
        </p:nvSpPr>
        <p:spPr>
          <a:xfrm>
            <a:off x="3459404" y="5212080"/>
            <a:ext cx="2453564" cy="50292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Department scoping</a:t>
            </a:r>
            <a:endParaRPr lang="en-US" sz="1200" dirty="0"/>
          </a:p>
        </p:txBody>
      </p:sp>
      <p:sp>
        <p:nvSpPr>
          <p:cNvPr id="59" name="Shape 56"/>
          <p:cNvSpPr/>
          <p:nvPr/>
        </p:nvSpPr>
        <p:spPr>
          <a:xfrm>
            <a:off x="6187288" y="5212080"/>
            <a:ext cx="2636444" cy="502920"/>
          </a:xfrm>
          <a:prstGeom prst="roundRect">
            <a:avLst>
              <a:gd name="adj" fmla="val 18182"/>
            </a:avLst>
          </a:prstGeom>
          <a:solidFill>
            <a:schemeClr val="accent1">
              <a:alpha val="8000"/>
            </a:schemeClr>
          </a:solidFill>
          <a:ln w="6350">
            <a:solidFill>
              <a:schemeClr val="accent1">
                <a:alpha val="25000"/>
              </a:schemeClr>
            </a:solidFill>
            <a:prstDash val="solid"/>
          </a:ln>
        </p:spPr>
      </p:sp>
      <p:sp>
        <p:nvSpPr>
          <p:cNvPr id="60" name="Text 57"/>
          <p:cNvSpPr txBox="1"/>
          <p:nvPr/>
        </p:nvSpPr>
        <p:spPr>
          <a:xfrm>
            <a:off x="6278728" y="5212080"/>
            <a:ext cx="2453564" cy="50292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Access log and evidence hashes</a:t>
            </a:r>
            <a:endParaRPr lang="en-US" sz="1200" dirty="0"/>
          </a:p>
        </p:txBody>
      </p:sp>
      <p:sp>
        <p:nvSpPr>
          <p:cNvPr id="61" name="Shape 58"/>
          <p:cNvSpPr/>
          <p:nvPr/>
        </p:nvSpPr>
        <p:spPr>
          <a:xfrm>
            <a:off x="9006611" y="5212080"/>
            <a:ext cx="2636444" cy="502920"/>
          </a:xfrm>
          <a:prstGeom prst="roundRect">
            <a:avLst>
              <a:gd name="adj" fmla="val 18182"/>
            </a:avLst>
          </a:prstGeom>
          <a:solidFill>
            <a:schemeClr val="accent1">
              <a:alpha val="8000"/>
            </a:schemeClr>
          </a:solidFill>
          <a:ln w="6350">
            <a:solidFill>
              <a:schemeClr val="accent1">
                <a:alpha val="25000"/>
              </a:schemeClr>
            </a:solidFill>
            <a:prstDash val="solid"/>
          </a:ln>
        </p:spPr>
      </p:sp>
      <p:sp>
        <p:nvSpPr>
          <p:cNvPr id="62" name="Text 59"/>
          <p:cNvSpPr txBox="1"/>
          <p:nvPr/>
        </p:nvSpPr>
        <p:spPr>
          <a:xfrm>
            <a:off x="9098051" y="5212080"/>
            <a:ext cx="2453564" cy="502920"/>
          </a:xfrm>
          <a:prstGeom prst="rect">
            <a:avLst/>
          </a:prstGeom>
          <a:noFill/>
          <a:ln/>
        </p:spPr>
        <p:txBody>
          <a:bodyPr wrap="square" lIns="0" tIns="0" rIns="0" bIns="0" rtlCol="0" anchor="ctr"/>
          <a:lstStyle/>
          <a:p>
            <a:pPr algn="ctr" indent="0" marL="0">
              <a:buNone/>
            </a:pPr>
            <a:r>
              <a:rPr lang="en-US" sz="1200" dirty="0">
                <a:solidFill>
                  <a:schemeClr val="tx1"/>
                </a:solidFill>
                <a:latin typeface="Calibri" pitchFamily="34" charset="0"/>
                <a:ea typeface="Calibri" pitchFamily="34" charset="-122"/>
                <a:cs typeface="Calibri" pitchFamily="34" charset="-120"/>
              </a:rPr>
              <a:t>Health, heartbeats, platform alerts</a:t>
            </a:r>
            <a:endParaRPr lang="en-US" sz="1200" dirty="0"/>
          </a:p>
        </p:txBody>
      </p:sp>
      <p:sp>
        <p:nvSpPr>
          <p:cNvPr id="63" name="Shape 60"/>
          <p:cNvSpPr/>
          <p:nvPr/>
        </p:nvSpPr>
        <p:spPr>
          <a:xfrm>
            <a:off x="548640" y="5852160"/>
            <a:ext cx="11094415" cy="457200"/>
          </a:xfrm>
          <a:prstGeom prst="roundRect">
            <a:avLst>
              <a:gd name="adj" fmla="val 24000"/>
            </a:avLst>
          </a:prstGeom>
          <a:solidFill>
            <a:schemeClr val="bg1"/>
          </a:solidFill>
          <a:ln w="9525">
            <a:solidFill>
              <a:schemeClr val="accent6"/>
            </a:solidFill>
            <a:prstDash val="solid"/>
          </a:ln>
        </p:spPr>
      </p:sp>
      <p:sp>
        <p:nvSpPr>
          <p:cNvPr id="64" name="Text 61"/>
          <p:cNvSpPr txBox="1"/>
          <p:nvPr/>
        </p:nvSpPr>
        <p:spPr>
          <a:xfrm>
            <a:off x="777240" y="5852160"/>
            <a:ext cx="10637215" cy="457200"/>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Plug-in points.  </a:t>
            </a:r>
            <a:pPr indent="0" marL="0">
              <a:buNone/>
            </a:pPr>
            <a:r>
              <a:rPr lang="en-US" sz="1200" dirty="0">
                <a:solidFill>
                  <a:schemeClr val="tx1"/>
                </a:solidFill>
                <a:latin typeface="Calibri" pitchFamily="34" charset="0"/>
                <a:ea typeface="Calibri" pitchFamily="34" charset="-122"/>
                <a:cs typeface="Calibri" pitchFamily="34" charset="-120"/>
              </a:rPr>
              <a:t>Source adapter, VMS connector, analyzer, event bus, alert channel, cold-tier store: each is an interface with a test suite.</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SOLUTION · INTEROPERABILITY</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Interoperability: open standards in, open interfaces out</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589520" cy="914400"/>
        </p:xfrm>
        <a:graphic>
          <a:graphicData uri="http://schemas.openxmlformats.org/drawingml/2006/table">
            <a:tbl>
              <a:tblPr/>
              <a:tblGrid>
                <a:gridCol w="1600200"/>
                <a:gridCol w="4343400"/>
                <a:gridCol w="1645920"/>
              </a:tblGrid>
              <a:tr h="301752">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INTERFACE</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STANDARDS AND PROTOCOLS</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STATE</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Cameras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RTSP, ONVIF (discovery, profiles, event pull-point), HTTP HLS, MJPEG, snapshots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Built, tested on fakes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Recorders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Hikvision ISAPI, Dahua CGI: channels, device details, live event streams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Built, tested on fakes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Department systems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Read-only connector contract; REST with tokens and XML with Basic auth as references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Built, two references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Video out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WebRTC (WHEP), HLS fMP4, MJPEG through a media server</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Built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Events out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HMAC-signed webhooks; event bus (in-process, Redis Streams)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Built; Kafka planned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APIs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REST with OpenAPI description; registry API with key; Firebase ID tokens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Built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Storage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S3-compatible object store (Ceph, MinIO, AWS); Postgres or Timescale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Built, tested on fakes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Government registries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VAHAN, SARTHI, eGujCop, AFIS and NAFIS contracts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Mocks and contracts only</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bl>
          </a:graphicData>
        </a:graphic>
      </p:graphicFrame>
      <p:sp>
        <p:nvSpPr>
          <p:cNvPr id="6" name="Shape 2"/>
          <p:cNvSpPr/>
          <p:nvPr/>
        </p:nvSpPr>
        <p:spPr>
          <a:xfrm>
            <a:off x="8412480" y="1600200"/>
            <a:ext cx="3230575" cy="4663440"/>
          </a:xfrm>
          <a:prstGeom prst="roundRect">
            <a:avLst>
              <a:gd name="adj" fmla="val 3397"/>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7" name="Shape 3"/>
          <p:cNvSpPr/>
          <p:nvPr/>
        </p:nvSpPr>
        <p:spPr>
          <a:xfrm>
            <a:off x="8641080" y="1783080"/>
            <a:ext cx="502920" cy="502920"/>
          </a:xfrm>
          <a:prstGeom prst="ellipse">
            <a:avLst/>
          </a:prstGeom>
          <a:solidFill>
            <a:schemeClr val="accent2">
              <a:alpha val="12000"/>
            </a:schemeClr>
          </a:solidFill>
          <a:ln w="6350">
            <a:solidFill>
              <a:schemeClr val="accent2">
                <a:alpha val="30000"/>
              </a:schemeClr>
            </a:solidFill>
            <a:prstDash val="solid"/>
          </a:ln>
        </p:spPr>
      </p:sp>
      <p:pic>
        <p:nvPicPr>
          <p:cNvPr id="8" name="Image 0" descr="preencoded.png">    </p:cNvPr>
          <p:cNvPicPr>
            <a:picLocks noChangeAspect="1"/>
          </p:cNvPicPr>
          <p:nvPr/>
        </p:nvPicPr>
        <p:blipFill>
          <a:blip r:embed="rId1"/>
          <a:stretch>
            <a:fillRect/>
          </a:stretch>
        </p:blipFill>
        <p:spPr>
          <a:xfrm>
            <a:off x="8766810" y="1908810"/>
            <a:ext cx="251460" cy="251460"/>
          </a:xfrm>
          <a:prstGeom prst="rect">
            <a:avLst/>
          </a:prstGeom>
        </p:spPr>
      </p:pic>
      <p:sp>
        <p:nvSpPr>
          <p:cNvPr id="9" name="Text 4"/>
          <p:cNvSpPr txBox="1"/>
          <p:nvPr/>
        </p:nvSpPr>
        <p:spPr>
          <a:xfrm>
            <a:off x="8641080" y="2423160"/>
            <a:ext cx="2773375" cy="594360"/>
          </a:xfrm>
          <a:prstGeom prst="rect">
            <a:avLst/>
          </a:prstGeom>
          <a:noFill/>
          <a:ln/>
        </p:spPr>
        <p:txBody>
          <a:bodyPr wrap="square" lIns="0" tIns="0" rIns="0" bIns="0" rtlCol="0" anchor="t"/>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Departments stay unaffected</a:t>
            </a:r>
            <a:endParaRPr lang="en-US" sz="1500" dirty="0"/>
          </a:p>
        </p:txBody>
      </p:sp>
      <p:sp>
        <p:nvSpPr>
          <p:cNvPr id="10" name="Text 5"/>
          <p:cNvSpPr txBox="1"/>
          <p:nvPr/>
        </p:nvSpPr>
        <p:spPr>
          <a:xfrm>
            <a:off x="8641080" y="3108960"/>
            <a:ext cx="2773375" cy="301752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latin typeface="Calibri" pitchFamily="34" charset="0"/>
                <a:ea typeface="Calibri" pitchFamily="34" charset="-122"/>
                <a:cs typeface="Calibri" pitchFamily="34" charset="-120"/>
              </a:rPr>
              <a:t>The connector contract has no method that creates, changes or deletes anything</a:t>
            </a:r>
            <a:endParaRPr lang="en-US" sz="1250" dirty="0"/>
          </a:p>
          <a:p>
            <a:pPr marL="177800" indent="-177800">
              <a:spcAft>
                <a:spcPts val="700"/>
              </a:spcAft>
              <a:buSzPct val="100000"/>
              <a:buChar char="•"/>
            </a:pPr>
            <a:r>
              <a:rPr lang="en-US" sz="1250" dirty="0">
                <a:solidFill>
                  <a:schemeClr val="tx1"/>
                </a:solidFill>
                <a:latin typeface="Calibri" pitchFamily="34" charset="0"/>
                <a:ea typeface="Calibri" pitchFamily="34" charset="-122"/>
                <a:cs typeface="Calibri" pitchFamily="34" charset="-120"/>
              </a:rPr>
              <a:t>The HTTP layer allows GET and one sign-in POST</a:t>
            </a:r>
            <a:endParaRPr lang="en-US" sz="1250" dirty="0"/>
          </a:p>
          <a:p>
            <a:pPr marL="177800" indent="-177800">
              <a:spcAft>
                <a:spcPts val="700"/>
              </a:spcAft>
              <a:buSzPct val="100000"/>
              <a:buChar char="•"/>
            </a:pPr>
            <a:r>
              <a:rPr lang="en-US" sz="1250" dirty="0">
                <a:solidFill>
                  <a:schemeClr val="tx1"/>
                </a:solidFill>
                <a:latin typeface="Calibri" pitchFamily="34" charset="0"/>
                <a:ea typeface="Calibri" pitchFamily="34" charset="-122"/>
                <a:cs typeface="Calibri" pitchFamily="34" charset="-120"/>
              </a:rPr>
              <a:t>Reference systems count every other request: the count stays zero through sync, polling, restart and removal</a:t>
            </a:r>
            <a:endParaRPr lang="en-US" sz="1250" dirty="0"/>
          </a:p>
          <a:p>
            <a:pPr marL="177800" indent="-177800">
              <a:spcAft>
                <a:spcPts val="700"/>
              </a:spcAft>
              <a:buSzPct val="100000"/>
              <a:buChar char="•"/>
            </a:pPr>
            <a:r>
              <a:rPr lang="en-US" sz="1250" dirty="0">
                <a:solidFill>
                  <a:schemeClr val="tx1"/>
                </a:solidFill>
                <a:latin typeface="Calibri" pitchFamily="34" charset="0"/>
                <a:ea typeface="Calibri" pitchFamily="34" charset="-122"/>
                <a:cs typeface="Calibri" pitchFamily="34" charset="-120"/>
              </a:rPr>
              <a:t>Give the connector a read-only account</a:t>
            </a:r>
            <a:endParaRPr lang="en-US" sz="125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SOLUTION · VIDEO ANALYTICS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What the platform detects, and the event each detection raises</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14600"/>
                <a:gridCol w="4846320"/>
                <a:gridCol w="3730752"/>
              </a:tblGrid>
              <a:tr h="301752">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CAPABILITY</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HOW</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EVENTS RAISED</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3035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Plate reading (ANPR)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YOLOv9-t detector and OCR; format check and correction; confidence per read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plate.read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3035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Watchlist and wanted vehicles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Plate matched to a watchlist and to registry records (mock registry today)</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plate.watchlist_match, plate.wanted, plate.vehicle_flagged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Vehicle detection and count</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Scene model counts vehicles whether or not a plate is readable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vehicle.seen</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3035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Person detection, known faces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Scene model counts people; matches enrolled faces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person.seen, person.known, person.unknown</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3035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Intrusion, motion, line crossing</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Zone and line on a frame fingerprint, or the recorder’s own analytics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vms.intrusion, vms.motion, vms.line_crossing</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Objects, brands, unusual activity</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Scene model judgement with reasons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scene.unusual, scene.alert</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3035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Camera tampering</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Blank, dark or washed-out picture from pixel statistics, no model call</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camera.blocked, camera.dark, camera.overexposed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Camera health</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Three failed runs, then first good run</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camera.offline, camera.online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bl>
          </a:graphicData>
        </a:graphic>
      </p:graphicFrame>
      <p:sp>
        <p:nvSpPr>
          <p:cNvPr id="6" name="Text 2"/>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Limit: the no-AI local detector cannot tell a person from a vehicle, and has been tested on synthetic frames only.</a:t>
            </a:r>
            <a:endParaRPr lang="en-US" sz="115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SOLUTION · VIDEO ANALYTICS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Every detection is a timestamped, searchable, exportable event</a:t>
            </a:r>
            <a:endParaRPr lang="en-US" sz="2400" dirty="0"/>
          </a:p>
        </p:txBody>
      </p:sp>
      <p:sp>
        <p:nvSpPr>
          <p:cNvPr id="5" name="Shape 2"/>
          <p:cNvSpPr/>
          <p:nvPr/>
        </p:nvSpPr>
        <p:spPr>
          <a:xfrm>
            <a:off x="548640" y="1600200"/>
            <a:ext cx="5120640" cy="4663440"/>
          </a:xfrm>
          <a:prstGeom prst="roundRect">
            <a:avLst>
              <a:gd name="adj" fmla="val 2353"/>
            </a:avLst>
          </a:prstGeom>
          <a:solidFill>
            <a:srgbClr val="1A2333"/>
          </a:solidFill>
          <a:ln w="9525">
            <a:solidFill>
              <a:srgbClr val="243044"/>
            </a:solidFill>
            <a:prstDash val="solid"/>
          </a:ln>
        </p:spPr>
      </p:sp>
      <p:sp>
        <p:nvSpPr>
          <p:cNvPr id="6" name="Text 3"/>
          <p:cNvSpPr txBox="1"/>
          <p:nvPr/>
        </p:nvSpPr>
        <p:spPr>
          <a:xfrm>
            <a:off x="822960" y="1783080"/>
            <a:ext cx="4572000" cy="256032"/>
          </a:xfrm>
          <a:prstGeom prst="rect">
            <a:avLst/>
          </a:prstGeom>
          <a:noFill/>
          <a:ln/>
        </p:spPr>
        <p:txBody>
          <a:bodyPr wrap="square" lIns="0" tIns="0" rIns="0" bIns="0" rtlCol="0" anchor="t"/>
          <a:lstStyle/>
          <a:p>
            <a:pPr indent="0" marL="0">
              <a:buNone/>
            </a:pPr>
            <a:r>
              <a:rPr lang="en-US" sz="1050" b="1" dirty="0">
                <a:solidFill>
                  <a:schemeClr val="accent5"/>
                </a:solidFill>
                <a:latin typeface="Consolas" pitchFamily="34" charset="0"/>
                <a:ea typeface="Consolas" pitchFamily="34" charset="-122"/>
                <a:cs typeface="Consolas" pitchFamily="34" charset="-120"/>
              </a:rPr>
              <a:t>EXAMPLE EVENT (ILLUSTRATIVE)</a:t>
            </a:r>
            <a:endParaRPr lang="en-US" sz="1050" dirty="0"/>
          </a:p>
        </p:txBody>
      </p:sp>
      <p:sp>
        <p:nvSpPr>
          <p:cNvPr id="7" name="Text 4"/>
          <p:cNvSpPr txBox="1"/>
          <p:nvPr/>
        </p:nvSpPr>
        <p:spPr>
          <a:xfrm>
            <a:off x="822960" y="2194560"/>
            <a:ext cx="4572000" cy="3291840"/>
          </a:xfrm>
          <a:prstGeom prst="rect">
            <a:avLst/>
          </a:prstGeom>
          <a:noFill/>
          <a:ln/>
        </p:spPr>
        <p:txBody>
          <a:bodyPr wrap="square" lIns="0" tIns="0" rIns="0" bIns="0" rtlCol="0" anchor="t"/>
          <a:lstStyle/>
          <a:p>
            <a:pPr indent="0" marL="0">
              <a:buNone/>
            </a:pPr>
            <a:r>
              <a:rPr lang="en-US" sz="1250" dirty="0">
                <a:solidFill>
                  <a:srgbClr val="E2E8F0"/>
                </a:solidFill>
                <a:latin typeface="Consolas" pitchFamily="34" charset="0"/>
                <a:ea typeface="Consolas" pitchFamily="34" charset="-122"/>
                <a:cs typeface="Consolas" pitchFamily="34" charset="-120"/>
              </a:rPr>
              <a:t>{</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"type": "plate.watchlist_match",</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"severity": "critical",</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"ts": "2026-10-10T14:21:07Z",</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"cameraName": "Ring Road 12",</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"department": "Traffic",</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"location": { "lat": 21.17, "lng": 72.83 },</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"confidence": 0.91,</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"tags": ["watchlist"],</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  "data": { "plate": "GJ05AB1234" }</a:t>
            </a:r>
            <a:endParaRPr lang="en-US" sz="1250" dirty="0"/>
          </a:p>
          <a:p>
            <a:pPr indent="0" marL="0">
              <a:buNone/>
            </a:pPr>
            <a:r>
              <a:rPr lang="en-US" sz="1250" dirty="0">
                <a:solidFill>
                  <a:srgbClr val="E2E8F0"/>
                </a:solidFill>
                <a:latin typeface="Consolas" pitchFamily="34" charset="0"/>
                <a:ea typeface="Consolas" pitchFamily="34" charset="-122"/>
                <a:cs typeface="Consolas" pitchFamily="34" charset="-120"/>
              </a:rPr>
              <a:t>}</a:t>
            </a:r>
            <a:endParaRPr lang="en-US" sz="1250" dirty="0"/>
          </a:p>
        </p:txBody>
      </p:sp>
      <p:sp>
        <p:nvSpPr>
          <p:cNvPr id="8" name="Text 5"/>
          <p:cNvSpPr txBox="1"/>
          <p:nvPr/>
        </p:nvSpPr>
        <p:spPr>
          <a:xfrm>
            <a:off x="822960" y="5669280"/>
            <a:ext cx="4572000" cy="45720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The id is deterministic: a retried job stores the event once.</a:t>
            </a:r>
            <a:endParaRPr lang="en-US" sz="1200" dirty="0"/>
          </a:p>
        </p:txBody>
      </p:sp>
      <p:sp>
        <p:nvSpPr>
          <p:cNvPr id="9" name="Shape 6"/>
          <p:cNvSpPr/>
          <p:nvPr/>
        </p:nvSpPr>
        <p:spPr>
          <a:xfrm>
            <a:off x="5943600" y="1600200"/>
            <a:ext cx="5699455" cy="841248"/>
          </a:xfrm>
          <a:prstGeom prst="roundRect">
            <a:avLst>
              <a:gd name="adj" fmla="val 13043"/>
            </a:avLst>
          </a:prstGeom>
          <a:solidFill>
            <a:schemeClr val="bg1"/>
          </a:solidFill>
          <a:ln w="9525">
            <a:solidFill>
              <a:schemeClr val="accent6"/>
            </a:solidFill>
            <a:prstDash val="solid"/>
          </a:ln>
        </p:spPr>
      </p:sp>
      <p:sp>
        <p:nvSpPr>
          <p:cNvPr id="10" name="Shape 7"/>
          <p:cNvSpPr/>
          <p:nvPr/>
        </p:nvSpPr>
        <p:spPr>
          <a:xfrm>
            <a:off x="6126480" y="1792224"/>
            <a:ext cx="457200" cy="457200"/>
          </a:xfrm>
          <a:prstGeom prst="ellipse">
            <a:avLst/>
          </a:prstGeom>
          <a:solidFill>
            <a:schemeClr val="accent1">
              <a:alpha val="12000"/>
            </a:schemeClr>
          </a:solidFill>
          <a:ln w="6350">
            <a:solidFill>
              <a:schemeClr val="accent1">
                <a:alpha val="30000"/>
              </a:schemeClr>
            </a:solidFill>
            <a:prstDash val="solid"/>
          </a:ln>
        </p:spPr>
      </p:sp>
      <p:pic>
        <p:nvPicPr>
          <p:cNvPr id="11" name="Image 0" descr="preencoded.png">    </p:cNvPr>
          <p:cNvPicPr>
            <a:picLocks noChangeAspect="1"/>
          </p:cNvPicPr>
          <p:nvPr/>
        </p:nvPicPr>
        <p:blipFill>
          <a:blip r:embed="rId1"/>
          <a:stretch>
            <a:fillRect/>
          </a:stretch>
        </p:blipFill>
        <p:spPr>
          <a:xfrm>
            <a:off x="6240780" y="1906524"/>
            <a:ext cx="228600" cy="228600"/>
          </a:xfrm>
          <a:prstGeom prst="rect">
            <a:avLst/>
          </a:prstGeom>
        </p:spPr>
      </p:pic>
      <p:sp>
        <p:nvSpPr>
          <p:cNvPr id="12" name="Text 8"/>
          <p:cNvSpPr txBox="1"/>
          <p:nvPr/>
        </p:nvSpPr>
        <p:spPr>
          <a:xfrm>
            <a:off x="6766560" y="1691640"/>
            <a:ext cx="1828800" cy="658368"/>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Search and tag</a:t>
            </a:r>
            <a:endParaRPr lang="en-US" sz="1300" dirty="0"/>
          </a:p>
        </p:txBody>
      </p:sp>
      <p:sp>
        <p:nvSpPr>
          <p:cNvPr id="13" name="Text 9"/>
          <p:cNvSpPr txBox="1"/>
          <p:nvPr/>
        </p:nvSpPr>
        <p:spPr>
          <a:xfrm>
            <a:off x="8503920" y="1673352"/>
            <a:ext cx="2956255" cy="694944"/>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Free text, type, severity, department, time range, tags, paged results.</a:t>
            </a:r>
            <a:endParaRPr lang="en-US" sz="1200" dirty="0"/>
          </a:p>
        </p:txBody>
      </p:sp>
      <p:sp>
        <p:nvSpPr>
          <p:cNvPr id="14" name="Shape 10"/>
          <p:cNvSpPr/>
          <p:nvPr/>
        </p:nvSpPr>
        <p:spPr>
          <a:xfrm>
            <a:off x="5943600" y="2551176"/>
            <a:ext cx="5699455" cy="841248"/>
          </a:xfrm>
          <a:prstGeom prst="roundRect">
            <a:avLst>
              <a:gd name="adj" fmla="val 13043"/>
            </a:avLst>
          </a:prstGeom>
          <a:solidFill>
            <a:schemeClr val="bg1"/>
          </a:solidFill>
          <a:ln w="9525">
            <a:solidFill>
              <a:schemeClr val="accent6"/>
            </a:solidFill>
            <a:prstDash val="solid"/>
          </a:ln>
        </p:spPr>
      </p:sp>
      <p:sp>
        <p:nvSpPr>
          <p:cNvPr id="15" name="Shape 11"/>
          <p:cNvSpPr/>
          <p:nvPr/>
        </p:nvSpPr>
        <p:spPr>
          <a:xfrm>
            <a:off x="6126480" y="2743200"/>
            <a:ext cx="457200" cy="457200"/>
          </a:xfrm>
          <a:prstGeom prst="ellipse">
            <a:avLst/>
          </a:prstGeom>
          <a:solidFill>
            <a:schemeClr val="accent1">
              <a:alpha val="12000"/>
            </a:schemeClr>
          </a:solidFill>
          <a:ln w="6350">
            <a:solidFill>
              <a:schemeClr val="accent1">
                <a:alpha val="30000"/>
              </a:schemeClr>
            </a:solidFill>
            <a:prstDash val="solid"/>
          </a:ln>
        </p:spPr>
      </p:sp>
      <p:pic>
        <p:nvPicPr>
          <p:cNvPr id="16" name="Image 1" descr="preencoded.png">    </p:cNvPr>
          <p:cNvPicPr>
            <a:picLocks noChangeAspect="1"/>
          </p:cNvPicPr>
          <p:nvPr/>
        </p:nvPicPr>
        <p:blipFill>
          <a:blip r:embed="rId2"/>
          <a:stretch>
            <a:fillRect/>
          </a:stretch>
        </p:blipFill>
        <p:spPr>
          <a:xfrm>
            <a:off x="6240780" y="2857500"/>
            <a:ext cx="228600" cy="228600"/>
          </a:xfrm>
          <a:prstGeom prst="rect">
            <a:avLst/>
          </a:prstGeom>
        </p:spPr>
      </p:pic>
      <p:sp>
        <p:nvSpPr>
          <p:cNvPr id="17" name="Text 12"/>
          <p:cNvSpPr txBox="1"/>
          <p:nvPr/>
        </p:nvSpPr>
        <p:spPr>
          <a:xfrm>
            <a:off x="6766560" y="2642616"/>
            <a:ext cx="1828800" cy="658368"/>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Alerts</a:t>
            </a:r>
            <a:endParaRPr lang="en-US" sz="1300" dirty="0"/>
          </a:p>
        </p:txBody>
      </p:sp>
      <p:sp>
        <p:nvSpPr>
          <p:cNvPr id="18" name="Text 13"/>
          <p:cNvSpPr txBox="1"/>
          <p:nvPr/>
        </p:nvSpPr>
        <p:spPr>
          <a:xfrm>
            <a:off x="8503920" y="2624328"/>
            <a:ext cx="2956255" cy="694944"/>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Open, acknowledged, resolved; repeats fold into one alert; schedule and throttle per rule.</a:t>
            </a:r>
            <a:endParaRPr lang="en-US" sz="1200" dirty="0"/>
          </a:p>
        </p:txBody>
      </p:sp>
      <p:sp>
        <p:nvSpPr>
          <p:cNvPr id="19" name="Shape 14"/>
          <p:cNvSpPr/>
          <p:nvPr/>
        </p:nvSpPr>
        <p:spPr>
          <a:xfrm>
            <a:off x="5943600" y="3502152"/>
            <a:ext cx="5699455" cy="841248"/>
          </a:xfrm>
          <a:prstGeom prst="roundRect">
            <a:avLst>
              <a:gd name="adj" fmla="val 13043"/>
            </a:avLst>
          </a:prstGeom>
          <a:solidFill>
            <a:schemeClr val="bg1"/>
          </a:solidFill>
          <a:ln w="9525">
            <a:solidFill>
              <a:schemeClr val="accent6"/>
            </a:solidFill>
            <a:prstDash val="solid"/>
          </a:ln>
        </p:spPr>
      </p:sp>
      <p:sp>
        <p:nvSpPr>
          <p:cNvPr id="20" name="Shape 15"/>
          <p:cNvSpPr/>
          <p:nvPr/>
        </p:nvSpPr>
        <p:spPr>
          <a:xfrm>
            <a:off x="6126480" y="3694176"/>
            <a:ext cx="457200" cy="457200"/>
          </a:xfrm>
          <a:prstGeom prst="ellipse">
            <a:avLst/>
          </a:prstGeom>
          <a:solidFill>
            <a:schemeClr val="accent1">
              <a:alpha val="12000"/>
            </a:schemeClr>
          </a:solidFill>
          <a:ln w="6350">
            <a:solidFill>
              <a:schemeClr val="accent1">
                <a:alpha val="30000"/>
              </a:schemeClr>
            </a:solidFill>
            <a:prstDash val="solid"/>
          </a:ln>
        </p:spPr>
      </p:sp>
      <p:pic>
        <p:nvPicPr>
          <p:cNvPr id="21" name="Image 2" descr="preencoded.png">    </p:cNvPr>
          <p:cNvPicPr>
            <a:picLocks noChangeAspect="1"/>
          </p:cNvPicPr>
          <p:nvPr/>
        </p:nvPicPr>
        <p:blipFill>
          <a:blip r:embed="rId3"/>
          <a:stretch>
            <a:fillRect/>
          </a:stretch>
        </p:blipFill>
        <p:spPr>
          <a:xfrm>
            <a:off x="6240780" y="3808476"/>
            <a:ext cx="228600" cy="228600"/>
          </a:xfrm>
          <a:prstGeom prst="rect">
            <a:avLst/>
          </a:prstGeom>
        </p:spPr>
      </p:pic>
      <p:sp>
        <p:nvSpPr>
          <p:cNvPr id="22" name="Text 16"/>
          <p:cNvSpPr txBox="1"/>
          <p:nvPr/>
        </p:nvSpPr>
        <p:spPr>
          <a:xfrm>
            <a:off x="6766560" y="3593592"/>
            <a:ext cx="1828800" cy="658368"/>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Exports</a:t>
            </a:r>
            <a:endParaRPr lang="en-US" sz="1300" dirty="0"/>
          </a:p>
        </p:txBody>
      </p:sp>
      <p:sp>
        <p:nvSpPr>
          <p:cNvPr id="23" name="Text 17"/>
          <p:cNvSpPr txBox="1"/>
          <p:nvPr/>
        </p:nvSpPr>
        <p:spPr>
          <a:xfrm>
            <a:off x="8503920" y="3575304"/>
            <a:ext cx="2956255" cy="694944"/>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Log export and vehicle route CSV with UTC timestamps, coordinates, leg speed and flags.</a:t>
            </a:r>
            <a:endParaRPr lang="en-US" sz="1200" dirty="0"/>
          </a:p>
        </p:txBody>
      </p:sp>
      <p:sp>
        <p:nvSpPr>
          <p:cNvPr id="24" name="Shape 18"/>
          <p:cNvSpPr/>
          <p:nvPr/>
        </p:nvSpPr>
        <p:spPr>
          <a:xfrm>
            <a:off x="5943600" y="4453128"/>
            <a:ext cx="5699455" cy="841248"/>
          </a:xfrm>
          <a:prstGeom prst="roundRect">
            <a:avLst>
              <a:gd name="adj" fmla="val 13043"/>
            </a:avLst>
          </a:prstGeom>
          <a:solidFill>
            <a:schemeClr val="bg1"/>
          </a:solidFill>
          <a:ln w="9525">
            <a:solidFill>
              <a:schemeClr val="accent6"/>
            </a:solidFill>
            <a:prstDash val="solid"/>
          </a:ln>
        </p:spPr>
      </p:sp>
      <p:sp>
        <p:nvSpPr>
          <p:cNvPr id="25" name="Shape 19"/>
          <p:cNvSpPr/>
          <p:nvPr/>
        </p:nvSpPr>
        <p:spPr>
          <a:xfrm>
            <a:off x="6126480" y="4645152"/>
            <a:ext cx="457200" cy="457200"/>
          </a:xfrm>
          <a:prstGeom prst="ellipse">
            <a:avLst/>
          </a:prstGeom>
          <a:solidFill>
            <a:schemeClr val="accent1">
              <a:alpha val="12000"/>
            </a:schemeClr>
          </a:solidFill>
          <a:ln w="6350">
            <a:solidFill>
              <a:schemeClr val="accent1">
                <a:alpha val="30000"/>
              </a:schemeClr>
            </a:solidFill>
            <a:prstDash val="solid"/>
          </a:ln>
        </p:spPr>
      </p:sp>
      <p:pic>
        <p:nvPicPr>
          <p:cNvPr id="26" name="Image 3" descr="preencoded.png">    </p:cNvPr>
          <p:cNvPicPr>
            <a:picLocks noChangeAspect="1"/>
          </p:cNvPicPr>
          <p:nvPr/>
        </p:nvPicPr>
        <p:blipFill>
          <a:blip r:embed="rId4"/>
          <a:stretch>
            <a:fillRect/>
          </a:stretch>
        </p:blipFill>
        <p:spPr>
          <a:xfrm>
            <a:off x="6240780" y="4759452"/>
            <a:ext cx="228600" cy="228600"/>
          </a:xfrm>
          <a:prstGeom prst="rect">
            <a:avLst/>
          </a:prstGeom>
        </p:spPr>
      </p:pic>
      <p:sp>
        <p:nvSpPr>
          <p:cNvPr id="27" name="Text 20"/>
          <p:cNvSpPr txBox="1"/>
          <p:nvPr/>
        </p:nvSpPr>
        <p:spPr>
          <a:xfrm>
            <a:off x="6766560" y="4544568"/>
            <a:ext cx="1828800" cy="658368"/>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Signed webhooks</a:t>
            </a:r>
            <a:endParaRPr lang="en-US" sz="1300" dirty="0"/>
          </a:p>
        </p:txBody>
      </p:sp>
      <p:sp>
        <p:nvSpPr>
          <p:cNvPr id="28" name="Text 21"/>
          <p:cNvSpPr txBox="1"/>
          <p:nvPr/>
        </p:nvSpPr>
        <p:spPr>
          <a:xfrm>
            <a:off x="8503920" y="4526280"/>
            <a:ext cx="2956255" cy="694944"/>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JSON with an HMAC signature into a control room or SOC; retried on failure.</a:t>
            </a:r>
            <a:endParaRPr lang="en-US" sz="1200" dirty="0"/>
          </a:p>
        </p:txBody>
      </p:sp>
      <p:sp>
        <p:nvSpPr>
          <p:cNvPr id="29" name="Shape 22"/>
          <p:cNvSpPr/>
          <p:nvPr/>
        </p:nvSpPr>
        <p:spPr>
          <a:xfrm>
            <a:off x="5943600" y="5404104"/>
            <a:ext cx="5699455" cy="841248"/>
          </a:xfrm>
          <a:prstGeom prst="roundRect">
            <a:avLst>
              <a:gd name="adj" fmla="val 13043"/>
            </a:avLst>
          </a:prstGeom>
          <a:solidFill>
            <a:schemeClr val="bg1"/>
          </a:solidFill>
          <a:ln w="9525">
            <a:solidFill>
              <a:schemeClr val="accent6"/>
            </a:solidFill>
            <a:prstDash val="solid"/>
          </a:ln>
        </p:spPr>
      </p:sp>
      <p:sp>
        <p:nvSpPr>
          <p:cNvPr id="30" name="Shape 23"/>
          <p:cNvSpPr/>
          <p:nvPr/>
        </p:nvSpPr>
        <p:spPr>
          <a:xfrm>
            <a:off x="6126480" y="5596128"/>
            <a:ext cx="457200" cy="457200"/>
          </a:xfrm>
          <a:prstGeom prst="ellipse">
            <a:avLst/>
          </a:prstGeom>
          <a:solidFill>
            <a:schemeClr val="accent1">
              <a:alpha val="12000"/>
            </a:schemeClr>
          </a:solidFill>
          <a:ln w="6350">
            <a:solidFill>
              <a:schemeClr val="accent1">
                <a:alpha val="30000"/>
              </a:schemeClr>
            </a:solidFill>
            <a:prstDash val="solid"/>
          </a:ln>
        </p:spPr>
      </p:sp>
      <p:pic>
        <p:nvPicPr>
          <p:cNvPr id="31" name="Image 4" descr="preencoded.png">    </p:cNvPr>
          <p:cNvPicPr>
            <a:picLocks noChangeAspect="1"/>
          </p:cNvPicPr>
          <p:nvPr/>
        </p:nvPicPr>
        <p:blipFill>
          <a:blip r:embed="rId5"/>
          <a:stretch>
            <a:fillRect/>
          </a:stretch>
        </p:blipFill>
        <p:spPr>
          <a:xfrm>
            <a:off x="6240780" y="5710428"/>
            <a:ext cx="228600" cy="228600"/>
          </a:xfrm>
          <a:prstGeom prst="rect">
            <a:avLst/>
          </a:prstGeom>
        </p:spPr>
      </p:pic>
      <p:sp>
        <p:nvSpPr>
          <p:cNvPr id="32" name="Text 24"/>
          <p:cNvSpPr txBox="1"/>
          <p:nvPr/>
        </p:nvSpPr>
        <p:spPr>
          <a:xfrm>
            <a:off x="6766560" y="5495544"/>
            <a:ext cx="1828800" cy="658368"/>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Evidence clips</a:t>
            </a:r>
            <a:endParaRPr lang="en-US" sz="1300" dirty="0"/>
          </a:p>
        </p:txBody>
      </p:sp>
      <p:sp>
        <p:nvSpPr>
          <p:cNvPr id="33" name="Text 25"/>
          <p:cNvSpPr txBox="1"/>
          <p:nvPr/>
        </p:nvSpPr>
        <p:spPr>
          <a:xfrm>
            <a:off x="8503920" y="5477256"/>
            <a:ext cx="2956255" cy="694944"/>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Cut without re-encoding, hashed with SHA-256, held against deletion, with a reason on record.</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SCALABILITY · SUMMARY</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80,000 cameras fit if the video stays at the edge</a:t>
            </a:r>
            <a:endParaRPr lang="en-US" sz="2400" dirty="0"/>
          </a:p>
        </p:txBody>
      </p:sp>
      <p:sp>
        <p:nvSpPr>
          <p:cNvPr id="5" name="Shape 2"/>
          <p:cNvSpPr/>
          <p:nvPr/>
        </p:nvSpPr>
        <p:spPr>
          <a:xfrm>
            <a:off x="548640" y="1600200"/>
            <a:ext cx="3515258"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Text 3"/>
          <p:cNvSpPr txBox="1"/>
          <p:nvPr/>
        </p:nvSpPr>
        <p:spPr>
          <a:xfrm>
            <a:off x="804672" y="1828800"/>
            <a:ext cx="3003194" cy="548640"/>
          </a:xfrm>
          <a:prstGeom prst="rect">
            <a:avLst/>
          </a:prstGeom>
          <a:noFill/>
          <a:ln/>
        </p:spPr>
        <p:txBody>
          <a:bodyPr wrap="square" lIns="0" tIns="0" rIns="0" bIns="0" rtlCol="0" anchor="t"/>
          <a:lstStyle/>
          <a:p>
            <a:pPr indent="0" marL="0">
              <a:buNone/>
            </a:pPr>
            <a:r>
              <a:rPr lang="en-US" sz="2800" b="1" dirty="0">
                <a:solidFill>
                  <a:schemeClr val="accent1"/>
                </a:solidFill>
                <a:latin typeface="Century Gothic" pitchFamily="34" charset="0"/>
                <a:ea typeface="Century Gothic" pitchFamily="34" charset="-122"/>
                <a:cs typeface="Century Gothic" pitchFamily="34" charset="-120"/>
              </a:rPr>
              <a:t>1 + 8 + 160</a:t>
            </a:r>
            <a:endParaRPr lang="en-US" sz="2800" dirty="0"/>
          </a:p>
        </p:txBody>
      </p:sp>
      <p:sp>
        <p:nvSpPr>
          <p:cNvPr id="7" name="Text 4"/>
          <p:cNvSpPr txBox="1"/>
          <p:nvPr/>
        </p:nvSpPr>
        <p:spPr>
          <a:xfrm>
            <a:off x="804672" y="2441448"/>
            <a:ext cx="3003194"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Central site (+ DR), regional hubs, edge nodes of about 500 cameras each</a:t>
            </a:r>
            <a:endParaRPr lang="en-US" sz="1300" dirty="0"/>
          </a:p>
        </p:txBody>
      </p:sp>
      <p:sp>
        <p:nvSpPr>
          <p:cNvPr id="8" name="chip DESIGN"/>
          <p:cNvSpPr/>
          <p:nvPr/>
        </p:nvSpPr>
        <p:spPr>
          <a:xfrm>
            <a:off x="804672" y="3063240"/>
            <a:ext cx="738835" cy="237744"/>
          </a:xfrm>
          <a:prstGeom prst="roundRect">
            <a:avLst>
              <a:gd name="adj" fmla="val 50000"/>
            </a:avLst>
          </a:prstGeom>
          <a:solidFill>
            <a:schemeClr val="accent1">
              <a:alpha val="14000"/>
            </a:schemeClr>
          </a:solidFill>
          <a:ln w="6350">
            <a:solidFill>
              <a:schemeClr val="accent1">
                <a:alpha val="40000"/>
              </a:schemeClr>
            </a:solidFill>
            <a:prstDash val="solid"/>
          </a:ln>
        </p:spPr>
      </p:sp>
      <p:sp>
        <p:nvSpPr>
          <p:cNvPr id="9" name="Text 6"/>
          <p:cNvSpPr txBox="1"/>
          <p:nvPr/>
        </p:nvSpPr>
        <p:spPr>
          <a:xfrm>
            <a:off x="804672" y="3063240"/>
            <a:ext cx="738835" cy="237744"/>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DESIGN</a:t>
            </a:r>
            <a:endParaRPr lang="en-US" sz="1000" dirty="0"/>
          </a:p>
        </p:txBody>
      </p:sp>
      <p:sp>
        <p:nvSpPr>
          <p:cNvPr id="10" name="Shape 7"/>
          <p:cNvSpPr/>
          <p:nvPr/>
        </p:nvSpPr>
        <p:spPr>
          <a:xfrm>
            <a:off x="4338218" y="1600200"/>
            <a:ext cx="3515258"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1" name="Text 8"/>
          <p:cNvSpPr txBox="1"/>
          <p:nvPr/>
        </p:nvSpPr>
        <p:spPr>
          <a:xfrm>
            <a:off x="4594250" y="1828800"/>
            <a:ext cx="3003194" cy="548640"/>
          </a:xfrm>
          <a:prstGeom prst="rect">
            <a:avLst/>
          </a:prstGeom>
          <a:noFill/>
          <a:ln/>
        </p:spPr>
        <p:txBody>
          <a:bodyPr wrap="square" lIns="0" tIns="0" rIns="0" bIns="0" rtlCol="0" anchor="t"/>
          <a:lstStyle/>
          <a:p>
            <a:pPr indent="0" marL="0">
              <a:buNone/>
            </a:pPr>
            <a:r>
              <a:rPr lang="en-US" sz="2800" b="1" dirty="0">
                <a:solidFill>
                  <a:schemeClr val="accent1"/>
                </a:solidFill>
                <a:latin typeface="Century Gothic" pitchFamily="34" charset="0"/>
                <a:ea typeface="Century Gothic" pitchFamily="34" charset="-122"/>
                <a:cs typeface="Century Gothic" pitchFamily="34" charset="-120"/>
              </a:rPr>
              <a:t>4.5 Mbps</a:t>
            </a:r>
            <a:endParaRPr lang="en-US" sz="2800" dirty="0"/>
          </a:p>
        </p:txBody>
      </p:sp>
      <p:sp>
        <p:nvSpPr>
          <p:cNvPr id="12" name="Text 9"/>
          <p:cNvSpPr txBox="1"/>
          <p:nvPr/>
        </p:nvSpPr>
        <p:spPr>
          <a:xfrm>
            <a:off x="4594250" y="2441448"/>
            <a:ext cx="3003194"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of results reach the centre, instead of 160 Gbps of raw video</a:t>
            </a:r>
            <a:endParaRPr lang="en-US" sz="1300" dirty="0"/>
          </a:p>
        </p:txBody>
      </p:sp>
      <p:sp>
        <p:nvSpPr>
          <p:cNvPr id="13" name="chip MODELLED"/>
          <p:cNvSpPr/>
          <p:nvPr/>
        </p:nvSpPr>
        <p:spPr>
          <a:xfrm>
            <a:off x="4594250" y="306324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14" name="Text 11"/>
          <p:cNvSpPr txBox="1"/>
          <p:nvPr/>
        </p:nvSpPr>
        <p:spPr>
          <a:xfrm>
            <a:off x="4594250" y="306324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15" name="Shape 12"/>
          <p:cNvSpPr/>
          <p:nvPr/>
        </p:nvSpPr>
        <p:spPr>
          <a:xfrm>
            <a:off x="8127797" y="1600200"/>
            <a:ext cx="3515258"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6" name="Text 13"/>
          <p:cNvSpPr txBox="1"/>
          <p:nvPr/>
        </p:nvSpPr>
        <p:spPr>
          <a:xfrm>
            <a:off x="8383829" y="1828800"/>
            <a:ext cx="3003194" cy="548640"/>
          </a:xfrm>
          <a:prstGeom prst="rect">
            <a:avLst/>
          </a:prstGeom>
          <a:noFill/>
          <a:ln/>
        </p:spPr>
        <p:txBody>
          <a:bodyPr wrap="square" lIns="0" tIns="0" rIns="0" bIns="0" rtlCol="0" anchor="t"/>
          <a:lstStyle/>
          <a:p>
            <a:pPr indent="0" marL="0">
              <a:buNone/>
            </a:pPr>
            <a:r>
              <a:rPr lang="en-US" sz="2800" b="1" dirty="0">
                <a:solidFill>
                  <a:schemeClr val="accent1"/>
                </a:solidFill>
                <a:latin typeface="Century Gothic" pitchFamily="34" charset="0"/>
                <a:ea typeface="Century Gothic" pitchFamily="34" charset="-122"/>
                <a:cs typeface="Century Gothic" pitchFamily="34" charset="-120"/>
              </a:rPr>
              <a:t>~50 GPUs</a:t>
            </a:r>
            <a:endParaRPr lang="en-US" sz="2800" dirty="0"/>
          </a:p>
        </p:txBody>
      </p:sp>
      <p:sp>
        <p:nvSpPr>
          <p:cNvPr id="17" name="Text 14"/>
          <p:cNvSpPr txBox="1"/>
          <p:nvPr/>
        </p:nvSpPr>
        <p:spPr>
          <a:xfrm>
            <a:off x="8383829" y="2441448"/>
            <a:ext cx="3003194"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40 × L4 for plates and detectors, 10 × L40S for scene reasoning</a:t>
            </a:r>
            <a:endParaRPr lang="en-US" sz="1300" dirty="0"/>
          </a:p>
        </p:txBody>
      </p:sp>
      <p:sp>
        <p:nvSpPr>
          <p:cNvPr id="18" name="chip MODELLED"/>
          <p:cNvSpPr/>
          <p:nvPr/>
        </p:nvSpPr>
        <p:spPr>
          <a:xfrm>
            <a:off x="8383829" y="306324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19" name="Text 16"/>
          <p:cNvSpPr txBox="1"/>
          <p:nvPr/>
        </p:nvSpPr>
        <p:spPr>
          <a:xfrm>
            <a:off x="8383829" y="306324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20" name="Shape 17"/>
          <p:cNvSpPr/>
          <p:nvPr/>
        </p:nvSpPr>
        <p:spPr>
          <a:xfrm>
            <a:off x="548640" y="3611880"/>
            <a:ext cx="3515258"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1" name="Text 18"/>
          <p:cNvSpPr txBox="1"/>
          <p:nvPr/>
        </p:nvSpPr>
        <p:spPr>
          <a:xfrm>
            <a:off x="804672" y="3840480"/>
            <a:ext cx="3003194" cy="548640"/>
          </a:xfrm>
          <a:prstGeom prst="rect">
            <a:avLst/>
          </a:prstGeom>
          <a:noFill/>
          <a:ln/>
        </p:spPr>
        <p:txBody>
          <a:bodyPr wrap="square" lIns="0" tIns="0" rIns="0" bIns="0" rtlCol="0" anchor="t"/>
          <a:lstStyle/>
          <a:p>
            <a:pPr indent="0" marL="0">
              <a:buNone/>
            </a:pPr>
            <a:r>
              <a:rPr lang="en-US" sz="2800" b="1" dirty="0">
                <a:solidFill>
                  <a:schemeClr val="accent1"/>
                </a:solidFill>
                <a:latin typeface="Century Gothic" pitchFamily="34" charset="0"/>
                <a:ea typeface="Century Gothic" pitchFamily="34" charset="-122"/>
                <a:cs typeface="Century Gothic" pitchFamily="34" charset="-120"/>
              </a:rPr>
              <a:t>17.4 PB raw</a:t>
            </a:r>
            <a:endParaRPr lang="en-US" sz="2800" dirty="0"/>
          </a:p>
        </p:txBody>
      </p:sp>
      <p:sp>
        <p:nvSpPr>
          <p:cNvPr id="22" name="Text 19"/>
          <p:cNvSpPr txBox="1"/>
          <p:nvPr/>
        </p:nvSpPr>
        <p:spPr>
          <a:xfrm>
            <a:off x="804672" y="4453128"/>
            <a:ext cx="3003194"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15 days at 1 Mbps: 2 days hot, 5 warm, 8 cold, erasure-coded</a:t>
            </a:r>
            <a:endParaRPr lang="en-US" sz="1300" dirty="0"/>
          </a:p>
        </p:txBody>
      </p:sp>
      <p:sp>
        <p:nvSpPr>
          <p:cNvPr id="23" name="chip MODELLED"/>
          <p:cNvSpPr/>
          <p:nvPr/>
        </p:nvSpPr>
        <p:spPr>
          <a:xfrm>
            <a:off x="804672" y="507492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24" name="Text 21"/>
          <p:cNvSpPr txBox="1"/>
          <p:nvPr/>
        </p:nvSpPr>
        <p:spPr>
          <a:xfrm>
            <a:off x="804672" y="507492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25" name="Shape 22"/>
          <p:cNvSpPr/>
          <p:nvPr/>
        </p:nvSpPr>
        <p:spPr>
          <a:xfrm>
            <a:off x="4338218" y="3611880"/>
            <a:ext cx="3515258"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6" name="Text 23"/>
          <p:cNvSpPr txBox="1"/>
          <p:nvPr/>
        </p:nvSpPr>
        <p:spPr>
          <a:xfrm>
            <a:off x="4594250" y="3840480"/>
            <a:ext cx="3003194" cy="548640"/>
          </a:xfrm>
          <a:prstGeom prst="rect">
            <a:avLst/>
          </a:prstGeom>
          <a:noFill/>
          <a:ln/>
        </p:spPr>
        <p:txBody>
          <a:bodyPr wrap="square" lIns="0" tIns="0" rIns="0" bIns="0" rtlCol="0" anchor="t"/>
          <a:lstStyle/>
          <a:p>
            <a:pPr indent="0" marL="0">
              <a:buNone/>
            </a:pPr>
            <a:r>
              <a:rPr lang="en-US" sz="2800" b="1" dirty="0">
                <a:solidFill>
                  <a:schemeClr val="accent1"/>
                </a:solidFill>
                <a:latin typeface="Century Gothic" pitchFamily="34" charset="0"/>
                <a:ea typeface="Century Gothic" pitchFamily="34" charset="-122"/>
                <a:cs typeface="Century Gothic" pitchFamily="34" charset="-120"/>
              </a:rPr>
              <a:t>5 min / 1 h</a:t>
            </a:r>
            <a:endParaRPr lang="en-US" sz="2800" dirty="0"/>
          </a:p>
        </p:txBody>
      </p:sp>
      <p:sp>
        <p:nvSpPr>
          <p:cNvPr id="27" name="Text 24"/>
          <p:cNvSpPr txBox="1"/>
          <p:nvPr/>
        </p:nvSpPr>
        <p:spPr>
          <a:xfrm>
            <a:off x="4594250" y="4453128"/>
            <a:ext cx="3003194"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RPO and RTO for events, alerts and control plane; evidence RPO near zero</a:t>
            </a:r>
            <a:endParaRPr lang="en-US" sz="1300" dirty="0"/>
          </a:p>
        </p:txBody>
      </p:sp>
      <p:sp>
        <p:nvSpPr>
          <p:cNvPr id="28" name="chip TARGET"/>
          <p:cNvSpPr/>
          <p:nvPr/>
        </p:nvSpPr>
        <p:spPr>
          <a:xfrm>
            <a:off x="4594250" y="5074920"/>
            <a:ext cx="738835" cy="237744"/>
          </a:xfrm>
          <a:prstGeom prst="roundRect">
            <a:avLst>
              <a:gd name="adj" fmla="val 50000"/>
            </a:avLst>
          </a:prstGeom>
          <a:solidFill>
            <a:schemeClr val="accent1">
              <a:alpha val="14000"/>
            </a:schemeClr>
          </a:solidFill>
          <a:ln w="6350">
            <a:solidFill>
              <a:schemeClr val="accent1">
                <a:alpha val="40000"/>
              </a:schemeClr>
            </a:solidFill>
            <a:prstDash val="solid"/>
          </a:ln>
        </p:spPr>
      </p:sp>
      <p:sp>
        <p:nvSpPr>
          <p:cNvPr id="29" name="Text 26"/>
          <p:cNvSpPr txBox="1"/>
          <p:nvPr/>
        </p:nvSpPr>
        <p:spPr>
          <a:xfrm>
            <a:off x="4594250" y="5074920"/>
            <a:ext cx="738835" cy="237744"/>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TARGET</a:t>
            </a:r>
            <a:endParaRPr lang="en-US" sz="1000" dirty="0"/>
          </a:p>
        </p:txBody>
      </p:sp>
      <p:sp>
        <p:nvSpPr>
          <p:cNvPr id="30" name="Shape 27"/>
          <p:cNvSpPr/>
          <p:nvPr/>
        </p:nvSpPr>
        <p:spPr>
          <a:xfrm>
            <a:off x="8127797" y="3611880"/>
            <a:ext cx="3515258"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1" name="Text 28"/>
          <p:cNvSpPr txBox="1"/>
          <p:nvPr/>
        </p:nvSpPr>
        <p:spPr>
          <a:xfrm>
            <a:off x="8383829" y="3840480"/>
            <a:ext cx="3003194" cy="548640"/>
          </a:xfrm>
          <a:prstGeom prst="rect">
            <a:avLst/>
          </a:prstGeom>
          <a:noFill/>
          <a:ln/>
        </p:spPr>
        <p:txBody>
          <a:bodyPr wrap="square" lIns="0" tIns="0" rIns="0" bIns="0" rtlCol="0" anchor="t"/>
          <a:lstStyle/>
          <a:p>
            <a:pPr indent="0" marL="0">
              <a:buNone/>
            </a:pPr>
            <a:r>
              <a:rPr lang="en-US" sz="2800" b="1" dirty="0">
                <a:solidFill>
                  <a:schemeClr val="accent1"/>
                </a:solidFill>
                <a:latin typeface="Century Gothic" pitchFamily="34" charset="0"/>
                <a:ea typeface="Century Gothic" pitchFamily="34" charset="-122"/>
                <a:cs typeface="Century Gothic" pitchFamily="34" charset="-120"/>
              </a:rPr>
              <a:t>₹79 cr</a:t>
            </a:r>
            <a:endParaRPr lang="en-US" sz="2800" dirty="0"/>
          </a:p>
        </p:txBody>
      </p:sp>
      <p:sp>
        <p:nvSpPr>
          <p:cNvPr id="32" name="Text 29"/>
          <p:cNvSpPr txBox="1"/>
          <p:nvPr/>
        </p:nvSpPr>
        <p:spPr>
          <a:xfrm>
            <a:off x="8383829" y="4453128"/>
            <a:ext cx="3003194" cy="64008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CapEx, then ₹24 cr a year; about ₹410 per camera per month over 5 years</a:t>
            </a:r>
            <a:endParaRPr lang="en-US" sz="1300" dirty="0"/>
          </a:p>
        </p:txBody>
      </p:sp>
      <p:sp>
        <p:nvSpPr>
          <p:cNvPr id="33" name="chip MODELLED"/>
          <p:cNvSpPr/>
          <p:nvPr/>
        </p:nvSpPr>
        <p:spPr>
          <a:xfrm>
            <a:off x="8383829" y="507492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34" name="Text 31"/>
          <p:cNvSpPr txBox="1"/>
          <p:nvPr/>
        </p:nvSpPr>
        <p:spPr>
          <a:xfrm>
            <a:off x="8383829" y="507492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35" name="Shape 32"/>
          <p:cNvSpPr/>
          <p:nvPr/>
        </p:nvSpPr>
        <p:spPr>
          <a:xfrm>
            <a:off x="548640" y="5623560"/>
            <a:ext cx="11094415" cy="566928"/>
          </a:xfrm>
          <a:prstGeom prst="roundRect">
            <a:avLst>
              <a:gd name="adj" fmla="val 19355"/>
            </a:avLst>
          </a:prstGeom>
          <a:solidFill>
            <a:schemeClr val="accent1">
              <a:alpha val="8000"/>
            </a:schemeClr>
          </a:solidFill>
          <a:ln w="9525">
            <a:solidFill>
              <a:schemeClr val="accent6"/>
            </a:solidFill>
            <a:prstDash val="solid"/>
          </a:ln>
        </p:spPr>
      </p:sp>
      <p:sp>
        <p:nvSpPr>
          <p:cNvPr id="36" name="Text 33"/>
          <p:cNvSpPr txBox="1"/>
          <p:nvPr/>
        </p:nvSpPr>
        <p:spPr>
          <a:xfrm>
            <a:off x="777240" y="5623560"/>
            <a:ext cx="10637215" cy="56692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How to read the tags.  </a:t>
            </a:r>
            <a:pPr indent="0" marL="0">
              <a:buNone/>
            </a:pPr>
            <a:r>
              <a:rPr lang="en-US" sz="1200" dirty="0">
                <a:solidFill>
                  <a:schemeClr val="tx1"/>
                </a:solidFill>
                <a:latin typeface="Calibri" pitchFamily="34" charset="0"/>
                <a:ea typeface="Calibri" pitchFamily="34" charset="-122"/>
                <a:cs typeface="Calibri" pitchFamily="34" charset="-120"/>
              </a:rPr>
              <a:t>MEASURED: run on the repo’s capacity suite.  MODELLED: derived from it plus stated assumptions.  PLANNED: designed, not yet built.  Assumptions are listed on the last slide.</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SCALABILITY · REFERENCE DESIGN</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Three tiers: analyse at the edge, decide at the centre</a:t>
            </a:r>
            <a:endParaRPr lang="en-US" sz="2400" dirty="0"/>
          </a:p>
        </p:txBody>
      </p:sp>
      <p:sp>
        <p:nvSpPr>
          <p:cNvPr id="5" name="Shape 2"/>
          <p:cNvSpPr/>
          <p:nvPr/>
        </p:nvSpPr>
        <p:spPr>
          <a:xfrm>
            <a:off x="548640" y="1554480"/>
            <a:ext cx="11094415" cy="1005840"/>
          </a:xfrm>
          <a:prstGeom prst="roundRect">
            <a:avLst>
              <a:gd name="adj" fmla="val 10909"/>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Shape 3"/>
          <p:cNvSpPr/>
          <p:nvPr/>
        </p:nvSpPr>
        <p:spPr>
          <a:xfrm>
            <a:off x="777240" y="1828800"/>
            <a:ext cx="457200" cy="457200"/>
          </a:xfrm>
          <a:prstGeom prst="ellipse">
            <a:avLst/>
          </a:prstGeom>
          <a:solidFill>
            <a:schemeClr val="accent1">
              <a:alpha val="12000"/>
            </a:schemeClr>
          </a:solidFill>
          <a:ln w="6350">
            <a:solidFill>
              <a:schemeClr val="accent1">
                <a:alpha val="30000"/>
              </a:schemeClr>
            </a:solidFill>
            <a:prstDash val="solid"/>
          </a:ln>
        </p:spPr>
      </p:sp>
      <p:pic>
        <p:nvPicPr>
          <p:cNvPr id="7" name="Image 0" descr="preencoded.png">    </p:cNvPr>
          <p:cNvPicPr>
            <a:picLocks noChangeAspect="1"/>
          </p:cNvPicPr>
          <p:nvPr/>
        </p:nvPicPr>
        <p:blipFill>
          <a:blip r:embed="rId1"/>
          <a:stretch>
            <a:fillRect/>
          </a:stretch>
        </p:blipFill>
        <p:spPr>
          <a:xfrm>
            <a:off x="891540" y="1943100"/>
            <a:ext cx="228600" cy="228600"/>
          </a:xfrm>
          <a:prstGeom prst="rect">
            <a:avLst/>
          </a:prstGeom>
        </p:spPr>
      </p:pic>
      <p:sp>
        <p:nvSpPr>
          <p:cNvPr id="8" name="Text 4"/>
          <p:cNvSpPr txBox="1"/>
          <p:nvPr/>
        </p:nvSpPr>
        <p:spPr>
          <a:xfrm>
            <a:off x="1371600" y="1737360"/>
            <a:ext cx="1645920" cy="320040"/>
          </a:xfrm>
          <a:prstGeom prst="rect">
            <a:avLst/>
          </a:prstGeom>
          <a:noFill/>
          <a:ln/>
        </p:spPr>
        <p:txBody>
          <a:bodyPr wrap="square" lIns="0" tIns="0" rIns="0" bIns="0" rtlCol="0" anchor="t"/>
          <a:lstStyle/>
          <a:p>
            <a:pPr indent="0" marL="0">
              <a:buNone/>
            </a:pPr>
            <a:r>
              <a:rPr lang="en-US" sz="1600" b="1" dirty="0">
                <a:solidFill>
                  <a:schemeClr val="tx1"/>
                </a:solidFill>
                <a:latin typeface="Century Gothic" pitchFamily="34" charset="0"/>
                <a:ea typeface="Century Gothic" pitchFamily="34" charset="-122"/>
                <a:cs typeface="Century Gothic" pitchFamily="34" charset="-120"/>
              </a:rPr>
              <a:t>Central</a:t>
            </a:r>
            <a:endParaRPr lang="en-US" sz="1600" dirty="0"/>
          </a:p>
        </p:txBody>
      </p:sp>
      <p:sp>
        <p:nvSpPr>
          <p:cNvPr id="9" name="Text 5"/>
          <p:cNvSpPr txBox="1"/>
          <p:nvPr/>
        </p:nvSpPr>
        <p:spPr>
          <a:xfrm>
            <a:off x="1371600" y="2057400"/>
            <a:ext cx="17373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State data centre + DR site</a:t>
            </a:r>
            <a:endParaRPr lang="en-US" sz="1100" dirty="0"/>
          </a:p>
        </p:txBody>
      </p:sp>
      <p:sp>
        <p:nvSpPr>
          <p:cNvPr id="10" name="Text 6"/>
          <p:cNvSpPr txBox="1"/>
          <p:nvPr/>
        </p:nvSpPr>
        <p:spPr>
          <a:xfrm>
            <a:off x="1371600" y="2304288"/>
            <a:ext cx="1097280" cy="228600"/>
          </a:xfrm>
          <a:prstGeom prst="rect">
            <a:avLst/>
          </a:prstGeom>
          <a:noFill/>
          <a:ln/>
        </p:spPr>
        <p:txBody>
          <a:bodyPr wrap="square" lIns="0" tIns="0" rIns="0" bIns="0" rtlCol="0" anchor="t"/>
          <a:lstStyle/>
          <a:p>
            <a:pPr indent="0" marL="0">
              <a:buNone/>
            </a:pPr>
            <a:r>
              <a:rPr lang="en-US" sz="1000" b="1" dirty="0">
                <a:solidFill>
                  <a:schemeClr val="accent1"/>
                </a:solidFill>
                <a:latin typeface="Consolas" pitchFamily="34" charset="0"/>
                <a:ea typeface="Consolas" pitchFamily="34" charset="-122"/>
                <a:cs typeface="Consolas" pitchFamily="34" charset="-120"/>
              </a:rPr>
              <a:t>x 1 + 1</a:t>
            </a:r>
            <a:endParaRPr lang="en-US" sz="1000" dirty="0"/>
          </a:p>
        </p:txBody>
      </p:sp>
      <p:sp>
        <p:nvSpPr>
          <p:cNvPr id="11" name="Shape 7"/>
          <p:cNvSpPr/>
          <p:nvPr/>
        </p:nvSpPr>
        <p:spPr>
          <a:xfrm>
            <a:off x="3246120" y="175564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12" name="Text 8"/>
          <p:cNvSpPr txBox="1"/>
          <p:nvPr/>
        </p:nvSpPr>
        <p:spPr>
          <a:xfrm>
            <a:off x="3337560" y="175564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Control plane: API, scheduler, alert engine</a:t>
            </a:r>
            <a:endParaRPr lang="en-US" sz="1150" dirty="0"/>
          </a:p>
        </p:txBody>
      </p:sp>
      <p:sp>
        <p:nvSpPr>
          <p:cNvPr id="13" name="Shape 9"/>
          <p:cNvSpPr/>
          <p:nvPr/>
        </p:nvSpPr>
        <p:spPr>
          <a:xfrm>
            <a:off x="5376672" y="175564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14" name="Text 10"/>
          <p:cNvSpPr txBox="1"/>
          <p:nvPr/>
        </p:nvSpPr>
        <p:spPr>
          <a:xfrm>
            <a:off x="5468112" y="175564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Postgres / Timescale, 3-node HA</a:t>
            </a:r>
            <a:endParaRPr lang="en-US" sz="1150" dirty="0"/>
          </a:p>
        </p:txBody>
      </p:sp>
      <p:sp>
        <p:nvSpPr>
          <p:cNvPr id="15" name="Shape 11"/>
          <p:cNvSpPr/>
          <p:nvPr/>
        </p:nvSpPr>
        <p:spPr>
          <a:xfrm>
            <a:off x="7507224" y="175564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16" name="Text 12"/>
          <p:cNvSpPr txBox="1"/>
          <p:nvPr/>
        </p:nvSpPr>
        <p:spPr>
          <a:xfrm>
            <a:off x="7598664" y="175564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Event bus (Redis Streams, Kafka)</a:t>
            </a:r>
            <a:endParaRPr lang="en-US" sz="1150" dirty="0"/>
          </a:p>
        </p:txBody>
      </p:sp>
      <p:sp>
        <p:nvSpPr>
          <p:cNvPr id="17" name="Shape 13"/>
          <p:cNvSpPr/>
          <p:nvPr/>
        </p:nvSpPr>
        <p:spPr>
          <a:xfrm>
            <a:off x="9637776" y="175564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18" name="Text 14"/>
          <p:cNvSpPr txBox="1"/>
          <p:nvPr/>
        </p:nvSpPr>
        <p:spPr>
          <a:xfrm>
            <a:off x="9729216" y="175564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Auth, RBAC, audit, dashboards</a:t>
            </a:r>
            <a:endParaRPr lang="en-US" sz="1150" dirty="0"/>
          </a:p>
        </p:txBody>
      </p:sp>
      <p:sp>
        <p:nvSpPr>
          <p:cNvPr id="19" name="Shape 15"/>
          <p:cNvSpPr/>
          <p:nvPr/>
        </p:nvSpPr>
        <p:spPr>
          <a:xfrm>
            <a:off x="548640" y="2971800"/>
            <a:ext cx="11094415" cy="1005840"/>
          </a:xfrm>
          <a:prstGeom prst="roundRect">
            <a:avLst>
              <a:gd name="adj" fmla="val 10909"/>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0" name="Shape 16"/>
          <p:cNvSpPr/>
          <p:nvPr/>
        </p:nvSpPr>
        <p:spPr>
          <a:xfrm>
            <a:off x="777240" y="3246120"/>
            <a:ext cx="457200" cy="457200"/>
          </a:xfrm>
          <a:prstGeom prst="ellipse">
            <a:avLst/>
          </a:prstGeom>
          <a:solidFill>
            <a:schemeClr val="accent1">
              <a:alpha val="12000"/>
            </a:schemeClr>
          </a:solidFill>
          <a:ln w="6350">
            <a:solidFill>
              <a:schemeClr val="accent1">
                <a:alpha val="30000"/>
              </a:schemeClr>
            </a:solidFill>
            <a:prstDash val="solid"/>
          </a:ln>
        </p:spPr>
      </p:sp>
      <p:pic>
        <p:nvPicPr>
          <p:cNvPr id="21" name="Image 1" descr="preencoded.png">    </p:cNvPr>
          <p:cNvPicPr>
            <a:picLocks noChangeAspect="1"/>
          </p:cNvPicPr>
          <p:nvPr/>
        </p:nvPicPr>
        <p:blipFill>
          <a:blip r:embed="rId2"/>
          <a:stretch>
            <a:fillRect/>
          </a:stretch>
        </p:blipFill>
        <p:spPr>
          <a:xfrm>
            <a:off x="891540" y="3360420"/>
            <a:ext cx="228600" cy="228600"/>
          </a:xfrm>
          <a:prstGeom prst="rect">
            <a:avLst/>
          </a:prstGeom>
        </p:spPr>
      </p:pic>
      <p:sp>
        <p:nvSpPr>
          <p:cNvPr id="22" name="Text 17"/>
          <p:cNvSpPr txBox="1"/>
          <p:nvPr/>
        </p:nvSpPr>
        <p:spPr>
          <a:xfrm>
            <a:off x="1371600" y="3154680"/>
            <a:ext cx="1645920" cy="320040"/>
          </a:xfrm>
          <a:prstGeom prst="rect">
            <a:avLst/>
          </a:prstGeom>
          <a:noFill/>
          <a:ln/>
        </p:spPr>
        <p:txBody>
          <a:bodyPr wrap="square" lIns="0" tIns="0" rIns="0" bIns="0" rtlCol="0" anchor="t"/>
          <a:lstStyle/>
          <a:p>
            <a:pPr indent="0" marL="0">
              <a:buNone/>
            </a:pPr>
            <a:r>
              <a:rPr lang="en-US" sz="1600" b="1" dirty="0">
                <a:solidFill>
                  <a:schemeClr val="tx1"/>
                </a:solidFill>
                <a:latin typeface="Century Gothic" pitchFamily="34" charset="0"/>
                <a:ea typeface="Century Gothic" pitchFamily="34" charset="-122"/>
                <a:cs typeface="Century Gothic" pitchFamily="34" charset="-120"/>
              </a:rPr>
              <a:t>Regional hub</a:t>
            </a:r>
            <a:endParaRPr lang="en-US" sz="1600" dirty="0"/>
          </a:p>
        </p:txBody>
      </p:sp>
      <p:sp>
        <p:nvSpPr>
          <p:cNvPr id="23" name="Text 18"/>
          <p:cNvSpPr txBox="1"/>
          <p:nvPr/>
        </p:nvSpPr>
        <p:spPr>
          <a:xfrm>
            <a:off x="1371600" y="3474720"/>
            <a:ext cx="17373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~10,000 cameras each</a:t>
            </a:r>
            <a:endParaRPr lang="en-US" sz="1100" dirty="0"/>
          </a:p>
        </p:txBody>
      </p:sp>
      <p:sp>
        <p:nvSpPr>
          <p:cNvPr id="24" name="Text 19"/>
          <p:cNvSpPr txBox="1"/>
          <p:nvPr/>
        </p:nvSpPr>
        <p:spPr>
          <a:xfrm>
            <a:off x="1371600" y="3721608"/>
            <a:ext cx="1097280" cy="228600"/>
          </a:xfrm>
          <a:prstGeom prst="rect">
            <a:avLst/>
          </a:prstGeom>
          <a:noFill/>
          <a:ln/>
        </p:spPr>
        <p:txBody>
          <a:bodyPr wrap="square" lIns="0" tIns="0" rIns="0" bIns="0" rtlCol="0" anchor="t"/>
          <a:lstStyle/>
          <a:p>
            <a:pPr indent="0" marL="0">
              <a:buNone/>
            </a:pPr>
            <a:r>
              <a:rPr lang="en-US" sz="1000" b="1" dirty="0">
                <a:solidFill>
                  <a:schemeClr val="accent1"/>
                </a:solidFill>
                <a:latin typeface="Consolas" pitchFamily="34" charset="0"/>
                <a:ea typeface="Consolas" pitchFamily="34" charset="-122"/>
                <a:cs typeface="Consolas" pitchFamily="34" charset="-120"/>
              </a:rPr>
              <a:t>x 8</a:t>
            </a:r>
            <a:endParaRPr lang="en-US" sz="1000" dirty="0"/>
          </a:p>
        </p:txBody>
      </p:sp>
      <p:sp>
        <p:nvSpPr>
          <p:cNvPr id="25" name="Shape 20"/>
          <p:cNvSpPr/>
          <p:nvPr/>
        </p:nvSpPr>
        <p:spPr>
          <a:xfrm>
            <a:off x="3246120" y="317296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26" name="Text 21"/>
          <p:cNvSpPr txBox="1"/>
          <p:nvPr/>
        </p:nvSpPr>
        <p:spPr>
          <a:xfrm>
            <a:off x="3337560" y="317296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GPU pool: ANPR and detectors</a:t>
            </a:r>
            <a:endParaRPr lang="en-US" sz="1150" dirty="0"/>
          </a:p>
        </p:txBody>
      </p:sp>
      <p:sp>
        <p:nvSpPr>
          <p:cNvPr id="27" name="Shape 22"/>
          <p:cNvSpPr/>
          <p:nvPr/>
        </p:nvSpPr>
        <p:spPr>
          <a:xfrm>
            <a:off x="5376672" y="317296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28" name="Text 23"/>
          <p:cNvSpPr txBox="1"/>
          <p:nvPr/>
        </p:nvSpPr>
        <p:spPr>
          <a:xfrm>
            <a:off x="5468112" y="317296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Cold tier: Ceph, S3 API</a:t>
            </a:r>
            <a:endParaRPr lang="en-US" sz="1150" dirty="0"/>
          </a:p>
        </p:txBody>
      </p:sp>
      <p:sp>
        <p:nvSpPr>
          <p:cNvPr id="29" name="Shape 24"/>
          <p:cNvSpPr/>
          <p:nvPr/>
        </p:nvSpPr>
        <p:spPr>
          <a:xfrm>
            <a:off x="7507224" y="317296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30" name="Text 25"/>
          <p:cNvSpPr txBox="1"/>
          <p:nvPr/>
        </p:nvSpPr>
        <p:spPr>
          <a:xfrm>
            <a:off x="7598664" y="317296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Bus mirror, DB read replica</a:t>
            </a:r>
            <a:endParaRPr lang="en-US" sz="1150" dirty="0"/>
          </a:p>
        </p:txBody>
      </p:sp>
      <p:sp>
        <p:nvSpPr>
          <p:cNvPr id="31" name="Shape 26"/>
          <p:cNvSpPr/>
          <p:nvPr/>
        </p:nvSpPr>
        <p:spPr>
          <a:xfrm>
            <a:off x="9637776" y="317296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32" name="Text 27"/>
          <p:cNvSpPr txBox="1"/>
          <p:nvPr/>
        </p:nvSpPr>
        <p:spPr>
          <a:xfrm>
            <a:off x="9729216" y="317296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Operator video relay</a:t>
            </a:r>
            <a:endParaRPr lang="en-US" sz="1150" dirty="0"/>
          </a:p>
        </p:txBody>
      </p:sp>
      <p:sp>
        <p:nvSpPr>
          <p:cNvPr id="33" name="Shape 28"/>
          <p:cNvSpPr/>
          <p:nvPr/>
        </p:nvSpPr>
        <p:spPr>
          <a:xfrm>
            <a:off x="548640" y="4389120"/>
            <a:ext cx="11094415" cy="1005840"/>
          </a:xfrm>
          <a:prstGeom prst="roundRect">
            <a:avLst>
              <a:gd name="adj" fmla="val 10909"/>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4" name="Shape 29"/>
          <p:cNvSpPr/>
          <p:nvPr/>
        </p:nvSpPr>
        <p:spPr>
          <a:xfrm>
            <a:off x="777240" y="4663440"/>
            <a:ext cx="457200" cy="457200"/>
          </a:xfrm>
          <a:prstGeom prst="ellipse">
            <a:avLst/>
          </a:prstGeom>
          <a:solidFill>
            <a:schemeClr val="accent1">
              <a:alpha val="12000"/>
            </a:schemeClr>
          </a:solidFill>
          <a:ln w="6350">
            <a:solidFill>
              <a:schemeClr val="accent1">
                <a:alpha val="30000"/>
              </a:schemeClr>
            </a:solidFill>
            <a:prstDash val="solid"/>
          </a:ln>
        </p:spPr>
      </p:sp>
      <p:pic>
        <p:nvPicPr>
          <p:cNvPr id="35" name="Image 2" descr="preencoded.png">    </p:cNvPr>
          <p:cNvPicPr>
            <a:picLocks noChangeAspect="1"/>
          </p:cNvPicPr>
          <p:nvPr/>
        </p:nvPicPr>
        <p:blipFill>
          <a:blip r:embed="rId3"/>
          <a:stretch>
            <a:fillRect/>
          </a:stretch>
        </p:blipFill>
        <p:spPr>
          <a:xfrm>
            <a:off x="891540" y="4777740"/>
            <a:ext cx="228600" cy="228600"/>
          </a:xfrm>
          <a:prstGeom prst="rect">
            <a:avLst/>
          </a:prstGeom>
        </p:spPr>
      </p:pic>
      <p:sp>
        <p:nvSpPr>
          <p:cNvPr id="36" name="Text 30"/>
          <p:cNvSpPr txBox="1"/>
          <p:nvPr/>
        </p:nvSpPr>
        <p:spPr>
          <a:xfrm>
            <a:off x="1371600" y="4572000"/>
            <a:ext cx="1645920" cy="320040"/>
          </a:xfrm>
          <a:prstGeom prst="rect">
            <a:avLst/>
          </a:prstGeom>
          <a:noFill/>
          <a:ln/>
        </p:spPr>
        <p:txBody>
          <a:bodyPr wrap="square" lIns="0" tIns="0" rIns="0" bIns="0" rtlCol="0" anchor="t"/>
          <a:lstStyle/>
          <a:p>
            <a:pPr indent="0" marL="0">
              <a:buNone/>
            </a:pPr>
            <a:r>
              <a:rPr lang="en-US" sz="1600" b="1" dirty="0">
                <a:solidFill>
                  <a:schemeClr val="tx1"/>
                </a:solidFill>
                <a:latin typeface="Century Gothic" pitchFamily="34" charset="0"/>
                <a:ea typeface="Century Gothic" pitchFamily="34" charset="-122"/>
                <a:cs typeface="Century Gothic" pitchFamily="34" charset="-120"/>
              </a:rPr>
              <a:t>Edge node</a:t>
            </a:r>
            <a:endParaRPr lang="en-US" sz="1600" dirty="0"/>
          </a:p>
        </p:txBody>
      </p:sp>
      <p:sp>
        <p:nvSpPr>
          <p:cNvPr id="37" name="Text 31"/>
          <p:cNvSpPr txBox="1"/>
          <p:nvPr/>
        </p:nvSpPr>
        <p:spPr>
          <a:xfrm>
            <a:off x="1371600" y="4892040"/>
            <a:ext cx="1737360" cy="457200"/>
          </a:xfrm>
          <a:prstGeom prst="rect">
            <a:avLst/>
          </a:prstGeom>
          <a:noFill/>
          <a:ln/>
        </p:spPr>
        <p:txBody>
          <a:bodyPr wrap="square" lIns="0" tIns="0" rIns="0" bIns="0" rtlCol="0" anchor="t"/>
          <a:lstStyle/>
          <a:p>
            <a:pPr indent="0" marL="0">
              <a:buNone/>
            </a:pPr>
            <a:r>
              <a:rPr lang="en-US" sz="1100" dirty="0">
                <a:solidFill>
                  <a:schemeClr val="tx2"/>
                </a:solidFill>
                <a:latin typeface="Calibri" pitchFamily="34" charset="0"/>
                <a:ea typeface="Calibri" pitchFamily="34" charset="-122"/>
                <a:cs typeface="Calibri" pitchFamily="34" charset="-120"/>
              </a:rPr>
              <a:t>~500 cameras each</a:t>
            </a:r>
            <a:endParaRPr lang="en-US" sz="1100" dirty="0"/>
          </a:p>
        </p:txBody>
      </p:sp>
      <p:sp>
        <p:nvSpPr>
          <p:cNvPr id="38" name="Text 32"/>
          <p:cNvSpPr txBox="1"/>
          <p:nvPr/>
        </p:nvSpPr>
        <p:spPr>
          <a:xfrm>
            <a:off x="1371600" y="5138928"/>
            <a:ext cx="1097280" cy="228600"/>
          </a:xfrm>
          <a:prstGeom prst="rect">
            <a:avLst/>
          </a:prstGeom>
          <a:noFill/>
          <a:ln/>
        </p:spPr>
        <p:txBody>
          <a:bodyPr wrap="square" lIns="0" tIns="0" rIns="0" bIns="0" rtlCol="0" anchor="t"/>
          <a:lstStyle/>
          <a:p>
            <a:pPr indent="0" marL="0">
              <a:buNone/>
            </a:pPr>
            <a:r>
              <a:rPr lang="en-US" sz="1000" b="1" dirty="0">
                <a:solidFill>
                  <a:schemeClr val="accent1"/>
                </a:solidFill>
                <a:latin typeface="Consolas" pitchFamily="34" charset="0"/>
                <a:ea typeface="Consolas" pitchFamily="34" charset="-122"/>
                <a:cs typeface="Consolas" pitchFamily="34" charset="-120"/>
              </a:rPr>
              <a:t>x 160</a:t>
            </a:r>
            <a:endParaRPr lang="en-US" sz="1000" dirty="0"/>
          </a:p>
        </p:txBody>
      </p:sp>
      <p:sp>
        <p:nvSpPr>
          <p:cNvPr id="39" name="Shape 33"/>
          <p:cNvSpPr/>
          <p:nvPr/>
        </p:nvSpPr>
        <p:spPr>
          <a:xfrm>
            <a:off x="3246120" y="459028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40" name="Text 34"/>
          <p:cNvSpPr txBox="1"/>
          <p:nvPr/>
        </p:nvSpPr>
        <p:spPr>
          <a:xfrm>
            <a:off x="3337560" y="459028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gateway: capture, gate, analyzers</a:t>
            </a:r>
            <a:endParaRPr lang="en-US" sz="1150" dirty="0"/>
          </a:p>
        </p:txBody>
      </p:sp>
      <p:sp>
        <p:nvSpPr>
          <p:cNvPr id="41" name="Shape 35"/>
          <p:cNvSpPr/>
          <p:nvPr/>
        </p:nvSpPr>
        <p:spPr>
          <a:xfrm>
            <a:off x="5376672" y="459028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42" name="Text 36"/>
          <p:cNvSpPr txBox="1"/>
          <p:nvPr/>
        </p:nvSpPr>
        <p:spPr>
          <a:xfrm>
            <a:off x="5468112" y="459028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MediaMTX: WebRTC / HLS relay</a:t>
            </a:r>
            <a:endParaRPr lang="en-US" sz="1150" dirty="0"/>
          </a:p>
        </p:txBody>
      </p:sp>
      <p:sp>
        <p:nvSpPr>
          <p:cNvPr id="43" name="Shape 37"/>
          <p:cNvSpPr/>
          <p:nvPr/>
        </p:nvSpPr>
        <p:spPr>
          <a:xfrm>
            <a:off x="7507224" y="459028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44" name="Text 38"/>
          <p:cNvSpPr txBox="1"/>
          <p:nvPr/>
        </p:nvSpPr>
        <p:spPr>
          <a:xfrm>
            <a:off x="7598664" y="459028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Recorder: hot + warm tiers</a:t>
            </a:r>
            <a:endParaRPr lang="en-US" sz="1150" dirty="0"/>
          </a:p>
        </p:txBody>
      </p:sp>
      <p:sp>
        <p:nvSpPr>
          <p:cNvPr id="45" name="Shape 39"/>
          <p:cNvSpPr/>
          <p:nvPr/>
        </p:nvSpPr>
        <p:spPr>
          <a:xfrm>
            <a:off x="9637776" y="4590288"/>
            <a:ext cx="1920240" cy="603504"/>
          </a:xfrm>
          <a:prstGeom prst="roundRect">
            <a:avLst>
              <a:gd name="adj" fmla="val 12121"/>
            </a:avLst>
          </a:prstGeom>
          <a:solidFill>
            <a:schemeClr val="accent1">
              <a:alpha val="8000"/>
            </a:schemeClr>
          </a:solidFill>
          <a:ln w="6350">
            <a:solidFill>
              <a:schemeClr val="accent1">
                <a:alpha val="25000"/>
              </a:schemeClr>
            </a:solidFill>
            <a:prstDash val="solid"/>
          </a:ln>
        </p:spPr>
      </p:sp>
      <p:sp>
        <p:nvSpPr>
          <p:cNvPr id="46" name="Text 40"/>
          <p:cNvSpPr txBox="1"/>
          <p:nvPr/>
        </p:nvSpPr>
        <p:spPr>
          <a:xfrm>
            <a:off x="9729216" y="4590288"/>
            <a:ext cx="1737360" cy="603504"/>
          </a:xfrm>
          <a:prstGeom prst="rect">
            <a:avLst/>
          </a:prstGeom>
          <a:noFill/>
          <a:ln/>
        </p:spPr>
        <p:txBody>
          <a:bodyPr wrap="square" lIns="0" tIns="0" rIns="0" bIns="0" rtlCol="0" anchor="ctr"/>
          <a:lstStyle/>
          <a:p>
            <a:pPr algn="ctr" indent="0" marL="0">
              <a:buNone/>
            </a:pPr>
            <a:r>
              <a:rPr lang="en-US" sz="1150" dirty="0">
                <a:solidFill>
                  <a:schemeClr val="tx1"/>
                </a:solidFill>
                <a:latin typeface="Calibri" pitchFamily="34" charset="0"/>
                <a:ea typeface="Calibri" pitchFamily="34" charset="-122"/>
                <a:cs typeface="Calibri" pitchFamily="34" charset="-120"/>
              </a:rPr>
              <a:t>Outbox on disk, signed uplink</a:t>
            </a:r>
            <a:endParaRPr lang="en-US" sz="1150" dirty="0"/>
          </a:p>
        </p:txBody>
      </p:sp>
      <p:sp>
        <p:nvSpPr>
          <p:cNvPr id="47" name="Shape 41"/>
          <p:cNvSpPr/>
          <p:nvPr/>
        </p:nvSpPr>
        <p:spPr>
          <a:xfrm>
            <a:off x="548640" y="5852160"/>
            <a:ext cx="11094415" cy="457200"/>
          </a:xfrm>
          <a:prstGeom prst="roundRect">
            <a:avLst>
              <a:gd name="adj" fmla="val 24000"/>
            </a:avLst>
          </a:prstGeom>
          <a:solidFill>
            <a:schemeClr val="bg1"/>
          </a:solidFill>
          <a:ln w="9525">
            <a:solidFill>
              <a:schemeClr val="accent6"/>
            </a:solidFill>
            <a:prstDash val="solid"/>
          </a:ln>
        </p:spPr>
      </p:sp>
      <p:sp>
        <p:nvSpPr>
          <p:cNvPr id="48" name="Shape 42"/>
          <p:cNvSpPr/>
          <p:nvPr/>
        </p:nvSpPr>
        <p:spPr>
          <a:xfrm>
            <a:off x="731520" y="5897880"/>
            <a:ext cx="365760" cy="365760"/>
          </a:xfrm>
          <a:prstGeom prst="ellipse">
            <a:avLst/>
          </a:prstGeom>
          <a:solidFill>
            <a:schemeClr val="accent1">
              <a:alpha val="12000"/>
            </a:schemeClr>
          </a:solidFill>
          <a:ln w="6350">
            <a:solidFill>
              <a:schemeClr val="accent1">
                <a:alpha val="30000"/>
              </a:schemeClr>
            </a:solidFill>
            <a:prstDash val="solid"/>
          </a:ln>
        </p:spPr>
      </p:sp>
      <p:pic>
        <p:nvPicPr>
          <p:cNvPr id="49" name="Image 3" descr="preencoded.png">    </p:cNvPr>
          <p:cNvPicPr>
            <a:picLocks noChangeAspect="1"/>
          </p:cNvPicPr>
          <p:nvPr/>
        </p:nvPicPr>
        <p:blipFill>
          <a:blip r:embed="rId4"/>
          <a:stretch>
            <a:fillRect/>
          </a:stretch>
        </p:blipFill>
        <p:spPr>
          <a:xfrm>
            <a:off x="822960" y="5989320"/>
            <a:ext cx="182880" cy="182880"/>
          </a:xfrm>
          <a:prstGeom prst="rect">
            <a:avLst/>
          </a:prstGeom>
        </p:spPr>
      </p:pic>
      <p:sp>
        <p:nvSpPr>
          <p:cNvPr id="50" name="Text 43"/>
          <p:cNvSpPr txBox="1"/>
          <p:nvPr/>
        </p:nvSpPr>
        <p:spPr>
          <a:xfrm>
            <a:off x="1280160" y="5852160"/>
            <a:ext cx="10180015"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Cameras and department systems: RTSP, ONVIF, Hikvision, Dahua, grid, VMS connectors</a:t>
            </a:r>
            <a:endParaRPr lang="en-US" sz="1200" dirty="0"/>
          </a:p>
        </p:txBody>
      </p:sp>
      <p:sp>
        <p:nvSpPr>
          <p:cNvPr id="51" name="Shape 44"/>
          <p:cNvSpPr/>
          <p:nvPr/>
        </p:nvSpPr>
        <p:spPr>
          <a:xfrm>
            <a:off x="1463040" y="2606040"/>
            <a:ext cx="0" cy="365760"/>
          </a:xfrm>
          <a:prstGeom prst="line">
            <a:avLst/>
          </a:prstGeom>
          <a:noFill/>
          <a:ln w="22225">
            <a:solidFill>
              <a:schemeClr val="accent1"/>
            </a:solidFill>
            <a:prstDash val="solid"/>
            <a:headEnd type="triangle"/>
            <a:tailEnd type="triangle"/>
          </a:ln>
        </p:spPr>
      </p:sp>
      <p:sp>
        <p:nvSpPr>
          <p:cNvPr id="52" name="Text 45"/>
          <p:cNvSpPr txBox="1"/>
          <p:nvPr/>
        </p:nvSpPr>
        <p:spPr>
          <a:xfrm>
            <a:off x="1691640" y="2606040"/>
            <a:ext cx="9601200" cy="365760"/>
          </a:xfrm>
          <a:prstGeom prst="rect">
            <a:avLst/>
          </a:prstGeom>
          <a:noFill/>
          <a:ln/>
        </p:spPr>
        <p:txBody>
          <a:bodyPr wrap="square" lIns="0" tIns="0" rIns="0" bIns="0" rtlCol="0" anchor="ctr"/>
          <a:lstStyle/>
          <a:p>
            <a:pPr indent="0" marL="0">
              <a:buNone/>
            </a:pPr>
            <a:r>
              <a:rPr lang="en-US" sz="1150" dirty="0">
                <a:solidFill>
                  <a:schemeClr val="tx2"/>
                </a:solidFill>
                <a:latin typeface="Calibri" pitchFamily="34" charset="0"/>
                <a:ea typeface="Calibri" pitchFamily="34" charset="-122"/>
                <a:cs typeface="Calibri" pitchFamily="34" charset="-120"/>
              </a:rPr>
              <a:t>Results, alerts, evidence thumbnails: ~4.5 Mbps total, HMAC-signed, store-and-forward</a:t>
            </a:r>
            <a:endParaRPr lang="en-US" sz="1150" dirty="0"/>
          </a:p>
        </p:txBody>
      </p:sp>
      <p:sp>
        <p:nvSpPr>
          <p:cNvPr id="53" name="Shape 46"/>
          <p:cNvSpPr/>
          <p:nvPr/>
        </p:nvSpPr>
        <p:spPr>
          <a:xfrm>
            <a:off x="1463040" y="4023360"/>
            <a:ext cx="0" cy="365760"/>
          </a:xfrm>
          <a:prstGeom prst="line">
            <a:avLst/>
          </a:prstGeom>
          <a:noFill/>
          <a:ln w="22225">
            <a:solidFill>
              <a:schemeClr val="accent1"/>
            </a:solidFill>
            <a:prstDash val="solid"/>
            <a:headEnd type="triangle"/>
            <a:tailEnd type="triangle"/>
          </a:ln>
        </p:spPr>
      </p:sp>
      <p:sp>
        <p:nvSpPr>
          <p:cNvPr id="54" name="Text 47"/>
          <p:cNvSpPr txBox="1"/>
          <p:nvPr/>
        </p:nvSpPr>
        <p:spPr>
          <a:xfrm>
            <a:off x="1691640" y="4023360"/>
            <a:ext cx="9601200" cy="365760"/>
          </a:xfrm>
          <a:prstGeom prst="rect">
            <a:avLst/>
          </a:prstGeom>
          <a:noFill/>
          <a:ln/>
        </p:spPr>
        <p:txBody>
          <a:bodyPr wrap="square" lIns="0" tIns="0" rIns="0" bIns="0" rtlCol="0" anchor="ctr"/>
          <a:lstStyle/>
          <a:p>
            <a:pPr indent="0" marL="0">
              <a:buNone/>
            </a:pPr>
            <a:r>
              <a:rPr lang="en-US" sz="1150" dirty="0">
                <a:solidFill>
                  <a:schemeClr val="tx2"/>
                </a:solidFill>
                <a:latin typeface="Calibri" pitchFamily="34" charset="0"/>
                <a:ea typeface="Calibri" pitchFamily="34" charset="-122"/>
                <a:cs typeface="Calibri" pitchFamily="34" charset="-120"/>
              </a:rPr>
              <a:t>Frames to GPU pool, results, clips on demand: ~3 Mbps steady per edge</a:t>
            </a:r>
            <a:endParaRPr lang="en-US" sz="1150" dirty="0"/>
          </a:p>
        </p:txBody>
      </p:sp>
      <p:sp>
        <p:nvSpPr>
          <p:cNvPr id="55" name="Shape 48"/>
          <p:cNvSpPr/>
          <p:nvPr/>
        </p:nvSpPr>
        <p:spPr>
          <a:xfrm>
            <a:off x="1463040" y="5440680"/>
            <a:ext cx="0" cy="365760"/>
          </a:xfrm>
          <a:prstGeom prst="line">
            <a:avLst/>
          </a:prstGeom>
          <a:noFill/>
          <a:ln w="22225">
            <a:solidFill>
              <a:schemeClr val="accent1"/>
            </a:solidFill>
            <a:prstDash val="solid"/>
            <a:tailEnd type="triangle"/>
          </a:ln>
        </p:spPr>
      </p:sp>
      <p:sp>
        <p:nvSpPr>
          <p:cNvPr id="56" name="Text 49"/>
          <p:cNvSpPr txBox="1"/>
          <p:nvPr/>
        </p:nvSpPr>
        <p:spPr>
          <a:xfrm>
            <a:off x="1691640" y="5440680"/>
            <a:ext cx="9601200" cy="365760"/>
          </a:xfrm>
          <a:prstGeom prst="rect">
            <a:avLst/>
          </a:prstGeom>
          <a:noFill/>
          <a:ln/>
        </p:spPr>
        <p:txBody>
          <a:bodyPr wrap="square" lIns="0" tIns="0" rIns="0" bIns="0" rtlCol="0" anchor="ctr"/>
          <a:lstStyle/>
          <a:p>
            <a:pPr indent="0" marL="0">
              <a:buNone/>
            </a:pPr>
            <a:r>
              <a:rPr lang="en-US" sz="1150" dirty="0">
                <a:solidFill>
                  <a:schemeClr val="tx2"/>
                </a:solidFill>
                <a:latin typeface="Calibri" pitchFamily="34" charset="0"/>
                <a:ea typeface="Calibri" pitchFamily="34" charset="-122"/>
                <a:cs typeface="Calibri" pitchFamily="34" charset="-120"/>
              </a:rPr>
              <a:t>Raw video stays in the district: 160 Gbps in total, never on the backbone</a:t>
            </a:r>
            <a:endParaRPr lang="en-US" sz="1150" dirty="0"/>
          </a:p>
        </p:txBody>
      </p:sp>
      <p:sp>
        <p:nvSpPr>
          <p:cNvPr id="57" name="Shape 50"/>
          <p:cNvSpPr/>
          <p:nvPr/>
        </p:nvSpPr>
        <p:spPr>
          <a:xfrm>
            <a:off x="1463040" y="5440680"/>
            <a:ext cx="0" cy="365760"/>
          </a:xfrm>
          <a:prstGeom prst="line">
            <a:avLst/>
          </a:prstGeom>
          <a:noFill/>
          <a:ln w="22225">
            <a:solidFill>
              <a:schemeClr val="accent1"/>
            </a:solidFill>
            <a:prstDash val="solid"/>
            <a:headEnd type="triangle"/>
          </a:ln>
        </p:spPr>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01 · COMPUTE</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Compute by tier: central, regional and edge requirements</a:t>
            </a:r>
            <a:endParaRPr lang="en-US" sz="2400" dirty="0"/>
          </a:p>
        </p:txBody>
      </p:sp>
      <p:sp>
        <p:nvSpPr>
          <p:cNvPr id="5" name="Shape 2"/>
          <p:cNvSpPr/>
          <p:nvPr/>
        </p:nvSpPr>
        <p:spPr>
          <a:xfrm>
            <a:off x="548640" y="1600200"/>
            <a:ext cx="3515258" cy="3977640"/>
          </a:xfrm>
          <a:prstGeom prst="roundRect">
            <a:avLst>
              <a:gd name="adj" fmla="val 3121"/>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Shape 3"/>
          <p:cNvSpPr/>
          <p:nvPr/>
        </p:nvSpPr>
        <p:spPr>
          <a:xfrm>
            <a:off x="777240" y="1810512"/>
            <a:ext cx="475488" cy="475488"/>
          </a:xfrm>
          <a:prstGeom prst="ellipse">
            <a:avLst/>
          </a:prstGeom>
          <a:solidFill>
            <a:schemeClr val="accent1">
              <a:alpha val="12000"/>
            </a:schemeClr>
          </a:solidFill>
          <a:ln w="6350">
            <a:solidFill>
              <a:schemeClr val="accent1">
                <a:alpha val="30000"/>
              </a:schemeClr>
            </a:solidFill>
            <a:prstDash val="solid"/>
          </a:ln>
        </p:spPr>
      </p:sp>
      <p:pic>
        <p:nvPicPr>
          <p:cNvPr id="7" name="Image 0" descr="preencoded.png">    </p:cNvPr>
          <p:cNvPicPr>
            <a:picLocks noChangeAspect="1"/>
          </p:cNvPicPr>
          <p:nvPr/>
        </p:nvPicPr>
        <p:blipFill>
          <a:blip r:embed="rId1"/>
          <a:stretch>
            <a:fillRect/>
          </a:stretch>
        </p:blipFill>
        <p:spPr>
          <a:xfrm>
            <a:off x="896112" y="1929384"/>
            <a:ext cx="237744" cy="237744"/>
          </a:xfrm>
          <a:prstGeom prst="rect">
            <a:avLst/>
          </a:prstGeom>
        </p:spPr>
      </p:pic>
      <p:sp>
        <p:nvSpPr>
          <p:cNvPr id="8" name="Text 4"/>
          <p:cNvSpPr txBox="1"/>
          <p:nvPr/>
        </p:nvSpPr>
        <p:spPr>
          <a:xfrm>
            <a:off x="1371600" y="1810512"/>
            <a:ext cx="2509418" cy="292608"/>
          </a:xfrm>
          <a:prstGeom prst="rect">
            <a:avLst/>
          </a:prstGeom>
          <a:noFill/>
          <a:ln/>
        </p:spPr>
        <p:txBody>
          <a:bodyPr wrap="square" lIns="0" tIns="0" rIns="0" bIns="0" rtlCol="0" anchor="t"/>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Central</a:t>
            </a:r>
            <a:endParaRPr lang="en-US" sz="1800" dirty="0"/>
          </a:p>
        </p:txBody>
      </p:sp>
      <p:sp>
        <p:nvSpPr>
          <p:cNvPr id="9" name="Text 5"/>
          <p:cNvSpPr txBox="1"/>
          <p:nvPr/>
        </p:nvSpPr>
        <p:spPr>
          <a:xfrm>
            <a:off x="1371600" y="2139696"/>
            <a:ext cx="2509418" cy="27432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1 primary site + 1 DR site</a:t>
            </a:r>
            <a:endParaRPr lang="en-US" sz="1000" dirty="0"/>
          </a:p>
        </p:txBody>
      </p:sp>
      <p:sp>
        <p:nvSpPr>
          <p:cNvPr id="10" name="Text 6"/>
          <p:cNvSpPr txBox="1"/>
          <p:nvPr/>
        </p:nvSpPr>
        <p:spPr>
          <a:xfrm>
            <a:off x="804672" y="2697480"/>
            <a:ext cx="3003194" cy="28346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API / UI: 6 × 16 vCPU, 64 GB, stateless behind a load balancer</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Scheduler 1 + standby; 8 workers for any camera without an edge node</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Postgres / Timescale: 3 nodes, 64 vCPU, 512 GB, 40 TB NVMe</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Bus: 5 Redis / Kafka brokers; 4 observability nodes</a:t>
            </a:r>
            <a:endParaRPr lang="en-US" sz="1400" dirty="0"/>
          </a:p>
        </p:txBody>
      </p:sp>
      <p:sp>
        <p:nvSpPr>
          <p:cNvPr id="11" name="Shape 7"/>
          <p:cNvSpPr/>
          <p:nvPr/>
        </p:nvSpPr>
        <p:spPr>
          <a:xfrm>
            <a:off x="4338218" y="1600200"/>
            <a:ext cx="3515258" cy="3977640"/>
          </a:xfrm>
          <a:prstGeom prst="roundRect">
            <a:avLst>
              <a:gd name="adj" fmla="val 3121"/>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2" name="Shape 8"/>
          <p:cNvSpPr/>
          <p:nvPr/>
        </p:nvSpPr>
        <p:spPr>
          <a:xfrm>
            <a:off x="4566818" y="1810512"/>
            <a:ext cx="475488" cy="475488"/>
          </a:xfrm>
          <a:prstGeom prst="ellipse">
            <a:avLst/>
          </a:prstGeom>
          <a:solidFill>
            <a:schemeClr val="accent1">
              <a:alpha val="12000"/>
            </a:schemeClr>
          </a:solidFill>
          <a:ln w="6350">
            <a:solidFill>
              <a:schemeClr val="accent1">
                <a:alpha val="30000"/>
              </a:schemeClr>
            </a:solidFill>
            <a:prstDash val="solid"/>
          </a:ln>
        </p:spPr>
      </p:sp>
      <p:pic>
        <p:nvPicPr>
          <p:cNvPr id="13" name="Image 1" descr="preencoded.png">    </p:cNvPr>
          <p:cNvPicPr>
            <a:picLocks noChangeAspect="1"/>
          </p:cNvPicPr>
          <p:nvPr/>
        </p:nvPicPr>
        <p:blipFill>
          <a:blip r:embed="rId2"/>
          <a:stretch>
            <a:fillRect/>
          </a:stretch>
        </p:blipFill>
        <p:spPr>
          <a:xfrm>
            <a:off x="4685690" y="1929384"/>
            <a:ext cx="237744" cy="237744"/>
          </a:xfrm>
          <a:prstGeom prst="rect">
            <a:avLst/>
          </a:prstGeom>
        </p:spPr>
      </p:pic>
      <p:sp>
        <p:nvSpPr>
          <p:cNvPr id="14" name="Text 9"/>
          <p:cNvSpPr txBox="1"/>
          <p:nvPr/>
        </p:nvSpPr>
        <p:spPr>
          <a:xfrm>
            <a:off x="5161178" y="1810512"/>
            <a:ext cx="2509418" cy="292608"/>
          </a:xfrm>
          <a:prstGeom prst="rect">
            <a:avLst/>
          </a:prstGeom>
          <a:noFill/>
          <a:ln/>
        </p:spPr>
        <p:txBody>
          <a:bodyPr wrap="square" lIns="0" tIns="0" rIns="0" bIns="0" rtlCol="0" anchor="t"/>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Regional hub</a:t>
            </a:r>
            <a:endParaRPr lang="en-US" sz="1800" dirty="0"/>
          </a:p>
        </p:txBody>
      </p:sp>
      <p:sp>
        <p:nvSpPr>
          <p:cNvPr id="15" name="Text 10"/>
          <p:cNvSpPr txBox="1"/>
          <p:nvPr/>
        </p:nvSpPr>
        <p:spPr>
          <a:xfrm>
            <a:off x="5161178" y="2139696"/>
            <a:ext cx="2509418" cy="27432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8 hubs · ~10,000 cameras each</a:t>
            </a:r>
            <a:endParaRPr lang="en-US" sz="1000" dirty="0"/>
          </a:p>
        </p:txBody>
      </p:sp>
      <p:sp>
        <p:nvSpPr>
          <p:cNvPr id="16" name="Text 11"/>
          <p:cNvSpPr txBox="1"/>
          <p:nvPr/>
        </p:nvSpPr>
        <p:spPr>
          <a:xfrm>
            <a:off x="4594250" y="2697480"/>
            <a:ext cx="3003194" cy="28346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6 servers, 32 vCPU, 128 GB: bus mirror, DB replica, S3 gateway, video relay</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2 GPU hosts with 2 to 3 × L4 each</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Ceph cold-tier nodes: ~0.86 PB logical per hub</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25 GbE inside the hub, 1 Gbps uplink to the centre</a:t>
            </a:r>
            <a:endParaRPr lang="en-US" sz="1400" dirty="0"/>
          </a:p>
        </p:txBody>
      </p:sp>
      <p:sp>
        <p:nvSpPr>
          <p:cNvPr id="17" name="Shape 12"/>
          <p:cNvSpPr/>
          <p:nvPr/>
        </p:nvSpPr>
        <p:spPr>
          <a:xfrm>
            <a:off x="8127797" y="1600200"/>
            <a:ext cx="3515258" cy="3977640"/>
          </a:xfrm>
          <a:prstGeom prst="roundRect">
            <a:avLst>
              <a:gd name="adj" fmla="val 3121"/>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8" name="Shape 13"/>
          <p:cNvSpPr/>
          <p:nvPr/>
        </p:nvSpPr>
        <p:spPr>
          <a:xfrm>
            <a:off x="8356397" y="1810512"/>
            <a:ext cx="475488" cy="475488"/>
          </a:xfrm>
          <a:prstGeom prst="ellipse">
            <a:avLst/>
          </a:prstGeom>
          <a:solidFill>
            <a:schemeClr val="accent1">
              <a:alpha val="12000"/>
            </a:schemeClr>
          </a:solidFill>
          <a:ln w="6350">
            <a:solidFill>
              <a:schemeClr val="accent1">
                <a:alpha val="30000"/>
              </a:schemeClr>
            </a:solidFill>
            <a:prstDash val="solid"/>
          </a:ln>
        </p:spPr>
      </p:sp>
      <p:pic>
        <p:nvPicPr>
          <p:cNvPr id="19" name="Image 2" descr="preencoded.png">    </p:cNvPr>
          <p:cNvPicPr>
            <a:picLocks noChangeAspect="1"/>
          </p:cNvPicPr>
          <p:nvPr/>
        </p:nvPicPr>
        <p:blipFill>
          <a:blip r:embed="rId3"/>
          <a:stretch>
            <a:fillRect/>
          </a:stretch>
        </p:blipFill>
        <p:spPr>
          <a:xfrm>
            <a:off x="8475269" y="1929384"/>
            <a:ext cx="237744" cy="237744"/>
          </a:xfrm>
          <a:prstGeom prst="rect">
            <a:avLst/>
          </a:prstGeom>
        </p:spPr>
      </p:pic>
      <p:sp>
        <p:nvSpPr>
          <p:cNvPr id="20" name="Text 14"/>
          <p:cNvSpPr txBox="1"/>
          <p:nvPr/>
        </p:nvSpPr>
        <p:spPr>
          <a:xfrm>
            <a:off x="8950757" y="1810512"/>
            <a:ext cx="2509418" cy="292608"/>
          </a:xfrm>
          <a:prstGeom prst="rect">
            <a:avLst/>
          </a:prstGeom>
          <a:noFill/>
          <a:ln/>
        </p:spPr>
        <p:txBody>
          <a:bodyPr wrap="square" lIns="0" tIns="0" rIns="0" bIns="0" rtlCol="0" anchor="t"/>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Edge node</a:t>
            </a:r>
            <a:endParaRPr lang="en-US" sz="1800" dirty="0"/>
          </a:p>
        </p:txBody>
      </p:sp>
      <p:sp>
        <p:nvSpPr>
          <p:cNvPr id="21" name="Text 15"/>
          <p:cNvSpPr txBox="1"/>
          <p:nvPr/>
        </p:nvSpPr>
        <p:spPr>
          <a:xfrm>
            <a:off x="8950757" y="2139696"/>
            <a:ext cx="2509418" cy="274320"/>
          </a:xfrm>
          <a:prstGeom prst="rect">
            <a:avLst/>
          </a:prstGeom>
          <a:noFill/>
          <a:ln/>
        </p:spPr>
        <p:txBody>
          <a:bodyPr wrap="square" lIns="0" tIns="0" rIns="0" bIns="0" rtlCol="0" anchor="t"/>
          <a:lstStyle/>
          <a:p>
            <a:pPr indent="0" marL="0">
              <a:buNone/>
            </a:pPr>
            <a:r>
              <a:rPr lang="en-US" sz="1000" dirty="0">
                <a:solidFill>
                  <a:schemeClr val="tx2"/>
                </a:solidFill>
                <a:latin typeface="Consolas" pitchFamily="34" charset="0"/>
                <a:ea typeface="Consolas" pitchFamily="34" charset="-122"/>
                <a:cs typeface="Consolas" pitchFamily="34" charset="-120"/>
              </a:rPr>
              <a:t>160 nodes + 16 spares</a:t>
            </a:r>
            <a:endParaRPr lang="en-US" sz="1000" dirty="0"/>
          </a:p>
        </p:txBody>
      </p:sp>
      <p:sp>
        <p:nvSpPr>
          <p:cNvPr id="22" name="Text 16"/>
          <p:cNvSpPr txBox="1"/>
          <p:nvPr/>
        </p:nvSpPr>
        <p:spPr>
          <a:xfrm>
            <a:off x="8383829" y="2697480"/>
            <a:ext cx="3003194" cy="283464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16 vCPU, 64 GB, 10 GbE; runs gateway, MediaMTX and the recorder</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Writes ~62 MB/s sustained at 1 Mbps per camera (125 MB/s at 2 Mbps)</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Disk: 10.8 TB hot and 27 TB warm per node</a:t>
            </a:r>
            <a:endParaRPr lang="en-US" sz="1400" dirty="0"/>
          </a:p>
          <a:p>
            <a:pPr marL="177800" indent="-177800">
              <a:spcAft>
                <a:spcPts val="900"/>
              </a:spcAft>
              <a:buSzPct val="100000"/>
              <a:buChar char="•"/>
            </a:pPr>
            <a:r>
              <a:rPr lang="en-US" sz="1400" dirty="0">
                <a:solidFill>
                  <a:schemeClr val="tx1"/>
                </a:solidFill>
                <a:latin typeface="Calibri" pitchFamily="34" charset="0"/>
                <a:ea typeface="Calibri" pitchFamily="34" charset="-122"/>
                <a:cs typeface="Calibri" pitchFamily="34" charset="-120"/>
              </a:rPr>
              <a:t>Needs ~3 modern cores; 16 vCPU leaves headroom for re-encode and peaks</a:t>
            </a:r>
            <a:endParaRPr lang="en-US" sz="1400" dirty="0"/>
          </a:p>
        </p:txBody>
      </p:sp>
      <p:sp>
        <p:nvSpPr>
          <p:cNvPr id="23" name="Shape 17"/>
          <p:cNvSpPr/>
          <p:nvPr/>
        </p:nvSpPr>
        <p:spPr>
          <a:xfrm>
            <a:off x="548640" y="5715000"/>
            <a:ext cx="11094415" cy="566928"/>
          </a:xfrm>
          <a:prstGeom prst="roundRect">
            <a:avLst>
              <a:gd name="adj" fmla="val 19355"/>
            </a:avLst>
          </a:prstGeom>
          <a:solidFill>
            <a:schemeClr val="accent1">
              <a:alpha val="8000"/>
            </a:schemeClr>
          </a:solidFill>
          <a:ln w="9525">
            <a:solidFill>
              <a:schemeClr val="accent6"/>
            </a:solidFill>
            <a:prstDash val="solid"/>
          </a:ln>
        </p:spPr>
      </p:sp>
      <p:sp>
        <p:nvSpPr>
          <p:cNvPr id="24" name="Text 18"/>
          <p:cNvSpPr txBox="1"/>
          <p:nvPr/>
        </p:nvSpPr>
        <p:spPr>
          <a:xfrm>
            <a:off x="777240" y="5715000"/>
            <a:ext cx="10637215" cy="56692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Basis.  </a:t>
            </a:r>
            <a:pPr indent="0" marL="0">
              <a:buNone/>
            </a:pPr>
            <a:r>
              <a:rPr lang="en-US" sz="1200" dirty="0">
                <a:solidFill>
                  <a:schemeClr val="tx1"/>
                </a:solidFill>
                <a:latin typeface="Calibri" pitchFamily="34" charset="0"/>
                <a:ea typeface="Calibri" pitchFamily="34" charset="-122"/>
                <a:cs typeface="Calibri" pitchFamily="34" charset="-120"/>
              </a:rPr>
              <a:t>Platform code costs 0.54 ms per analysed frame, flat from 500 to 80,000 cameras (measured). Hardware is provisioned at about 4× the modelled need because every measurement came from one shared Celeron laptop.</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01 · COMPUTE</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The platform’s own code is not the limit at 80,000 cameras</a:t>
            </a:r>
            <a:endParaRPr lang="en-US" sz="2400" dirty="0"/>
          </a:p>
        </p:txBody>
      </p:sp>
      <p:sp>
        <p:nvSpPr>
          <p:cNvPr id="5" name="Shape 2"/>
          <p:cNvSpPr/>
          <p:nvPr/>
        </p:nvSpPr>
        <p:spPr>
          <a:xfrm>
            <a:off x="548640" y="1600200"/>
            <a:ext cx="5943600" cy="3977640"/>
          </a:xfrm>
          <a:prstGeom prst="roundRect">
            <a:avLst>
              <a:gd name="adj" fmla="val 2759"/>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Text 3"/>
          <p:cNvSpPr txBox="1"/>
          <p:nvPr/>
        </p:nvSpPr>
        <p:spPr>
          <a:xfrm>
            <a:off x="822960" y="1755648"/>
            <a:ext cx="5394960"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Scheduler tick, average milliseconds, by fleet size</a:t>
            </a:r>
            <a:endParaRPr lang="en-US" sz="1300" dirty="0"/>
          </a:p>
        </p:txBody>
      </p:sp>
      <p:graphicFrame>
        <p:nvGraphicFramePr>
          <p:cNvPr id="7" name="Chart 0" descr=""/>
          <p:cNvGraphicFramePr/>
          <p:nvPr/>
        </p:nvGraphicFramePr>
        <p:xfrm>
          <a:off x="731520" y="2057400"/>
          <a:ext cx="5577840" cy="33832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6766560" y="1600200"/>
            <a:ext cx="2322576" cy="1920240"/>
          </a:xfrm>
          <a:prstGeom prst="roundRect">
            <a:avLst>
              <a:gd name="adj" fmla="val 5714"/>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9" name="Text 5"/>
          <p:cNvSpPr txBox="1"/>
          <p:nvPr/>
        </p:nvSpPr>
        <p:spPr>
          <a:xfrm>
            <a:off x="6967728" y="1783080"/>
            <a:ext cx="1956816" cy="457200"/>
          </a:xfrm>
          <a:prstGeom prst="rect">
            <a:avLst/>
          </a:prstGeom>
          <a:noFill/>
          <a:ln/>
        </p:spPr>
        <p:txBody>
          <a:bodyPr wrap="square" lIns="0" tIns="0" rIns="0" bIns="0" rtlCol="0" anchor="t"/>
          <a:lstStyle/>
          <a:p>
            <a:pPr indent="0" marL="0">
              <a:buNone/>
            </a:pPr>
            <a:r>
              <a:rPr lang="en-US" sz="2200" b="1" dirty="0">
                <a:solidFill>
                  <a:schemeClr val="accent1"/>
                </a:solidFill>
                <a:latin typeface="Century Gothic" pitchFamily="34" charset="0"/>
                <a:ea typeface="Century Gothic" pitchFamily="34" charset="-122"/>
                <a:cs typeface="Century Gothic" pitchFamily="34" charset="-120"/>
              </a:rPr>
              <a:t>0.54 ms</a:t>
            </a:r>
            <a:endParaRPr lang="en-US" sz="2200" dirty="0"/>
          </a:p>
        </p:txBody>
      </p:sp>
      <p:sp>
        <p:nvSpPr>
          <p:cNvPr id="10" name="Text 6"/>
          <p:cNvSpPr txBox="1"/>
          <p:nvPr/>
        </p:nvSpPr>
        <p:spPr>
          <a:xfrm>
            <a:off x="6967728" y="2331720"/>
            <a:ext cx="1956816"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CPU per analysed frame, flat across the whole range</a:t>
            </a:r>
            <a:endParaRPr lang="en-US" sz="1250" dirty="0"/>
          </a:p>
        </p:txBody>
      </p:sp>
      <p:sp>
        <p:nvSpPr>
          <p:cNvPr id="11" name="chip MEASURED"/>
          <p:cNvSpPr/>
          <p:nvPr/>
        </p:nvSpPr>
        <p:spPr>
          <a:xfrm>
            <a:off x="6967728" y="3136392"/>
            <a:ext cx="899770"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12" name="Text 8"/>
          <p:cNvSpPr txBox="1"/>
          <p:nvPr/>
        </p:nvSpPr>
        <p:spPr>
          <a:xfrm>
            <a:off x="6967728" y="3136392"/>
            <a:ext cx="899770"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p>
        </p:txBody>
      </p:sp>
      <p:sp>
        <p:nvSpPr>
          <p:cNvPr id="13" name="Shape 9"/>
          <p:cNvSpPr/>
          <p:nvPr/>
        </p:nvSpPr>
        <p:spPr>
          <a:xfrm>
            <a:off x="9326880" y="1600200"/>
            <a:ext cx="2322576" cy="1920240"/>
          </a:xfrm>
          <a:prstGeom prst="roundRect">
            <a:avLst>
              <a:gd name="adj" fmla="val 5714"/>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4" name="Text 10"/>
          <p:cNvSpPr txBox="1"/>
          <p:nvPr/>
        </p:nvSpPr>
        <p:spPr>
          <a:xfrm>
            <a:off x="9528048" y="1783080"/>
            <a:ext cx="1956816" cy="457200"/>
          </a:xfrm>
          <a:prstGeom prst="rect">
            <a:avLst/>
          </a:prstGeom>
          <a:noFill/>
          <a:ln/>
        </p:spPr>
        <p:txBody>
          <a:bodyPr wrap="square" lIns="0" tIns="0" rIns="0" bIns="0" rtlCol="0" anchor="t"/>
          <a:lstStyle/>
          <a:p>
            <a:pPr indent="0" marL="0">
              <a:buNone/>
            </a:pPr>
            <a:r>
              <a:rPr lang="en-US" sz="2200" b="1" dirty="0">
                <a:solidFill>
                  <a:schemeClr val="accent1"/>
                </a:solidFill>
                <a:latin typeface="Century Gothic" pitchFamily="34" charset="0"/>
                <a:ea typeface="Century Gothic" pitchFamily="34" charset="-122"/>
                <a:cs typeface="Century Gothic" pitchFamily="34" charset="-120"/>
              </a:rPr>
              <a:t>0 late runs</a:t>
            </a:r>
            <a:endParaRPr lang="en-US" sz="2200" dirty="0"/>
          </a:p>
        </p:txBody>
      </p:sp>
      <p:sp>
        <p:nvSpPr>
          <p:cNvPr id="15" name="Text 11"/>
          <p:cNvSpPr txBox="1"/>
          <p:nvPr/>
        </p:nvSpPr>
        <p:spPr>
          <a:xfrm>
            <a:off x="9528048" y="2331720"/>
            <a:ext cx="1956816"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in 150,194 analyses at 80,000 cameras</a:t>
            </a:r>
            <a:endParaRPr lang="en-US" sz="1250" dirty="0"/>
          </a:p>
        </p:txBody>
      </p:sp>
      <p:sp>
        <p:nvSpPr>
          <p:cNvPr id="16" name="chip MEASURED"/>
          <p:cNvSpPr/>
          <p:nvPr/>
        </p:nvSpPr>
        <p:spPr>
          <a:xfrm>
            <a:off x="9528048" y="3136392"/>
            <a:ext cx="899770"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17" name="Text 13"/>
          <p:cNvSpPr txBox="1"/>
          <p:nvPr/>
        </p:nvSpPr>
        <p:spPr>
          <a:xfrm>
            <a:off x="9528048" y="3136392"/>
            <a:ext cx="899770"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p>
        </p:txBody>
      </p:sp>
      <p:sp>
        <p:nvSpPr>
          <p:cNvPr id="18" name="Shape 14"/>
          <p:cNvSpPr/>
          <p:nvPr/>
        </p:nvSpPr>
        <p:spPr>
          <a:xfrm>
            <a:off x="6766560" y="3657600"/>
            <a:ext cx="2322576" cy="1920240"/>
          </a:xfrm>
          <a:prstGeom prst="roundRect">
            <a:avLst>
              <a:gd name="adj" fmla="val 5714"/>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9" name="Text 15"/>
          <p:cNvSpPr txBox="1"/>
          <p:nvPr/>
        </p:nvSpPr>
        <p:spPr>
          <a:xfrm>
            <a:off x="6967728" y="3840480"/>
            <a:ext cx="1956816" cy="457200"/>
          </a:xfrm>
          <a:prstGeom prst="rect">
            <a:avLst/>
          </a:prstGeom>
          <a:noFill/>
          <a:ln/>
        </p:spPr>
        <p:txBody>
          <a:bodyPr wrap="square" lIns="0" tIns="0" rIns="0" bIns="0" rtlCol="0" anchor="t"/>
          <a:lstStyle/>
          <a:p>
            <a:pPr indent="0" marL="0">
              <a:buNone/>
            </a:pPr>
            <a:r>
              <a:rPr lang="en-US" sz="2200" b="1" dirty="0">
                <a:solidFill>
                  <a:schemeClr val="accent1"/>
                </a:solidFill>
                <a:latin typeface="Century Gothic" pitchFamily="34" charset="0"/>
                <a:ea typeface="Century Gothic" pitchFamily="34" charset="-122"/>
                <a:cs typeface="Century Gothic" pitchFamily="34" charset="-120"/>
              </a:rPr>
              <a:t>1.4 GB</a:t>
            </a:r>
            <a:endParaRPr lang="en-US" sz="2200" dirty="0"/>
          </a:p>
        </p:txBody>
      </p:sp>
      <p:sp>
        <p:nvSpPr>
          <p:cNvPr id="20" name="Text 16"/>
          <p:cNvSpPr txBox="1"/>
          <p:nvPr/>
        </p:nvSpPr>
        <p:spPr>
          <a:xfrm>
            <a:off x="6967728" y="4389120"/>
            <a:ext cx="1956816"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process memory at 80,000 cameras; budget 2 GB</a:t>
            </a:r>
            <a:endParaRPr lang="en-US" sz="1250" dirty="0"/>
          </a:p>
        </p:txBody>
      </p:sp>
      <p:sp>
        <p:nvSpPr>
          <p:cNvPr id="21" name="chip MEASURED"/>
          <p:cNvSpPr/>
          <p:nvPr/>
        </p:nvSpPr>
        <p:spPr>
          <a:xfrm>
            <a:off x="6967728" y="5193792"/>
            <a:ext cx="899770"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22" name="Text 18"/>
          <p:cNvSpPr txBox="1"/>
          <p:nvPr/>
        </p:nvSpPr>
        <p:spPr>
          <a:xfrm>
            <a:off x="6967728" y="5193792"/>
            <a:ext cx="899770"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p>
        </p:txBody>
      </p:sp>
      <p:sp>
        <p:nvSpPr>
          <p:cNvPr id="23" name="Shape 19"/>
          <p:cNvSpPr/>
          <p:nvPr/>
        </p:nvSpPr>
        <p:spPr>
          <a:xfrm>
            <a:off x="9326880" y="3657600"/>
            <a:ext cx="2322576" cy="1920240"/>
          </a:xfrm>
          <a:prstGeom prst="roundRect">
            <a:avLst>
              <a:gd name="adj" fmla="val 5714"/>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4" name="Text 20"/>
          <p:cNvSpPr txBox="1"/>
          <p:nvPr/>
        </p:nvSpPr>
        <p:spPr>
          <a:xfrm>
            <a:off x="9528048" y="3840480"/>
            <a:ext cx="1956816" cy="457200"/>
          </a:xfrm>
          <a:prstGeom prst="rect">
            <a:avLst/>
          </a:prstGeom>
          <a:noFill/>
          <a:ln/>
        </p:spPr>
        <p:txBody>
          <a:bodyPr wrap="square" lIns="0" tIns="0" rIns="0" bIns="0" rtlCol="0" anchor="t"/>
          <a:lstStyle/>
          <a:p>
            <a:pPr indent="0" marL="0">
              <a:buNone/>
            </a:pPr>
            <a:r>
              <a:rPr lang="en-US" sz="2200" b="1" dirty="0">
                <a:solidFill>
                  <a:schemeClr val="accent1"/>
                </a:solidFill>
                <a:latin typeface="Century Gothic" pitchFamily="34" charset="0"/>
                <a:ea typeface="Century Gothic" pitchFamily="34" charset="-122"/>
                <a:cs typeface="Century Gothic" pitchFamily="34" charset="-120"/>
              </a:rPr>
              <a:t>0.125 s</a:t>
            </a:r>
            <a:endParaRPr lang="en-US" sz="2200" dirty="0"/>
          </a:p>
        </p:txBody>
      </p:sp>
      <p:sp>
        <p:nvSpPr>
          <p:cNvPr id="25" name="Text 21"/>
          <p:cNvSpPr txBox="1"/>
          <p:nvPr/>
        </p:nvSpPr>
        <p:spPr>
          <a:xfrm>
            <a:off x="9528048" y="4389120"/>
            <a:ext cx="1956816" cy="73152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CPU per RTSP still grab; start-up dominates, the largest saving available</a:t>
            </a:r>
            <a:endParaRPr lang="en-US" sz="1250" dirty="0"/>
          </a:p>
        </p:txBody>
      </p:sp>
      <p:sp>
        <p:nvSpPr>
          <p:cNvPr id="26" name="chip MEASURED"/>
          <p:cNvSpPr/>
          <p:nvPr/>
        </p:nvSpPr>
        <p:spPr>
          <a:xfrm>
            <a:off x="9528048" y="5193792"/>
            <a:ext cx="899770"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27" name="Text 23"/>
          <p:cNvSpPr txBox="1"/>
          <p:nvPr/>
        </p:nvSpPr>
        <p:spPr>
          <a:xfrm>
            <a:off x="9528048" y="5193792"/>
            <a:ext cx="899770"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p>
        </p:txBody>
      </p:sp>
      <p:sp>
        <p:nvSpPr>
          <p:cNvPr id="28" name="Shape 24"/>
          <p:cNvSpPr/>
          <p:nvPr/>
        </p:nvSpPr>
        <p:spPr>
          <a:xfrm>
            <a:off x="548640" y="5715000"/>
            <a:ext cx="11094415" cy="566928"/>
          </a:xfrm>
          <a:prstGeom prst="roundRect">
            <a:avLst>
              <a:gd name="adj" fmla="val 19355"/>
            </a:avLst>
          </a:prstGeom>
          <a:solidFill>
            <a:schemeClr val="accent6">
              <a:alpha val="55000"/>
            </a:schemeClr>
          </a:solidFill>
          <a:ln w="9525">
            <a:solidFill>
              <a:schemeClr val="accent6"/>
            </a:solidFill>
            <a:prstDash val="solid"/>
          </a:ln>
        </p:spPr>
      </p:sp>
      <p:sp>
        <p:nvSpPr>
          <p:cNvPr id="29" name="Text 25"/>
          <p:cNvSpPr txBox="1"/>
          <p:nvPr/>
        </p:nvSpPr>
        <p:spPr>
          <a:xfrm>
            <a:off x="777240" y="5715000"/>
            <a:ext cx="10637215" cy="56692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Limit of the evidence.  </a:t>
            </a:r>
            <a:pPr indent="0" marL="0">
              <a:buNone/>
            </a:pPr>
            <a:r>
              <a:rPr lang="en-US" sz="1200" dirty="0">
                <a:solidFill>
                  <a:schemeClr val="tx1"/>
                </a:solidFill>
                <a:latin typeface="Calibri" pitchFamily="34" charset="0"/>
                <a:ea typeface="Calibri" pitchFamily="34" charset="-122"/>
                <a:cs typeface="Calibri" pitchFamily="34" charset="-120"/>
              </a:rPr>
              <a:t>One shared Celeron N4020 laptop, with Gemini and the camera frame faked. The on-site PoC re-runs this on target servers.</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02 · ACCELERATORS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About 50 GPUs cover plates, detectors and scene reasoning</a:t>
            </a:r>
            <a:endParaRPr lang="en-US" sz="2400" dirty="0"/>
          </a:p>
        </p:txBody>
      </p:sp>
      <p:sp>
        <p:nvSpPr>
          <p:cNvPr id="5" name="Shape 2"/>
          <p:cNvSpPr/>
          <p:nvPr/>
        </p:nvSpPr>
        <p:spPr>
          <a:xfrm>
            <a:off x="548640" y="1600200"/>
            <a:ext cx="3515258" cy="3977640"/>
          </a:xfrm>
          <a:prstGeom prst="roundRect">
            <a:avLst>
              <a:gd name="adj" fmla="val 3121"/>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Shape 3"/>
          <p:cNvSpPr/>
          <p:nvPr/>
        </p:nvSpPr>
        <p:spPr>
          <a:xfrm>
            <a:off x="777240" y="1783080"/>
            <a:ext cx="457200" cy="457200"/>
          </a:xfrm>
          <a:prstGeom prst="ellipse">
            <a:avLst/>
          </a:prstGeom>
          <a:solidFill>
            <a:schemeClr val="accent1">
              <a:alpha val="12000"/>
            </a:schemeClr>
          </a:solidFill>
          <a:ln w="6350">
            <a:solidFill>
              <a:schemeClr val="accent1">
                <a:alpha val="30000"/>
              </a:schemeClr>
            </a:solidFill>
            <a:prstDash val="solid"/>
          </a:ln>
        </p:spPr>
      </p:sp>
      <p:pic>
        <p:nvPicPr>
          <p:cNvPr id="7" name="Image 0" descr="preencoded.png">    </p:cNvPr>
          <p:cNvPicPr>
            <a:picLocks noChangeAspect="1"/>
          </p:cNvPicPr>
          <p:nvPr/>
        </p:nvPicPr>
        <p:blipFill>
          <a:blip r:embed="rId1"/>
          <a:stretch>
            <a:fillRect/>
          </a:stretch>
        </p:blipFill>
        <p:spPr>
          <a:xfrm>
            <a:off x="891540" y="1897380"/>
            <a:ext cx="228600" cy="228600"/>
          </a:xfrm>
          <a:prstGeom prst="rect">
            <a:avLst/>
          </a:prstGeom>
        </p:spPr>
      </p:pic>
      <p:sp>
        <p:nvSpPr>
          <p:cNvPr id="8" name="Text 4"/>
          <p:cNvSpPr txBox="1"/>
          <p:nvPr/>
        </p:nvSpPr>
        <p:spPr>
          <a:xfrm>
            <a:off x="1371600" y="1783080"/>
            <a:ext cx="2509418" cy="457200"/>
          </a:xfrm>
          <a:prstGeom prst="rect">
            <a:avLst/>
          </a:prstGeom>
          <a:noFill/>
          <a:ln/>
        </p:spPr>
        <p:txBody>
          <a:bodyPr wrap="square" lIns="0" tIns="0" rIns="0" bIns="0" rtlCol="0" anchor="ctr"/>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A  Plate reading (ANPR)</a:t>
            </a:r>
            <a:endParaRPr lang="en-US" sz="1400" dirty="0"/>
          </a:p>
        </p:txBody>
      </p:sp>
      <p:sp>
        <p:nvSpPr>
          <p:cNvPr id="9" name="Text 5"/>
          <p:cNvSpPr txBox="1"/>
          <p:nvPr/>
        </p:nvSpPr>
        <p:spPr>
          <a:xfrm>
            <a:off x="804672" y="2423160"/>
            <a:ext cx="3003194" cy="457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YOLOv9-t detector + CCT-s OCR on ONNX CUDA</a:t>
            </a:r>
            <a:endParaRPr lang="en-US" sz="1300" dirty="0"/>
          </a:p>
        </p:txBody>
      </p:sp>
      <p:sp>
        <p:nvSpPr>
          <p:cNvPr id="10" name="Text 6"/>
          <p:cNvSpPr txBox="1"/>
          <p:nvPr/>
        </p:nvSpPr>
        <p:spPr>
          <a:xfrm>
            <a:off x="804672" y="2971800"/>
            <a:ext cx="3003194" cy="13716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333 analyses/s × 40% with vehicles = ~130 reads/s</a:t>
            </a:r>
            <a:endParaRPr lang="en-US" sz="1350" dirty="0"/>
          </a:p>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Peak × 3 = ~400 reads/s</a:t>
            </a:r>
            <a:endParaRPr lang="en-US" sz="1350" dirty="0"/>
          </a:p>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Assume 100 reads/s per L4</a:t>
            </a:r>
            <a:endParaRPr lang="en-US" sz="1350" dirty="0"/>
          </a:p>
        </p:txBody>
      </p:sp>
      <p:sp>
        <p:nvSpPr>
          <p:cNvPr id="11" name="Text 7"/>
          <p:cNvSpPr txBox="1"/>
          <p:nvPr/>
        </p:nvSpPr>
        <p:spPr>
          <a:xfrm>
            <a:off x="804672" y="4343400"/>
            <a:ext cx="3003194" cy="45720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16 × L4</a:t>
            </a:r>
            <a:endParaRPr lang="en-US" sz="2600" dirty="0"/>
          </a:p>
        </p:txBody>
      </p:sp>
      <p:sp>
        <p:nvSpPr>
          <p:cNvPr id="12" name="Text 8"/>
          <p:cNvSpPr txBox="1"/>
          <p:nvPr/>
        </p:nvSpPr>
        <p:spPr>
          <a:xfrm>
            <a:off x="804672" y="4846320"/>
            <a:ext cx="3003194"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2 per hub, so one can fail</a:t>
            </a:r>
            <a:endParaRPr lang="en-US" sz="1200" dirty="0"/>
          </a:p>
        </p:txBody>
      </p:sp>
      <p:sp>
        <p:nvSpPr>
          <p:cNvPr id="13" name="chip SERVICE BUILT"/>
          <p:cNvSpPr/>
          <p:nvPr/>
        </p:nvSpPr>
        <p:spPr>
          <a:xfrm>
            <a:off x="804672" y="5212080"/>
            <a:ext cx="1302106"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14" name="Text 10"/>
          <p:cNvSpPr txBox="1"/>
          <p:nvPr/>
        </p:nvSpPr>
        <p:spPr>
          <a:xfrm>
            <a:off x="804672" y="5212080"/>
            <a:ext cx="1302106"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SERVICE BUILT</a:t>
            </a:r>
            <a:endParaRPr lang="en-US" sz="1000" dirty="0"/>
          </a:p>
        </p:txBody>
      </p:sp>
      <p:sp>
        <p:nvSpPr>
          <p:cNvPr id="15" name="Shape 11"/>
          <p:cNvSpPr/>
          <p:nvPr/>
        </p:nvSpPr>
        <p:spPr>
          <a:xfrm>
            <a:off x="4338218" y="1600200"/>
            <a:ext cx="3515258" cy="3977640"/>
          </a:xfrm>
          <a:prstGeom prst="roundRect">
            <a:avLst>
              <a:gd name="adj" fmla="val 3121"/>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6" name="Shape 12"/>
          <p:cNvSpPr/>
          <p:nvPr/>
        </p:nvSpPr>
        <p:spPr>
          <a:xfrm>
            <a:off x="4566818" y="1783080"/>
            <a:ext cx="457200" cy="457200"/>
          </a:xfrm>
          <a:prstGeom prst="ellipse">
            <a:avLst/>
          </a:prstGeom>
          <a:solidFill>
            <a:schemeClr val="accent1">
              <a:alpha val="12000"/>
            </a:schemeClr>
          </a:solidFill>
          <a:ln w="6350">
            <a:solidFill>
              <a:schemeClr val="accent1">
                <a:alpha val="30000"/>
              </a:schemeClr>
            </a:solidFill>
            <a:prstDash val="solid"/>
          </a:ln>
        </p:spPr>
      </p:sp>
      <p:pic>
        <p:nvPicPr>
          <p:cNvPr id="17" name="Image 1" descr="preencoded.png">    </p:cNvPr>
          <p:cNvPicPr>
            <a:picLocks noChangeAspect="1"/>
          </p:cNvPicPr>
          <p:nvPr/>
        </p:nvPicPr>
        <p:blipFill>
          <a:blip r:embed="rId2"/>
          <a:stretch>
            <a:fillRect/>
          </a:stretch>
        </p:blipFill>
        <p:spPr>
          <a:xfrm>
            <a:off x="4681118" y="1897380"/>
            <a:ext cx="228600" cy="228600"/>
          </a:xfrm>
          <a:prstGeom prst="rect">
            <a:avLst/>
          </a:prstGeom>
        </p:spPr>
      </p:pic>
      <p:sp>
        <p:nvSpPr>
          <p:cNvPr id="18" name="Text 13"/>
          <p:cNvSpPr txBox="1"/>
          <p:nvPr/>
        </p:nvSpPr>
        <p:spPr>
          <a:xfrm>
            <a:off x="5161178" y="1783080"/>
            <a:ext cx="2509418" cy="457200"/>
          </a:xfrm>
          <a:prstGeom prst="rect">
            <a:avLst/>
          </a:prstGeom>
          <a:noFill/>
          <a:ln/>
        </p:spPr>
        <p:txBody>
          <a:bodyPr wrap="square" lIns="0" tIns="0" rIns="0" bIns="0" rtlCol="0" anchor="ctr"/>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B  Real-time detectors</a:t>
            </a:r>
            <a:endParaRPr lang="en-US" sz="1400" dirty="0"/>
          </a:p>
        </p:txBody>
      </p:sp>
      <p:sp>
        <p:nvSpPr>
          <p:cNvPr id="19" name="Text 14"/>
          <p:cNvSpPr txBox="1"/>
          <p:nvPr/>
        </p:nvSpPr>
        <p:spPr>
          <a:xfrm>
            <a:off x="4594250" y="2423160"/>
            <a:ext cx="3003194" cy="457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Person, vehicle, intrusion on priority cameras</a:t>
            </a:r>
            <a:endParaRPr lang="en-US" sz="1300" dirty="0"/>
          </a:p>
        </p:txBody>
      </p:sp>
      <p:sp>
        <p:nvSpPr>
          <p:cNvPr id="20" name="Text 15"/>
          <p:cNvSpPr txBox="1"/>
          <p:nvPr/>
        </p:nvSpPr>
        <p:spPr>
          <a:xfrm>
            <a:off x="4594250" y="2971800"/>
            <a:ext cx="3003194" cy="13716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5% of cameras = 4,000 at 2 fps = 8,000 fps</a:t>
            </a:r>
            <a:endParaRPr lang="en-US" sz="1350" dirty="0"/>
          </a:p>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Assume 500 fps per L4 for a small detector</a:t>
            </a:r>
            <a:endParaRPr lang="en-US" sz="1350" dirty="0"/>
          </a:p>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+20% headroom</a:t>
            </a:r>
            <a:endParaRPr lang="en-US" sz="1350" dirty="0"/>
          </a:p>
        </p:txBody>
      </p:sp>
      <p:sp>
        <p:nvSpPr>
          <p:cNvPr id="21" name="Text 16"/>
          <p:cNvSpPr txBox="1"/>
          <p:nvPr/>
        </p:nvSpPr>
        <p:spPr>
          <a:xfrm>
            <a:off x="4594250" y="4343400"/>
            <a:ext cx="3003194" cy="45720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20 × L4</a:t>
            </a:r>
            <a:endParaRPr lang="en-US" sz="2600" dirty="0"/>
          </a:p>
        </p:txBody>
      </p:sp>
      <p:sp>
        <p:nvSpPr>
          <p:cNvPr id="22" name="Text 17"/>
          <p:cNvSpPr txBox="1"/>
          <p:nvPr/>
        </p:nvSpPr>
        <p:spPr>
          <a:xfrm>
            <a:off x="4594250" y="4846320"/>
            <a:ext cx="3003194"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2 to 3 per hub, 4 cold spares</a:t>
            </a:r>
            <a:endParaRPr lang="en-US" sz="1200" dirty="0"/>
          </a:p>
        </p:txBody>
      </p:sp>
      <p:sp>
        <p:nvSpPr>
          <p:cNvPr id="23" name="chip PLANNED"/>
          <p:cNvSpPr/>
          <p:nvPr/>
        </p:nvSpPr>
        <p:spPr>
          <a:xfrm>
            <a:off x="4594250" y="5212080"/>
            <a:ext cx="819302" cy="237744"/>
          </a:xfrm>
          <a:prstGeom prst="roundRect">
            <a:avLst>
              <a:gd name="adj" fmla="val 50000"/>
            </a:avLst>
          </a:prstGeom>
          <a:solidFill>
            <a:schemeClr val="accent1">
              <a:alpha val="14000"/>
            </a:schemeClr>
          </a:solidFill>
          <a:ln w="6350">
            <a:solidFill>
              <a:schemeClr val="accent1">
                <a:alpha val="40000"/>
              </a:schemeClr>
            </a:solidFill>
            <a:prstDash val="solid"/>
          </a:ln>
        </p:spPr>
      </p:sp>
      <p:sp>
        <p:nvSpPr>
          <p:cNvPr id="24" name="Text 19"/>
          <p:cNvSpPr txBox="1"/>
          <p:nvPr/>
        </p:nvSpPr>
        <p:spPr>
          <a:xfrm>
            <a:off x="4594250" y="5212080"/>
            <a:ext cx="819302" cy="237744"/>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PLANNED</a:t>
            </a:r>
            <a:endParaRPr lang="en-US" sz="1000" dirty="0"/>
          </a:p>
        </p:txBody>
      </p:sp>
      <p:sp>
        <p:nvSpPr>
          <p:cNvPr id="25" name="Shape 20"/>
          <p:cNvSpPr/>
          <p:nvPr/>
        </p:nvSpPr>
        <p:spPr>
          <a:xfrm>
            <a:off x="8127797" y="1600200"/>
            <a:ext cx="3515258" cy="3977640"/>
          </a:xfrm>
          <a:prstGeom prst="roundRect">
            <a:avLst>
              <a:gd name="adj" fmla="val 3121"/>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6" name="Shape 21"/>
          <p:cNvSpPr/>
          <p:nvPr/>
        </p:nvSpPr>
        <p:spPr>
          <a:xfrm>
            <a:off x="8356397" y="1783080"/>
            <a:ext cx="457200" cy="457200"/>
          </a:xfrm>
          <a:prstGeom prst="ellipse">
            <a:avLst/>
          </a:prstGeom>
          <a:solidFill>
            <a:schemeClr val="accent1">
              <a:alpha val="12000"/>
            </a:schemeClr>
          </a:solidFill>
          <a:ln w="6350">
            <a:solidFill>
              <a:schemeClr val="accent1">
                <a:alpha val="30000"/>
              </a:schemeClr>
            </a:solidFill>
            <a:prstDash val="solid"/>
          </a:ln>
        </p:spPr>
      </p:sp>
      <p:pic>
        <p:nvPicPr>
          <p:cNvPr id="27" name="Image 2" descr="preencoded.png">    </p:cNvPr>
          <p:cNvPicPr>
            <a:picLocks noChangeAspect="1"/>
          </p:cNvPicPr>
          <p:nvPr/>
        </p:nvPicPr>
        <p:blipFill>
          <a:blip r:embed="rId3"/>
          <a:stretch>
            <a:fillRect/>
          </a:stretch>
        </p:blipFill>
        <p:spPr>
          <a:xfrm>
            <a:off x="8470697" y="1897380"/>
            <a:ext cx="228600" cy="228600"/>
          </a:xfrm>
          <a:prstGeom prst="rect">
            <a:avLst/>
          </a:prstGeom>
        </p:spPr>
      </p:pic>
      <p:sp>
        <p:nvSpPr>
          <p:cNvPr id="28" name="Text 22"/>
          <p:cNvSpPr txBox="1"/>
          <p:nvPr/>
        </p:nvSpPr>
        <p:spPr>
          <a:xfrm>
            <a:off x="8950757" y="1783080"/>
            <a:ext cx="2509418" cy="457200"/>
          </a:xfrm>
          <a:prstGeom prst="rect">
            <a:avLst/>
          </a:prstGeom>
          <a:noFill/>
          <a:ln/>
        </p:spPr>
        <p:txBody>
          <a:bodyPr wrap="square" lIns="0" tIns="0" rIns="0" bIns="0" rtlCol="0" anchor="ctr"/>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C  Scene reasoning (VLM)</a:t>
            </a:r>
            <a:endParaRPr lang="en-US" sz="1400" dirty="0"/>
          </a:p>
        </p:txBody>
      </p:sp>
      <p:sp>
        <p:nvSpPr>
          <p:cNvPr id="29" name="Text 23"/>
          <p:cNvSpPr txBox="1"/>
          <p:nvPr/>
        </p:nvSpPr>
        <p:spPr>
          <a:xfrm>
            <a:off x="8383829" y="2423160"/>
            <a:ext cx="3003194" cy="457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Self-hosted vision-language model, or a hosted API</a:t>
            </a:r>
            <a:endParaRPr lang="en-US" sz="1300" dirty="0"/>
          </a:p>
        </p:txBody>
      </p:sp>
      <p:sp>
        <p:nvSpPr>
          <p:cNvPr id="30" name="Text 24"/>
          <p:cNvSpPr txBox="1"/>
          <p:nvPr/>
        </p:nvSpPr>
        <p:spPr>
          <a:xfrm>
            <a:off x="8383829" y="2971800"/>
            <a:ext cx="3003194" cy="137160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Funnel leaves ~67 calls/s (see next slide)</a:t>
            </a:r>
            <a:endParaRPr lang="en-US" sz="1350" dirty="0"/>
          </a:p>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Assume 8 requests/s per L40S</a:t>
            </a:r>
            <a:endParaRPr lang="en-US" sz="1350" dirty="0"/>
          </a:p>
          <a:p>
            <a:pPr marL="177800" indent="-177800">
              <a:spcAft>
                <a:spcPts val="500"/>
              </a:spcAft>
              <a:buSzPct val="100000"/>
              <a:buChar char="•"/>
            </a:pPr>
            <a:r>
              <a:rPr lang="en-US" sz="1350" dirty="0">
                <a:solidFill>
                  <a:schemeClr val="tx1"/>
                </a:solidFill>
                <a:latin typeface="Calibri" pitchFamily="34" charset="0"/>
                <a:ea typeface="Calibri" pitchFamily="34" charset="-122"/>
                <a:cs typeface="Calibri" pitchFamily="34" charset="-120"/>
              </a:rPr>
              <a:t>+1 spare</a:t>
            </a:r>
            <a:endParaRPr lang="en-US" sz="1350" dirty="0"/>
          </a:p>
        </p:txBody>
      </p:sp>
      <p:sp>
        <p:nvSpPr>
          <p:cNvPr id="31" name="Text 25"/>
          <p:cNvSpPr txBox="1"/>
          <p:nvPr/>
        </p:nvSpPr>
        <p:spPr>
          <a:xfrm>
            <a:off x="8383829" y="4343400"/>
            <a:ext cx="3003194" cy="45720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10 × L40S</a:t>
            </a:r>
            <a:endParaRPr lang="en-US" sz="2600" dirty="0"/>
          </a:p>
        </p:txBody>
      </p:sp>
      <p:sp>
        <p:nvSpPr>
          <p:cNvPr id="32" name="Text 26"/>
          <p:cNvSpPr txBox="1"/>
          <p:nvPr/>
        </p:nvSpPr>
        <p:spPr>
          <a:xfrm>
            <a:off x="8383829" y="4846320"/>
            <a:ext cx="3003194" cy="27432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Central, behind one endpoint</a:t>
            </a:r>
            <a:endParaRPr lang="en-US" sz="1200" dirty="0"/>
          </a:p>
        </p:txBody>
      </p:sp>
      <p:sp>
        <p:nvSpPr>
          <p:cNvPr id="33" name="chip ENDPOINT BUILT"/>
          <p:cNvSpPr/>
          <p:nvPr/>
        </p:nvSpPr>
        <p:spPr>
          <a:xfrm>
            <a:off x="8383829" y="5212080"/>
            <a:ext cx="1382573"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34" name="Text 28"/>
          <p:cNvSpPr txBox="1"/>
          <p:nvPr/>
        </p:nvSpPr>
        <p:spPr>
          <a:xfrm>
            <a:off x="8383829" y="5212080"/>
            <a:ext cx="1382573"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ENDPOINT BUILT</a:t>
            </a:r>
            <a:endParaRPr lang="en-US" sz="1000" dirty="0"/>
          </a:p>
        </p:txBody>
      </p:sp>
      <p:sp>
        <p:nvSpPr>
          <p:cNvPr id="35" name="Shape 29"/>
          <p:cNvSpPr/>
          <p:nvPr/>
        </p:nvSpPr>
        <p:spPr>
          <a:xfrm>
            <a:off x="548640" y="5715000"/>
            <a:ext cx="11094415" cy="566928"/>
          </a:xfrm>
          <a:prstGeom prst="roundRect">
            <a:avLst>
              <a:gd name="adj" fmla="val 19355"/>
            </a:avLst>
          </a:prstGeom>
          <a:solidFill>
            <a:schemeClr val="accent6">
              <a:alpha val="55000"/>
            </a:schemeClr>
          </a:solidFill>
          <a:ln w="9525">
            <a:solidFill>
              <a:schemeClr val="accent6"/>
            </a:solidFill>
            <a:prstDash val="solid"/>
          </a:ln>
        </p:spPr>
      </p:sp>
      <p:sp>
        <p:nvSpPr>
          <p:cNvPr id="36" name="Text 30"/>
          <p:cNvSpPr txBox="1"/>
          <p:nvPr/>
        </p:nvSpPr>
        <p:spPr>
          <a:xfrm>
            <a:off x="777240" y="5715000"/>
            <a:ext cx="10637215" cy="56692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Unmeasured.  </a:t>
            </a:r>
            <a:pPr indent="0" marL="0">
              <a:buNone/>
            </a:pPr>
            <a:r>
              <a:rPr lang="en-US" sz="1200" dirty="0">
                <a:solidFill>
                  <a:schemeClr val="tx1"/>
                </a:solidFill>
                <a:latin typeface="Calibri" pitchFamily="34" charset="0"/>
                <a:ea typeface="Calibri" pitchFamily="34" charset="-122"/>
                <a:cs typeface="Calibri" pitchFamily="34" charset="-120"/>
              </a:rPr>
              <a:t>No GPU has run this stack yet. Throughput per card is the first number the PoC measures. A hosted model API removes Pool C (see cost).</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02 · ACCELERATORS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A three-stage funnel keeps the model load small</a:t>
            </a:r>
            <a:endParaRPr lang="en-US" sz="2400" dirty="0"/>
          </a:p>
        </p:txBody>
      </p:sp>
      <p:sp>
        <p:nvSpPr>
          <p:cNvPr id="5" name="Shape 2"/>
          <p:cNvSpPr/>
          <p:nvPr/>
        </p:nvSpPr>
        <p:spPr>
          <a:xfrm>
            <a:off x="548640" y="1600200"/>
            <a:ext cx="3200400" cy="841248"/>
          </a:xfrm>
          <a:prstGeom prst="roundRect">
            <a:avLst>
              <a:gd name="adj" fmla="val 10870"/>
            </a:avLst>
          </a:prstGeom>
          <a:solidFill>
            <a:schemeClr val="accent1"/>
          </a:solidFill>
          <a:ln w="6350">
            <a:solidFill>
              <a:schemeClr val="accent1"/>
            </a:solidFill>
            <a:prstDash val="solid"/>
          </a:ln>
        </p:spPr>
      </p:sp>
      <p:sp>
        <p:nvSpPr>
          <p:cNvPr id="6" name="Text 3"/>
          <p:cNvSpPr txBox="1"/>
          <p:nvPr/>
        </p:nvSpPr>
        <p:spPr>
          <a:xfrm>
            <a:off x="548640" y="1600200"/>
            <a:ext cx="3200400" cy="841248"/>
          </a:xfrm>
          <a:prstGeom prst="rect">
            <a:avLst/>
          </a:prstGeom>
          <a:noFill/>
          <a:ln/>
        </p:spPr>
        <p:txBody>
          <a:bodyPr wrap="square" lIns="0" tIns="0" rIns="0" bIns="0" rtlCol="0" anchor="ctr"/>
          <a:lstStyle/>
          <a:p>
            <a:pPr algn="ctr" indent="0" marL="0">
              <a:buNone/>
            </a:pPr>
            <a:r>
              <a:rPr lang="en-US" sz="1800" b="1" dirty="0">
                <a:solidFill>
                  <a:schemeClr val="bg1"/>
                </a:solidFill>
                <a:latin typeface="Century Gothic" pitchFamily="34" charset="0"/>
                <a:ea typeface="Century Gothic" pitchFamily="34" charset="-122"/>
                <a:cs typeface="Century Gothic" pitchFamily="34" charset="-120"/>
              </a:rPr>
              <a:t>1,333 /s</a:t>
            </a:r>
            <a:endParaRPr lang="en-US" sz="1800" dirty="0"/>
          </a:p>
        </p:txBody>
      </p:sp>
      <p:sp>
        <p:nvSpPr>
          <p:cNvPr id="7" name="Text 4"/>
          <p:cNvSpPr txBox="1"/>
          <p:nvPr/>
        </p:nvSpPr>
        <p:spPr>
          <a:xfrm>
            <a:off x="3977640" y="1673352"/>
            <a:ext cx="3474720" cy="32004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All cameras, one frame per 60 s</a:t>
            </a:r>
            <a:endParaRPr lang="en-US" sz="1300" dirty="0"/>
          </a:p>
        </p:txBody>
      </p:sp>
      <p:sp>
        <p:nvSpPr>
          <p:cNvPr id="8" name="Text 5"/>
          <p:cNvSpPr txBox="1"/>
          <p:nvPr/>
        </p:nvSpPr>
        <p:spPr>
          <a:xfrm>
            <a:off x="3977640" y="2011680"/>
            <a:ext cx="3474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Capture at the edge, nothing leaves the region yet</a:t>
            </a:r>
            <a:endParaRPr lang="en-US" sz="1200" dirty="0"/>
          </a:p>
        </p:txBody>
      </p:sp>
      <p:sp>
        <p:nvSpPr>
          <p:cNvPr id="9" name="Shape 6"/>
          <p:cNvSpPr/>
          <p:nvPr/>
        </p:nvSpPr>
        <p:spPr>
          <a:xfrm>
            <a:off x="548640" y="2624328"/>
            <a:ext cx="2468880" cy="841248"/>
          </a:xfrm>
          <a:prstGeom prst="roundRect">
            <a:avLst>
              <a:gd name="adj" fmla="val 10870"/>
            </a:avLst>
          </a:prstGeom>
          <a:solidFill>
            <a:schemeClr val="accent1">
              <a:alpha val="86000"/>
            </a:schemeClr>
          </a:solidFill>
          <a:ln w="6350">
            <a:solidFill>
              <a:schemeClr val="accent1"/>
            </a:solidFill>
            <a:prstDash val="solid"/>
          </a:ln>
        </p:spPr>
      </p:sp>
      <p:sp>
        <p:nvSpPr>
          <p:cNvPr id="10" name="Text 7"/>
          <p:cNvSpPr txBox="1"/>
          <p:nvPr/>
        </p:nvSpPr>
        <p:spPr>
          <a:xfrm>
            <a:off x="548640" y="2624328"/>
            <a:ext cx="2468880" cy="841248"/>
          </a:xfrm>
          <a:prstGeom prst="rect">
            <a:avLst/>
          </a:prstGeom>
          <a:noFill/>
          <a:ln/>
        </p:spPr>
        <p:txBody>
          <a:bodyPr wrap="square" lIns="0" tIns="0" rIns="0" bIns="0" rtlCol="0" anchor="ctr"/>
          <a:lstStyle/>
          <a:p>
            <a:pPr algn="ctr" indent="0" marL="0">
              <a:buNone/>
            </a:pPr>
            <a:r>
              <a:rPr lang="en-US" sz="1800" b="1" dirty="0">
                <a:solidFill>
                  <a:schemeClr val="bg1"/>
                </a:solidFill>
                <a:latin typeface="Century Gothic" pitchFamily="34" charset="0"/>
                <a:ea typeface="Century Gothic" pitchFamily="34" charset="-122"/>
                <a:cs typeface="Century Gothic" pitchFamily="34" charset="-120"/>
              </a:rPr>
              <a:t>333 /s</a:t>
            </a:r>
            <a:endParaRPr lang="en-US" sz="1800" dirty="0"/>
          </a:p>
        </p:txBody>
      </p:sp>
      <p:sp>
        <p:nvSpPr>
          <p:cNvPr id="11" name="Text 8"/>
          <p:cNvSpPr txBox="1"/>
          <p:nvPr/>
        </p:nvSpPr>
        <p:spPr>
          <a:xfrm>
            <a:off x="3977640" y="2697480"/>
            <a:ext cx="3474720" cy="32004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Frame gate: scene changed</a:t>
            </a:r>
            <a:endParaRPr lang="en-US" sz="1300" dirty="0"/>
          </a:p>
        </p:txBody>
      </p:sp>
      <p:sp>
        <p:nvSpPr>
          <p:cNvPr id="12" name="Text 9"/>
          <p:cNvSpPr txBox="1"/>
          <p:nvPr/>
        </p:nvSpPr>
        <p:spPr>
          <a:xfrm>
            <a:off x="3977640" y="3035808"/>
            <a:ext cx="3474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25% pass (assumed); heartbeat every 10 min</a:t>
            </a:r>
            <a:endParaRPr lang="en-US" sz="1200" dirty="0"/>
          </a:p>
        </p:txBody>
      </p:sp>
      <p:sp>
        <p:nvSpPr>
          <p:cNvPr id="13" name="Shape 10"/>
          <p:cNvSpPr/>
          <p:nvPr/>
        </p:nvSpPr>
        <p:spPr>
          <a:xfrm>
            <a:off x="548640" y="3648456"/>
            <a:ext cx="1737360" cy="841248"/>
          </a:xfrm>
          <a:prstGeom prst="roundRect">
            <a:avLst>
              <a:gd name="adj" fmla="val 10870"/>
            </a:avLst>
          </a:prstGeom>
          <a:solidFill>
            <a:schemeClr val="accent1">
              <a:alpha val="72000"/>
            </a:schemeClr>
          </a:solidFill>
          <a:ln w="6350">
            <a:solidFill>
              <a:schemeClr val="accent1"/>
            </a:solidFill>
            <a:prstDash val="solid"/>
          </a:ln>
        </p:spPr>
      </p:sp>
      <p:sp>
        <p:nvSpPr>
          <p:cNvPr id="14" name="Text 11"/>
          <p:cNvSpPr txBox="1"/>
          <p:nvPr/>
        </p:nvSpPr>
        <p:spPr>
          <a:xfrm>
            <a:off x="548640" y="3648456"/>
            <a:ext cx="1737360" cy="841248"/>
          </a:xfrm>
          <a:prstGeom prst="rect">
            <a:avLst/>
          </a:prstGeom>
          <a:noFill/>
          <a:ln/>
        </p:spPr>
        <p:txBody>
          <a:bodyPr wrap="square" lIns="0" tIns="0" rIns="0" bIns="0" rtlCol="0" anchor="ctr"/>
          <a:lstStyle/>
          <a:p>
            <a:pPr algn="ctr" indent="0" marL="0">
              <a:buNone/>
            </a:pPr>
            <a:r>
              <a:rPr lang="en-US" sz="1800" b="1" dirty="0">
                <a:solidFill>
                  <a:schemeClr val="bg1"/>
                </a:solidFill>
                <a:latin typeface="Century Gothic" pitchFamily="34" charset="0"/>
                <a:ea typeface="Century Gothic" pitchFamily="34" charset="-122"/>
                <a:cs typeface="Century Gothic" pitchFamily="34" charset="-120"/>
              </a:rPr>
              <a:t>67 /s</a:t>
            </a:r>
            <a:endParaRPr lang="en-US" sz="1800" dirty="0"/>
          </a:p>
        </p:txBody>
      </p:sp>
      <p:sp>
        <p:nvSpPr>
          <p:cNvPr id="15" name="Text 12"/>
          <p:cNvSpPr txBox="1"/>
          <p:nvPr/>
        </p:nvSpPr>
        <p:spPr>
          <a:xfrm>
            <a:off x="3977640" y="3721608"/>
            <a:ext cx="3474720" cy="32004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Local detector and ANPR flag it</a:t>
            </a:r>
            <a:endParaRPr lang="en-US" sz="1300" dirty="0"/>
          </a:p>
        </p:txBody>
      </p:sp>
      <p:sp>
        <p:nvSpPr>
          <p:cNvPr id="16" name="Text 13"/>
          <p:cNvSpPr txBox="1"/>
          <p:nvPr/>
        </p:nvSpPr>
        <p:spPr>
          <a:xfrm>
            <a:off x="3977640" y="4059936"/>
            <a:ext cx="3474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20% of gated frames (assumed) need scene reasoning</a:t>
            </a:r>
            <a:endParaRPr lang="en-US" sz="1200" dirty="0"/>
          </a:p>
        </p:txBody>
      </p:sp>
      <p:sp>
        <p:nvSpPr>
          <p:cNvPr id="17" name="Shape 14"/>
          <p:cNvSpPr/>
          <p:nvPr/>
        </p:nvSpPr>
        <p:spPr>
          <a:xfrm>
            <a:off x="548640" y="4672584"/>
            <a:ext cx="1280160" cy="841248"/>
          </a:xfrm>
          <a:prstGeom prst="roundRect">
            <a:avLst>
              <a:gd name="adj" fmla="val 10870"/>
            </a:avLst>
          </a:prstGeom>
          <a:solidFill>
            <a:schemeClr val="accent1">
              <a:alpha val="58000"/>
            </a:schemeClr>
          </a:solidFill>
          <a:ln w="6350">
            <a:solidFill>
              <a:schemeClr val="accent1"/>
            </a:solidFill>
            <a:prstDash val="solid"/>
          </a:ln>
        </p:spPr>
      </p:sp>
      <p:sp>
        <p:nvSpPr>
          <p:cNvPr id="18" name="Text 15"/>
          <p:cNvSpPr txBox="1"/>
          <p:nvPr/>
        </p:nvSpPr>
        <p:spPr>
          <a:xfrm>
            <a:off x="548640" y="4672584"/>
            <a:ext cx="1280160" cy="841248"/>
          </a:xfrm>
          <a:prstGeom prst="rect">
            <a:avLst/>
          </a:prstGeom>
          <a:noFill/>
          <a:ln/>
        </p:spPr>
        <p:txBody>
          <a:bodyPr wrap="square" lIns="0" tIns="0" rIns="0" bIns="0" rtlCol="0" anchor="ctr"/>
          <a:lstStyle/>
          <a:p>
            <a:pPr algn="ctr" indent="0" marL="0">
              <a:buNone/>
            </a:pPr>
            <a:r>
              <a:rPr lang="en-US" sz="1800" b="1" dirty="0">
                <a:solidFill>
                  <a:schemeClr val="bg1"/>
                </a:solidFill>
                <a:latin typeface="Century Gothic" pitchFamily="34" charset="0"/>
                <a:ea typeface="Century Gothic" pitchFamily="34" charset="-122"/>
                <a:cs typeface="Century Gothic" pitchFamily="34" charset="-120"/>
              </a:rPr>
              <a:t>33 /s</a:t>
            </a:r>
            <a:endParaRPr lang="en-US" sz="1800" dirty="0"/>
          </a:p>
        </p:txBody>
      </p:sp>
      <p:sp>
        <p:nvSpPr>
          <p:cNvPr id="19" name="Text 16"/>
          <p:cNvSpPr txBox="1"/>
          <p:nvPr/>
        </p:nvSpPr>
        <p:spPr>
          <a:xfrm>
            <a:off x="3977640" y="4745736"/>
            <a:ext cx="3474720" cy="32004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Notable events with evidence</a:t>
            </a:r>
            <a:endParaRPr lang="en-US" sz="1300" dirty="0"/>
          </a:p>
        </p:txBody>
      </p:sp>
      <p:sp>
        <p:nvSpPr>
          <p:cNvPr id="20" name="Text 17"/>
          <p:cNvSpPr txBox="1"/>
          <p:nvPr/>
        </p:nvSpPr>
        <p:spPr>
          <a:xfrm>
            <a:off x="3977640" y="5084064"/>
            <a:ext cx="3474720" cy="41148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10% of results; thumbnails go to the centre</a:t>
            </a:r>
            <a:endParaRPr lang="en-US" sz="1200" dirty="0"/>
          </a:p>
        </p:txBody>
      </p:sp>
      <p:sp>
        <p:nvSpPr>
          <p:cNvPr id="21" name="Shape 18"/>
          <p:cNvSpPr/>
          <p:nvPr/>
        </p:nvSpPr>
        <p:spPr>
          <a:xfrm>
            <a:off x="7772400" y="1600200"/>
            <a:ext cx="3867912" cy="3977640"/>
          </a:xfrm>
          <a:prstGeom prst="roundRect">
            <a:avLst>
              <a:gd name="adj" fmla="val 2837"/>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2" name="Text 19"/>
          <p:cNvSpPr txBox="1"/>
          <p:nvPr/>
        </p:nvSpPr>
        <p:spPr>
          <a:xfrm>
            <a:off x="8001000" y="1783080"/>
            <a:ext cx="3474720" cy="32004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Levers that move the GPU count</a:t>
            </a:r>
            <a:endParaRPr lang="en-US" sz="1400" dirty="0"/>
          </a:p>
        </p:txBody>
      </p:sp>
      <p:sp>
        <p:nvSpPr>
          <p:cNvPr id="23" name="Text 20"/>
          <p:cNvSpPr txBox="1"/>
          <p:nvPr/>
        </p:nvSpPr>
        <p:spPr>
          <a:xfrm>
            <a:off x="8001000" y="2240280"/>
            <a:ext cx="3429000" cy="32004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Interval 60 s to 300 s: five times fewer frames</a:t>
            </a:r>
            <a:endParaRPr lang="en-US" sz="1300" dirty="0"/>
          </a:p>
          <a:p>
            <a:pPr marL="177800" indent="-1778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Gate threshold per camera type</a:t>
            </a:r>
            <a:endParaRPr lang="en-US" sz="1300" dirty="0"/>
          </a:p>
          <a:p>
            <a:pPr marL="177800" indent="-1778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ANPR only on cameras that see vehicles</a:t>
            </a:r>
            <a:endParaRPr lang="en-US" sz="1300" dirty="0"/>
          </a:p>
          <a:p>
            <a:pPr marL="177800" indent="-1778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Hosted model API instead of Pool C</a:t>
            </a:r>
            <a:endParaRPr lang="en-US" sz="1300" dirty="0"/>
          </a:p>
          <a:p>
            <a:pPr marL="177800" indent="-177800">
              <a:spcAft>
                <a:spcPts val="700"/>
              </a:spcAft>
              <a:buSzPct val="100000"/>
              <a:buChar char="•"/>
            </a:pPr>
            <a:r>
              <a:rPr lang="en-US" sz="1300" dirty="0">
                <a:solidFill>
                  <a:schemeClr val="tx1"/>
                </a:solidFill>
                <a:latin typeface="Calibri" pitchFamily="34" charset="0"/>
                <a:ea typeface="Calibri" pitchFamily="34" charset="-122"/>
                <a:cs typeface="Calibri" pitchFamily="34" charset="-120"/>
              </a:rPr>
              <a:t>Mode per camera: AI off runs the local detector only, no model call</a:t>
            </a:r>
            <a:endParaRPr lang="en-US" sz="1300" dirty="0"/>
          </a:p>
        </p:txBody>
      </p:sp>
      <p:sp>
        <p:nvSpPr>
          <p:cNvPr id="24" name="Shape 21"/>
          <p:cNvSpPr/>
          <p:nvPr/>
        </p:nvSpPr>
        <p:spPr>
          <a:xfrm>
            <a:off x="548640" y="5715000"/>
            <a:ext cx="11094415" cy="566928"/>
          </a:xfrm>
          <a:prstGeom prst="roundRect">
            <a:avLst>
              <a:gd name="adj" fmla="val 19355"/>
            </a:avLst>
          </a:prstGeom>
          <a:solidFill>
            <a:schemeClr val="accent1">
              <a:alpha val="8000"/>
            </a:schemeClr>
          </a:solidFill>
          <a:ln w="9525">
            <a:solidFill>
              <a:schemeClr val="accent6"/>
            </a:solidFill>
            <a:prstDash val="solid"/>
          </a:ln>
        </p:spPr>
      </p:sp>
      <p:sp>
        <p:nvSpPr>
          <p:cNvPr id="25" name="Text 22"/>
          <p:cNvSpPr txBox="1"/>
          <p:nvPr/>
        </p:nvSpPr>
        <p:spPr>
          <a:xfrm>
            <a:off x="777240" y="5715000"/>
            <a:ext cx="10637215" cy="566928"/>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Fail-safe.  </a:t>
            </a:r>
            <a:pPr indent="0" marL="0">
              <a:buNone/>
            </a:pPr>
            <a:r>
              <a:rPr lang="en-US" sz="1200" dirty="0">
                <a:solidFill>
                  <a:schemeClr val="tx1"/>
                </a:solidFill>
                <a:latin typeface="Calibri" pitchFamily="34" charset="0"/>
                <a:ea typeface="Calibri" pitchFamily="34" charset="-122"/>
                <a:cs typeface="Calibri" pitchFamily="34" charset="-120"/>
              </a:rPr>
              <a:t>If the ANPR service is down, the scene model reads plates and marks them gemini-fallback, so reads are never mistaken for dedicated OCR.</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03 · NETWORK</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Bandwidth: the backbone carries results, not video</a:t>
            </a:r>
            <a:endParaRPr lang="en-US" sz="2400" dirty="0"/>
          </a:p>
        </p:txBody>
      </p:sp>
      <p:sp>
        <p:nvSpPr>
          <p:cNvPr id="5" name="Shape 2"/>
          <p:cNvSpPr/>
          <p:nvPr/>
        </p:nvSpPr>
        <p:spPr>
          <a:xfrm>
            <a:off x="548640" y="1600200"/>
            <a:ext cx="2450592" cy="2606040"/>
          </a:xfrm>
          <a:prstGeom prst="roundRect">
            <a:avLst>
              <a:gd name="adj" fmla="val 4478"/>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Text 3"/>
          <p:cNvSpPr txBox="1"/>
          <p:nvPr/>
        </p:nvSpPr>
        <p:spPr>
          <a:xfrm>
            <a:off x="777240" y="1783080"/>
            <a:ext cx="1993392" cy="274320"/>
          </a:xfrm>
          <a:prstGeom prst="rect">
            <a:avLst/>
          </a:prstGeom>
          <a:noFill/>
          <a:ln/>
        </p:spPr>
        <p:txBody>
          <a:bodyPr wrap="square" lIns="0" tIns="0" rIns="0" bIns="0" rtlCol="0" anchor="t"/>
          <a:lstStyle/>
          <a:p>
            <a:pPr indent="0" marL="0">
              <a:buNone/>
            </a:pPr>
            <a:r>
              <a:rPr lang="en-US" sz="1050" b="1" dirty="0">
                <a:solidFill>
                  <a:schemeClr val="tx2"/>
                </a:solidFill>
                <a:latin typeface="Consolas" pitchFamily="34" charset="0"/>
                <a:ea typeface="Consolas" pitchFamily="34" charset="-122"/>
                <a:cs typeface="Consolas" pitchFamily="34" charset="-120"/>
              </a:rPr>
              <a:t>Cameras to edge</a:t>
            </a:r>
            <a:endParaRPr lang="en-US" sz="1050" dirty="0"/>
          </a:p>
        </p:txBody>
      </p:sp>
      <p:sp>
        <p:nvSpPr>
          <p:cNvPr id="7" name="Text 4"/>
          <p:cNvSpPr txBox="1"/>
          <p:nvPr/>
        </p:nvSpPr>
        <p:spPr>
          <a:xfrm>
            <a:off x="777240" y="2103120"/>
            <a:ext cx="1993392" cy="54864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160 Gbps</a:t>
            </a:r>
            <a:endParaRPr lang="en-US" sz="2600" dirty="0"/>
          </a:p>
        </p:txBody>
      </p:sp>
      <p:sp>
        <p:nvSpPr>
          <p:cNvPr id="8" name="Text 5"/>
          <p:cNvSpPr txBox="1"/>
          <p:nvPr/>
        </p:nvSpPr>
        <p:spPr>
          <a:xfrm>
            <a:off x="777240" y="2743200"/>
            <a:ext cx="1993392"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1 Gbps per node at 2 Mbps; stays inside the district network</a:t>
            </a:r>
            <a:endParaRPr lang="en-US" sz="1300" dirty="0"/>
          </a:p>
        </p:txBody>
      </p:sp>
      <p:sp>
        <p:nvSpPr>
          <p:cNvPr id="9" name="Shape 6"/>
          <p:cNvSpPr/>
          <p:nvPr/>
        </p:nvSpPr>
        <p:spPr>
          <a:xfrm>
            <a:off x="3035808" y="2834640"/>
            <a:ext cx="357530" cy="0"/>
          </a:xfrm>
          <a:prstGeom prst="line">
            <a:avLst/>
          </a:prstGeom>
          <a:noFill/>
          <a:ln w="22225">
            <a:solidFill>
              <a:schemeClr val="accent1"/>
            </a:solidFill>
            <a:prstDash val="solid"/>
            <a:tailEnd type="triangle"/>
          </a:ln>
        </p:spPr>
      </p:sp>
      <p:sp>
        <p:nvSpPr>
          <p:cNvPr id="10" name="Shape 7"/>
          <p:cNvSpPr/>
          <p:nvPr/>
        </p:nvSpPr>
        <p:spPr>
          <a:xfrm>
            <a:off x="3429914" y="1600200"/>
            <a:ext cx="2450592" cy="2606040"/>
          </a:xfrm>
          <a:prstGeom prst="roundRect">
            <a:avLst>
              <a:gd name="adj" fmla="val 4478"/>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1" name="Text 8"/>
          <p:cNvSpPr txBox="1"/>
          <p:nvPr/>
        </p:nvSpPr>
        <p:spPr>
          <a:xfrm>
            <a:off x="3658514" y="1783080"/>
            <a:ext cx="1993392" cy="274320"/>
          </a:xfrm>
          <a:prstGeom prst="rect">
            <a:avLst/>
          </a:prstGeom>
          <a:noFill/>
          <a:ln/>
        </p:spPr>
        <p:txBody>
          <a:bodyPr wrap="square" lIns="0" tIns="0" rIns="0" bIns="0" rtlCol="0" anchor="t"/>
          <a:lstStyle/>
          <a:p>
            <a:pPr indent="0" marL="0">
              <a:buNone/>
            </a:pPr>
            <a:r>
              <a:rPr lang="en-US" sz="1050" b="1" dirty="0">
                <a:solidFill>
                  <a:schemeClr val="tx2"/>
                </a:solidFill>
                <a:latin typeface="Consolas" pitchFamily="34" charset="0"/>
                <a:ea typeface="Consolas" pitchFamily="34" charset="-122"/>
                <a:cs typeface="Consolas" pitchFamily="34" charset="-120"/>
              </a:rPr>
              <a:t>Edge to hub</a:t>
            </a:r>
            <a:endParaRPr lang="en-US" sz="1050" dirty="0"/>
          </a:p>
        </p:txBody>
      </p:sp>
      <p:sp>
        <p:nvSpPr>
          <p:cNvPr id="12" name="Text 9"/>
          <p:cNvSpPr txBox="1"/>
          <p:nvPr/>
        </p:nvSpPr>
        <p:spPr>
          <a:xfrm>
            <a:off x="3658514" y="2103120"/>
            <a:ext cx="1993392" cy="54864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3 Mbps</a:t>
            </a:r>
            <a:endParaRPr lang="en-US" sz="2600" dirty="0"/>
          </a:p>
        </p:txBody>
      </p:sp>
      <p:sp>
        <p:nvSpPr>
          <p:cNvPr id="13" name="Text 10"/>
          <p:cNvSpPr txBox="1"/>
          <p:nvPr/>
        </p:nvSpPr>
        <p:spPr>
          <a:xfrm>
            <a:off x="3658514" y="2743200"/>
            <a:ext cx="1993392"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steady per edge: frames for the GPU pool, results, thumbnails. Provision 100 Mbps for live tiles and clip pulls</a:t>
            </a:r>
            <a:endParaRPr lang="en-US" sz="1300" dirty="0"/>
          </a:p>
        </p:txBody>
      </p:sp>
      <p:sp>
        <p:nvSpPr>
          <p:cNvPr id="14" name="Shape 11"/>
          <p:cNvSpPr/>
          <p:nvPr/>
        </p:nvSpPr>
        <p:spPr>
          <a:xfrm>
            <a:off x="5917082" y="2834640"/>
            <a:ext cx="357530" cy="0"/>
          </a:xfrm>
          <a:prstGeom prst="line">
            <a:avLst/>
          </a:prstGeom>
          <a:noFill/>
          <a:ln w="22225">
            <a:solidFill>
              <a:schemeClr val="accent1"/>
            </a:solidFill>
            <a:prstDash val="solid"/>
            <a:tailEnd type="triangle"/>
          </a:ln>
        </p:spPr>
      </p:sp>
      <p:sp>
        <p:nvSpPr>
          <p:cNvPr id="15" name="Shape 12"/>
          <p:cNvSpPr/>
          <p:nvPr/>
        </p:nvSpPr>
        <p:spPr>
          <a:xfrm>
            <a:off x="6311189" y="1600200"/>
            <a:ext cx="2450592" cy="2606040"/>
          </a:xfrm>
          <a:prstGeom prst="roundRect">
            <a:avLst>
              <a:gd name="adj" fmla="val 4478"/>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6" name="Text 13"/>
          <p:cNvSpPr txBox="1"/>
          <p:nvPr/>
        </p:nvSpPr>
        <p:spPr>
          <a:xfrm>
            <a:off x="6539789" y="1783080"/>
            <a:ext cx="1993392" cy="274320"/>
          </a:xfrm>
          <a:prstGeom prst="rect">
            <a:avLst/>
          </a:prstGeom>
          <a:noFill/>
          <a:ln/>
        </p:spPr>
        <p:txBody>
          <a:bodyPr wrap="square" lIns="0" tIns="0" rIns="0" bIns="0" rtlCol="0" anchor="t"/>
          <a:lstStyle/>
          <a:p>
            <a:pPr indent="0" marL="0">
              <a:buNone/>
            </a:pPr>
            <a:r>
              <a:rPr lang="en-US" sz="1050" b="1" dirty="0">
                <a:solidFill>
                  <a:schemeClr val="tx2"/>
                </a:solidFill>
                <a:latin typeface="Consolas" pitchFamily="34" charset="0"/>
                <a:ea typeface="Consolas" pitchFamily="34" charset="-122"/>
                <a:cs typeface="Consolas" pitchFamily="34" charset="-120"/>
              </a:rPr>
              <a:t>Hub to centre</a:t>
            </a:r>
            <a:endParaRPr lang="en-US" sz="1050" dirty="0"/>
          </a:p>
        </p:txBody>
      </p:sp>
      <p:sp>
        <p:nvSpPr>
          <p:cNvPr id="17" name="Text 14"/>
          <p:cNvSpPr txBox="1"/>
          <p:nvPr/>
        </p:nvSpPr>
        <p:spPr>
          <a:xfrm>
            <a:off x="6539789" y="2103120"/>
            <a:ext cx="1993392" cy="54864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20 Mbps</a:t>
            </a:r>
            <a:endParaRPr lang="en-US" sz="2600" dirty="0"/>
          </a:p>
        </p:txBody>
      </p:sp>
      <p:sp>
        <p:nvSpPr>
          <p:cNvPr id="18" name="Text 15"/>
          <p:cNvSpPr txBox="1"/>
          <p:nvPr/>
        </p:nvSpPr>
        <p:spPr>
          <a:xfrm>
            <a:off x="6539789" y="2743200"/>
            <a:ext cx="1993392"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all hubs together: 4.5 Mbps of results + ~16 Mbps thumbnails. Provision 1 Gbps per hub</a:t>
            </a:r>
            <a:endParaRPr lang="en-US" sz="1300" dirty="0"/>
          </a:p>
        </p:txBody>
      </p:sp>
      <p:sp>
        <p:nvSpPr>
          <p:cNvPr id="19" name="Shape 16"/>
          <p:cNvSpPr/>
          <p:nvPr/>
        </p:nvSpPr>
        <p:spPr>
          <a:xfrm>
            <a:off x="8798357" y="2834640"/>
            <a:ext cx="357530" cy="0"/>
          </a:xfrm>
          <a:prstGeom prst="line">
            <a:avLst/>
          </a:prstGeom>
          <a:noFill/>
          <a:ln w="22225">
            <a:solidFill>
              <a:schemeClr val="accent1"/>
            </a:solidFill>
            <a:prstDash val="solid"/>
            <a:tailEnd type="triangle"/>
          </a:ln>
        </p:spPr>
      </p:sp>
      <p:sp>
        <p:nvSpPr>
          <p:cNvPr id="20" name="Shape 17"/>
          <p:cNvSpPr/>
          <p:nvPr/>
        </p:nvSpPr>
        <p:spPr>
          <a:xfrm>
            <a:off x="9192463" y="1600200"/>
            <a:ext cx="2450592" cy="2606040"/>
          </a:xfrm>
          <a:prstGeom prst="roundRect">
            <a:avLst>
              <a:gd name="adj" fmla="val 4478"/>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1" name="Text 18"/>
          <p:cNvSpPr txBox="1"/>
          <p:nvPr/>
        </p:nvSpPr>
        <p:spPr>
          <a:xfrm>
            <a:off x="9421063" y="1783080"/>
            <a:ext cx="1993392" cy="274320"/>
          </a:xfrm>
          <a:prstGeom prst="rect">
            <a:avLst/>
          </a:prstGeom>
          <a:noFill/>
          <a:ln/>
        </p:spPr>
        <p:txBody>
          <a:bodyPr wrap="square" lIns="0" tIns="0" rIns="0" bIns="0" rtlCol="0" anchor="t"/>
          <a:lstStyle/>
          <a:p>
            <a:pPr indent="0" marL="0">
              <a:buNone/>
            </a:pPr>
            <a:r>
              <a:rPr lang="en-US" sz="1050" b="1" dirty="0">
                <a:solidFill>
                  <a:schemeClr val="tx2"/>
                </a:solidFill>
                <a:latin typeface="Consolas" pitchFamily="34" charset="0"/>
                <a:ea typeface="Consolas" pitchFamily="34" charset="-122"/>
                <a:cs typeface="Consolas" pitchFamily="34" charset="-120"/>
              </a:rPr>
              <a:t>Centre to DR</a:t>
            </a:r>
            <a:endParaRPr lang="en-US" sz="1050" dirty="0"/>
          </a:p>
        </p:txBody>
      </p:sp>
      <p:sp>
        <p:nvSpPr>
          <p:cNvPr id="22" name="Text 19"/>
          <p:cNvSpPr txBox="1"/>
          <p:nvPr/>
        </p:nvSpPr>
        <p:spPr>
          <a:xfrm>
            <a:off x="9421063" y="2103120"/>
            <a:ext cx="1993392" cy="548640"/>
          </a:xfrm>
          <a:prstGeom prst="rect">
            <a:avLst/>
          </a:prstGeom>
          <a:noFill/>
          <a:ln/>
        </p:spPr>
        <p:txBody>
          <a:bodyPr wrap="square" lIns="0" tIns="0" rIns="0" bIns="0" rtlCol="0" anchor="t"/>
          <a:lstStyle/>
          <a:p>
            <a:pPr indent="0" marL="0">
              <a:buNone/>
            </a:pPr>
            <a:r>
              <a:rPr lang="en-US" sz="2600" b="1" dirty="0">
                <a:solidFill>
                  <a:schemeClr val="accent1"/>
                </a:solidFill>
                <a:latin typeface="Century Gothic" pitchFamily="34" charset="0"/>
                <a:ea typeface="Century Gothic" pitchFamily="34" charset="-122"/>
                <a:cs typeface="Century Gothic" pitchFamily="34" charset="-120"/>
              </a:rPr>
              <a:t>9 Mbps</a:t>
            </a:r>
            <a:endParaRPr lang="en-US" sz="2600" dirty="0"/>
          </a:p>
        </p:txBody>
      </p:sp>
      <p:sp>
        <p:nvSpPr>
          <p:cNvPr id="23" name="Text 20"/>
          <p:cNvSpPr txBox="1"/>
          <p:nvPr/>
        </p:nvSpPr>
        <p:spPr>
          <a:xfrm>
            <a:off x="9421063" y="2743200"/>
            <a:ext cx="1993392" cy="13716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average database replication (~100 GB a day with indexes). Provision 1 Gbps</a:t>
            </a:r>
            <a:endParaRPr lang="en-US" sz="1300" dirty="0"/>
          </a:p>
        </p:txBody>
      </p:sp>
      <p:sp>
        <p:nvSpPr>
          <p:cNvPr id="24" name="Shape 21"/>
          <p:cNvSpPr/>
          <p:nvPr/>
        </p:nvSpPr>
        <p:spPr>
          <a:xfrm>
            <a:off x="548640" y="4434840"/>
            <a:ext cx="5394960" cy="1783080"/>
          </a:xfrm>
          <a:prstGeom prst="roundRect">
            <a:avLst>
              <a:gd name="adj" fmla="val 6154"/>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5" name="Text 22"/>
          <p:cNvSpPr txBox="1"/>
          <p:nvPr/>
        </p:nvSpPr>
        <p:spPr>
          <a:xfrm>
            <a:off x="822960" y="4572000"/>
            <a:ext cx="2743200" cy="548640"/>
          </a:xfrm>
          <a:prstGeom prst="rect">
            <a:avLst/>
          </a:prstGeom>
          <a:noFill/>
          <a:ln/>
        </p:spPr>
        <p:txBody>
          <a:bodyPr wrap="square" lIns="0" tIns="0" rIns="0" bIns="0" rtlCol="0" anchor="t"/>
          <a:lstStyle/>
          <a:p>
            <a:pPr indent="0" marL="0">
              <a:buNone/>
            </a:pPr>
            <a:r>
              <a:rPr lang="en-US" sz="3200" b="1" dirty="0">
                <a:solidFill>
                  <a:schemeClr val="accent1"/>
                </a:solidFill>
                <a:latin typeface="Century Gothic" pitchFamily="34" charset="0"/>
                <a:ea typeface="Century Gothic" pitchFamily="34" charset="-122"/>
                <a:cs typeface="Century Gothic" pitchFamily="34" charset="-120"/>
              </a:rPr>
              <a:t>28,000×</a:t>
            </a:r>
            <a:endParaRPr lang="en-US" sz="3200" dirty="0"/>
          </a:p>
        </p:txBody>
      </p:sp>
      <p:sp>
        <p:nvSpPr>
          <p:cNvPr id="26" name="Text 23"/>
          <p:cNvSpPr txBox="1"/>
          <p:nvPr/>
        </p:nvSpPr>
        <p:spPr>
          <a:xfrm>
            <a:off x="822960" y="5212080"/>
            <a:ext cx="484632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less than hauling video: 500 cameras are 800 Mbps of video but 28 kbps of results</a:t>
            </a:r>
            <a:endParaRPr lang="en-US" sz="1300" dirty="0"/>
          </a:p>
        </p:txBody>
      </p:sp>
      <p:sp>
        <p:nvSpPr>
          <p:cNvPr id="27" name="chip MEASURED"/>
          <p:cNvSpPr/>
          <p:nvPr/>
        </p:nvSpPr>
        <p:spPr>
          <a:xfrm>
            <a:off x="822960" y="5852160"/>
            <a:ext cx="899770"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28" name="Text 25"/>
          <p:cNvSpPr txBox="1"/>
          <p:nvPr/>
        </p:nvSpPr>
        <p:spPr>
          <a:xfrm>
            <a:off x="822960" y="5852160"/>
            <a:ext cx="899770"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p>
        </p:txBody>
      </p:sp>
      <p:sp>
        <p:nvSpPr>
          <p:cNvPr id="29" name="Shape 26"/>
          <p:cNvSpPr/>
          <p:nvPr/>
        </p:nvSpPr>
        <p:spPr>
          <a:xfrm>
            <a:off x="6248095" y="4434840"/>
            <a:ext cx="5394960" cy="1783080"/>
          </a:xfrm>
          <a:prstGeom prst="roundRect">
            <a:avLst>
              <a:gd name="adj" fmla="val 6154"/>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0" name="Text 27"/>
          <p:cNvSpPr txBox="1"/>
          <p:nvPr/>
        </p:nvSpPr>
        <p:spPr>
          <a:xfrm>
            <a:off x="6537960" y="4572000"/>
            <a:ext cx="4846320" cy="320040"/>
          </a:xfrm>
          <a:prstGeom prst="rect">
            <a:avLst/>
          </a:prstGeom>
          <a:noFill/>
          <a:ln/>
        </p:spPr>
        <p:txBody>
          <a:bodyPr wrap="square" lIns="0" tIns="0" rIns="0" bIns="0" rtlCol="0" anchor="t"/>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Live viewing is pulled on demand</a:t>
            </a:r>
            <a:endParaRPr lang="en-US" sz="1500" dirty="0"/>
          </a:p>
        </p:txBody>
      </p:sp>
      <p:sp>
        <p:nvSpPr>
          <p:cNvPr id="31" name="Text 28"/>
          <p:cNvSpPr txBox="1"/>
          <p:nvPr/>
        </p:nvSpPr>
        <p:spPr>
          <a:xfrm>
            <a:off x="6537960" y="4937760"/>
            <a:ext cx="4892040" cy="109728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An operator wall of 16 sub-stream tiles at 0.5 Mbps is ~8 Mbps. 100 walls at once is ~0.8 Gbps, served from the edge nearest each camera. The media server pulls each camera once however many people watch.</a:t>
            </a:r>
            <a:endParaRPr lang="en-US" sz="125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03 · NETWORK</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Eight low-bandwidth strategies, most already in the code</a:t>
            </a:r>
            <a:endParaRPr lang="en-US" sz="2400" dirty="0"/>
          </a:p>
        </p:txBody>
      </p:sp>
      <p:sp>
        <p:nvSpPr>
          <p:cNvPr id="5" name="Shape 2"/>
          <p:cNvSpPr/>
          <p:nvPr/>
        </p:nvSpPr>
        <p:spPr>
          <a:xfrm>
            <a:off x="548640"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Shape 3"/>
          <p:cNvSpPr/>
          <p:nvPr/>
        </p:nvSpPr>
        <p:spPr>
          <a:xfrm>
            <a:off x="749808"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7" name="Image 0" descr="preencoded.png">    </p:cNvPr>
          <p:cNvPicPr>
            <a:picLocks noChangeAspect="1"/>
          </p:cNvPicPr>
          <p:nvPr/>
        </p:nvPicPr>
        <p:blipFill>
          <a:blip r:embed="rId1"/>
          <a:stretch>
            <a:fillRect/>
          </a:stretch>
        </p:blipFill>
        <p:spPr>
          <a:xfrm>
            <a:off x="854964" y="1888236"/>
            <a:ext cx="210312" cy="210312"/>
          </a:xfrm>
          <a:prstGeom prst="rect">
            <a:avLst/>
          </a:prstGeom>
        </p:spPr>
      </p:pic>
      <p:sp>
        <p:nvSpPr>
          <p:cNvPr id="8" name="Text 4"/>
          <p:cNvSpPr txBox="1"/>
          <p:nvPr/>
        </p:nvSpPr>
        <p:spPr>
          <a:xfrm>
            <a:off x="749808"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Analyse at the edge</a:t>
            </a:r>
            <a:endParaRPr lang="en-US" sz="1300" dirty="0"/>
          </a:p>
        </p:txBody>
      </p:sp>
      <p:sp>
        <p:nvSpPr>
          <p:cNvPr id="9" name="Text 5"/>
          <p:cNvSpPr txBox="1"/>
          <p:nvPr/>
        </p:nvSpPr>
        <p:spPr>
          <a:xfrm>
            <a:off x="749808" y="2651760"/>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Only results cross the link: about 28 kbps for 500 cameras.</a:t>
            </a:r>
            <a:endParaRPr lang="en-US" sz="1300" dirty="0"/>
          </a:p>
        </p:txBody>
      </p:sp>
      <p:sp>
        <p:nvSpPr>
          <p:cNvPr id="10" name="chip BUILT"/>
          <p:cNvSpPr/>
          <p:nvPr/>
        </p:nvSpPr>
        <p:spPr>
          <a:xfrm>
            <a:off x="749808"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11" name="Text 7"/>
          <p:cNvSpPr txBox="1"/>
          <p:nvPr/>
        </p:nvSpPr>
        <p:spPr>
          <a:xfrm>
            <a:off x="749808"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12" name="Shape 8"/>
          <p:cNvSpPr/>
          <p:nvPr/>
        </p:nvSpPr>
        <p:spPr>
          <a:xfrm>
            <a:off x="3379394"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3" name="Shape 9"/>
          <p:cNvSpPr/>
          <p:nvPr/>
        </p:nvSpPr>
        <p:spPr>
          <a:xfrm>
            <a:off x="3580562"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14" name="Image 1" descr="preencoded.png">    </p:cNvPr>
          <p:cNvPicPr>
            <a:picLocks noChangeAspect="1"/>
          </p:cNvPicPr>
          <p:nvPr/>
        </p:nvPicPr>
        <p:blipFill>
          <a:blip r:embed="rId2"/>
          <a:stretch>
            <a:fillRect/>
          </a:stretch>
        </p:blipFill>
        <p:spPr>
          <a:xfrm>
            <a:off x="3685718" y="1888236"/>
            <a:ext cx="210312" cy="210312"/>
          </a:xfrm>
          <a:prstGeom prst="rect">
            <a:avLst/>
          </a:prstGeom>
        </p:spPr>
      </p:pic>
      <p:sp>
        <p:nvSpPr>
          <p:cNvPr id="15" name="Text 10"/>
          <p:cNvSpPr txBox="1"/>
          <p:nvPr/>
        </p:nvSpPr>
        <p:spPr>
          <a:xfrm>
            <a:off x="3580562"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Frame gate</a:t>
            </a:r>
            <a:endParaRPr lang="en-US" sz="1300" dirty="0"/>
          </a:p>
        </p:txBody>
      </p:sp>
      <p:sp>
        <p:nvSpPr>
          <p:cNvPr id="16" name="Text 11"/>
          <p:cNvSpPr txBox="1"/>
          <p:nvPr/>
        </p:nvSpPr>
        <p:spPr>
          <a:xfrm>
            <a:off x="3580562" y="2651760"/>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Skip a frame if under 2% of pixels moved; heartbeat every 10 minutes.</a:t>
            </a:r>
            <a:endParaRPr lang="en-US" sz="1300" dirty="0"/>
          </a:p>
        </p:txBody>
      </p:sp>
      <p:sp>
        <p:nvSpPr>
          <p:cNvPr id="17" name="chip BUILT"/>
          <p:cNvSpPr/>
          <p:nvPr/>
        </p:nvSpPr>
        <p:spPr>
          <a:xfrm>
            <a:off x="3580562"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18" name="Text 13"/>
          <p:cNvSpPr txBox="1"/>
          <p:nvPr/>
        </p:nvSpPr>
        <p:spPr>
          <a:xfrm>
            <a:off x="3580562"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19" name="Shape 14"/>
          <p:cNvSpPr/>
          <p:nvPr/>
        </p:nvSpPr>
        <p:spPr>
          <a:xfrm>
            <a:off x="6210148"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0" name="Shape 15"/>
          <p:cNvSpPr/>
          <p:nvPr/>
        </p:nvSpPr>
        <p:spPr>
          <a:xfrm>
            <a:off x="6411316"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21" name="Image 2" descr="preencoded.png">    </p:cNvPr>
          <p:cNvPicPr>
            <a:picLocks noChangeAspect="1"/>
          </p:cNvPicPr>
          <p:nvPr/>
        </p:nvPicPr>
        <p:blipFill>
          <a:blip r:embed="rId3"/>
          <a:stretch>
            <a:fillRect/>
          </a:stretch>
        </p:blipFill>
        <p:spPr>
          <a:xfrm>
            <a:off x="6516472" y="1888236"/>
            <a:ext cx="210312" cy="210312"/>
          </a:xfrm>
          <a:prstGeom prst="rect">
            <a:avLst/>
          </a:prstGeom>
        </p:spPr>
      </p:pic>
      <p:sp>
        <p:nvSpPr>
          <p:cNvPr id="22" name="Text 16"/>
          <p:cNvSpPr txBox="1"/>
          <p:nvPr/>
        </p:nvSpPr>
        <p:spPr>
          <a:xfrm>
            <a:off x="6411316"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Store and forward</a:t>
            </a:r>
            <a:endParaRPr lang="en-US" sz="1300" dirty="0"/>
          </a:p>
        </p:txBody>
      </p:sp>
      <p:sp>
        <p:nvSpPr>
          <p:cNvPr id="23" name="Text 17"/>
          <p:cNvSpPr txBox="1"/>
          <p:nvPr/>
        </p:nvSpPr>
        <p:spPr>
          <a:xfrm>
            <a:off x="6411316" y="2651760"/>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Disk outbox, batches of 200, back-off from 1 s to 60 s, survives days offline.</a:t>
            </a:r>
            <a:endParaRPr lang="en-US" sz="1300" dirty="0"/>
          </a:p>
        </p:txBody>
      </p:sp>
      <p:sp>
        <p:nvSpPr>
          <p:cNvPr id="24" name="chip BUILT"/>
          <p:cNvSpPr/>
          <p:nvPr/>
        </p:nvSpPr>
        <p:spPr>
          <a:xfrm>
            <a:off x="6411316"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25" name="Text 19"/>
          <p:cNvSpPr txBox="1"/>
          <p:nvPr/>
        </p:nvSpPr>
        <p:spPr>
          <a:xfrm>
            <a:off x="6411316"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26" name="Shape 20"/>
          <p:cNvSpPr/>
          <p:nvPr/>
        </p:nvSpPr>
        <p:spPr>
          <a:xfrm>
            <a:off x="9040901" y="1600200"/>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7" name="Shape 21"/>
          <p:cNvSpPr/>
          <p:nvPr/>
        </p:nvSpPr>
        <p:spPr>
          <a:xfrm>
            <a:off x="9242069" y="1783080"/>
            <a:ext cx="420624" cy="420624"/>
          </a:xfrm>
          <a:prstGeom prst="ellipse">
            <a:avLst/>
          </a:prstGeom>
          <a:solidFill>
            <a:schemeClr val="accent1">
              <a:alpha val="12000"/>
            </a:schemeClr>
          </a:solidFill>
          <a:ln w="6350">
            <a:solidFill>
              <a:schemeClr val="accent1">
                <a:alpha val="30000"/>
              </a:schemeClr>
            </a:solidFill>
            <a:prstDash val="solid"/>
          </a:ln>
        </p:spPr>
      </p:sp>
      <p:pic>
        <p:nvPicPr>
          <p:cNvPr id="28" name="Image 3" descr="preencoded.png">    </p:cNvPr>
          <p:cNvPicPr>
            <a:picLocks noChangeAspect="1"/>
          </p:cNvPicPr>
          <p:nvPr/>
        </p:nvPicPr>
        <p:blipFill>
          <a:blip r:embed="rId4"/>
          <a:stretch>
            <a:fillRect/>
          </a:stretch>
        </p:blipFill>
        <p:spPr>
          <a:xfrm>
            <a:off x="9347225" y="1888236"/>
            <a:ext cx="210312" cy="210312"/>
          </a:xfrm>
          <a:prstGeom prst="rect">
            <a:avLst/>
          </a:prstGeom>
        </p:spPr>
      </p:pic>
      <p:sp>
        <p:nvSpPr>
          <p:cNvPr id="29" name="Text 22"/>
          <p:cNvSpPr txBox="1"/>
          <p:nvPr/>
        </p:nvSpPr>
        <p:spPr>
          <a:xfrm>
            <a:off x="9242069" y="2313432"/>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Pull only when watched</a:t>
            </a:r>
            <a:endParaRPr lang="en-US" sz="1300" dirty="0"/>
          </a:p>
        </p:txBody>
      </p:sp>
      <p:sp>
        <p:nvSpPr>
          <p:cNvPr id="30" name="Text 23"/>
          <p:cNvSpPr txBox="1"/>
          <p:nvPr/>
        </p:nvSpPr>
        <p:spPr>
          <a:xfrm>
            <a:off x="9242069" y="2651760"/>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One pull per camera; the relay serves every viewer from that one stream.</a:t>
            </a:r>
            <a:endParaRPr lang="en-US" sz="1300" dirty="0"/>
          </a:p>
        </p:txBody>
      </p:sp>
      <p:sp>
        <p:nvSpPr>
          <p:cNvPr id="31" name="chip BUILT"/>
          <p:cNvSpPr/>
          <p:nvPr/>
        </p:nvSpPr>
        <p:spPr>
          <a:xfrm>
            <a:off x="9242069" y="3401568"/>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32" name="Text 25"/>
          <p:cNvSpPr txBox="1"/>
          <p:nvPr/>
        </p:nvSpPr>
        <p:spPr>
          <a:xfrm>
            <a:off x="9242069" y="3401568"/>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33" name="Shape 26"/>
          <p:cNvSpPr/>
          <p:nvPr/>
        </p:nvSpPr>
        <p:spPr>
          <a:xfrm>
            <a:off x="548640"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4" name="Shape 27"/>
          <p:cNvSpPr/>
          <p:nvPr/>
        </p:nvSpPr>
        <p:spPr>
          <a:xfrm>
            <a:off x="749808"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35" name="Image 4" descr="preencoded.png">    </p:cNvPr>
          <p:cNvPicPr>
            <a:picLocks noChangeAspect="1"/>
          </p:cNvPicPr>
          <p:nvPr/>
        </p:nvPicPr>
        <p:blipFill>
          <a:blip r:embed="rId5"/>
          <a:stretch>
            <a:fillRect/>
          </a:stretch>
        </p:blipFill>
        <p:spPr>
          <a:xfrm>
            <a:off x="854964" y="4238244"/>
            <a:ext cx="210312" cy="210312"/>
          </a:xfrm>
          <a:prstGeom prst="rect">
            <a:avLst/>
          </a:prstGeom>
        </p:spPr>
      </p:pic>
      <p:sp>
        <p:nvSpPr>
          <p:cNvPr id="36" name="Text 28"/>
          <p:cNvSpPr txBox="1"/>
          <p:nvPr/>
        </p:nvSpPr>
        <p:spPr>
          <a:xfrm>
            <a:off x="749808"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Link-aware playback</a:t>
            </a:r>
            <a:endParaRPr lang="en-US" sz="1300" dirty="0"/>
          </a:p>
        </p:txBody>
      </p:sp>
      <p:sp>
        <p:nvSpPr>
          <p:cNvPr id="37" name="Text 29"/>
          <p:cNvSpPr txBox="1"/>
          <p:nvPr/>
        </p:nvSpPr>
        <p:spPr>
          <a:xfrm>
            <a:off x="749808" y="5001768"/>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Plain fMP4 HLS on weak links; low-latency HLS stalled at 300 ms delay in testing.</a:t>
            </a:r>
            <a:endParaRPr lang="en-US" sz="1300" dirty="0"/>
          </a:p>
        </p:txBody>
      </p:sp>
      <p:sp>
        <p:nvSpPr>
          <p:cNvPr id="38" name="chip BUILT"/>
          <p:cNvSpPr/>
          <p:nvPr/>
        </p:nvSpPr>
        <p:spPr>
          <a:xfrm>
            <a:off x="749808" y="5751576"/>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39" name="Text 31"/>
          <p:cNvSpPr txBox="1"/>
          <p:nvPr/>
        </p:nvSpPr>
        <p:spPr>
          <a:xfrm>
            <a:off x="749808" y="5751576"/>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40" name="Shape 32"/>
          <p:cNvSpPr/>
          <p:nvPr/>
        </p:nvSpPr>
        <p:spPr>
          <a:xfrm>
            <a:off x="3379394"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41" name="Shape 33"/>
          <p:cNvSpPr/>
          <p:nvPr/>
        </p:nvSpPr>
        <p:spPr>
          <a:xfrm>
            <a:off x="3580562"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42" name="Image 5" descr="preencoded.png">    </p:cNvPr>
          <p:cNvPicPr>
            <a:picLocks noChangeAspect="1"/>
          </p:cNvPicPr>
          <p:nvPr/>
        </p:nvPicPr>
        <p:blipFill>
          <a:blip r:embed="rId6"/>
          <a:stretch>
            <a:fillRect/>
          </a:stretch>
        </p:blipFill>
        <p:spPr>
          <a:xfrm>
            <a:off x="3685718" y="4238244"/>
            <a:ext cx="210312" cy="210312"/>
          </a:xfrm>
          <a:prstGeom prst="rect">
            <a:avLst/>
          </a:prstGeom>
        </p:spPr>
      </p:pic>
      <p:sp>
        <p:nvSpPr>
          <p:cNvPr id="43" name="Text 34"/>
          <p:cNvSpPr txBox="1"/>
          <p:nvPr/>
        </p:nvSpPr>
        <p:spPr>
          <a:xfrm>
            <a:off x="3580562"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Sub-streams</a:t>
            </a:r>
            <a:endParaRPr lang="en-US" sz="1300" dirty="0"/>
          </a:p>
        </p:txBody>
      </p:sp>
      <p:sp>
        <p:nvSpPr>
          <p:cNvPr id="44" name="Text 35"/>
          <p:cNvSpPr txBox="1"/>
          <p:nvPr/>
        </p:nvSpPr>
        <p:spPr>
          <a:xfrm>
            <a:off x="3580562" y="5001768"/>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Walls and recording on 1 Mbps sub-streams instead of 2 to 4 Mbps main streams.</a:t>
            </a:r>
            <a:endParaRPr lang="en-US" sz="1300" dirty="0"/>
          </a:p>
        </p:txBody>
      </p:sp>
      <p:sp>
        <p:nvSpPr>
          <p:cNvPr id="45" name="chip CONFIG"/>
          <p:cNvSpPr/>
          <p:nvPr/>
        </p:nvSpPr>
        <p:spPr>
          <a:xfrm>
            <a:off x="3580562" y="5751576"/>
            <a:ext cx="738835" cy="237744"/>
          </a:xfrm>
          <a:prstGeom prst="roundRect">
            <a:avLst>
              <a:gd name="adj" fmla="val 50000"/>
            </a:avLst>
          </a:prstGeom>
          <a:solidFill>
            <a:schemeClr val="accent1">
              <a:alpha val="14000"/>
            </a:schemeClr>
          </a:solidFill>
          <a:ln w="6350">
            <a:solidFill>
              <a:schemeClr val="accent1">
                <a:alpha val="40000"/>
              </a:schemeClr>
            </a:solidFill>
            <a:prstDash val="solid"/>
          </a:ln>
        </p:spPr>
      </p:sp>
      <p:sp>
        <p:nvSpPr>
          <p:cNvPr id="46" name="Text 37"/>
          <p:cNvSpPr txBox="1"/>
          <p:nvPr/>
        </p:nvSpPr>
        <p:spPr>
          <a:xfrm>
            <a:off x="3580562" y="5751576"/>
            <a:ext cx="738835" cy="237744"/>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CONFIG</a:t>
            </a:r>
            <a:endParaRPr lang="en-US" sz="1000" dirty="0"/>
          </a:p>
        </p:txBody>
      </p:sp>
      <p:sp>
        <p:nvSpPr>
          <p:cNvPr id="47" name="Shape 38"/>
          <p:cNvSpPr/>
          <p:nvPr/>
        </p:nvSpPr>
        <p:spPr>
          <a:xfrm>
            <a:off x="6210148"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48" name="Shape 39"/>
          <p:cNvSpPr/>
          <p:nvPr/>
        </p:nvSpPr>
        <p:spPr>
          <a:xfrm>
            <a:off x="6411316"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49" name="Image 6" descr="preencoded.png">    </p:cNvPr>
          <p:cNvPicPr>
            <a:picLocks noChangeAspect="1"/>
          </p:cNvPicPr>
          <p:nvPr/>
        </p:nvPicPr>
        <p:blipFill>
          <a:blip r:embed="rId7"/>
          <a:stretch>
            <a:fillRect/>
          </a:stretch>
        </p:blipFill>
        <p:spPr>
          <a:xfrm>
            <a:off x="6516472" y="4238244"/>
            <a:ext cx="210312" cy="210312"/>
          </a:xfrm>
          <a:prstGeom prst="rect">
            <a:avLst/>
          </a:prstGeom>
        </p:spPr>
      </p:pic>
      <p:sp>
        <p:nvSpPr>
          <p:cNvPr id="50" name="Text 40"/>
          <p:cNvSpPr txBox="1"/>
          <p:nvPr/>
        </p:nvSpPr>
        <p:spPr>
          <a:xfrm>
            <a:off x="6411316"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No-AI local detector</a:t>
            </a:r>
            <a:endParaRPr lang="en-US" sz="1300" dirty="0"/>
          </a:p>
        </p:txBody>
      </p:sp>
      <p:sp>
        <p:nvSpPr>
          <p:cNvPr id="51" name="Text 41"/>
          <p:cNvSpPr txBox="1"/>
          <p:nvPr/>
        </p:nvSpPr>
        <p:spPr>
          <a:xfrm>
            <a:off x="6411316" y="5001768"/>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Motion, zone and line events from a 64×36 fingerprint: no model call, no key.</a:t>
            </a:r>
            <a:endParaRPr lang="en-US" sz="1300" dirty="0"/>
          </a:p>
        </p:txBody>
      </p:sp>
      <p:sp>
        <p:nvSpPr>
          <p:cNvPr id="52" name="chip BUILT"/>
          <p:cNvSpPr/>
          <p:nvPr/>
        </p:nvSpPr>
        <p:spPr>
          <a:xfrm>
            <a:off x="6411316" y="5751576"/>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53" name="Text 43"/>
          <p:cNvSpPr txBox="1"/>
          <p:nvPr/>
        </p:nvSpPr>
        <p:spPr>
          <a:xfrm>
            <a:off x="6411316" y="5751576"/>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54" name="Shape 44"/>
          <p:cNvSpPr/>
          <p:nvPr/>
        </p:nvSpPr>
        <p:spPr>
          <a:xfrm>
            <a:off x="9040901" y="3950208"/>
            <a:ext cx="2602154"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55" name="Shape 45"/>
          <p:cNvSpPr/>
          <p:nvPr/>
        </p:nvSpPr>
        <p:spPr>
          <a:xfrm>
            <a:off x="9242069" y="4133088"/>
            <a:ext cx="420624" cy="420624"/>
          </a:xfrm>
          <a:prstGeom prst="ellipse">
            <a:avLst/>
          </a:prstGeom>
          <a:solidFill>
            <a:schemeClr val="accent1">
              <a:alpha val="12000"/>
            </a:schemeClr>
          </a:solidFill>
          <a:ln w="6350">
            <a:solidFill>
              <a:schemeClr val="accent1">
                <a:alpha val="30000"/>
              </a:schemeClr>
            </a:solidFill>
            <a:prstDash val="solid"/>
          </a:ln>
        </p:spPr>
      </p:sp>
      <p:pic>
        <p:nvPicPr>
          <p:cNvPr id="56" name="Image 7" descr="preencoded.png">    </p:cNvPr>
          <p:cNvPicPr>
            <a:picLocks noChangeAspect="1"/>
          </p:cNvPicPr>
          <p:nvPr/>
        </p:nvPicPr>
        <p:blipFill>
          <a:blip r:embed="rId8"/>
          <a:stretch>
            <a:fillRect/>
          </a:stretch>
        </p:blipFill>
        <p:spPr>
          <a:xfrm>
            <a:off x="9347225" y="4238244"/>
            <a:ext cx="210312" cy="210312"/>
          </a:xfrm>
          <a:prstGeom prst="rect">
            <a:avLst/>
          </a:prstGeom>
        </p:spPr>
      </p:pic>
      <p:sp>
        <p:nvSpPr>
          <p:cNvPr id="57" name="Text 46"/>
          <p:cNvSpPr txBox="1"/>
          <p:nvPr/>
        </p:nvSpPr>
        <p:spPr>
          <a:xfrm>
            <a:off x="9242069" y="4663440"/>
            <a:ext cx="2199818" cy="36576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Longer intervals</a:t>
            </a:r>
            <a:endParaRPr lang="en-US" sz="1300" dirty="0"/>
          </a:p>
        </p:txBody>
      </p:sp>
      <p:sp>
        <p:nvSpPr>
          <p:cNvPr id="58" name="Text 47"/>
          <p:cNvSpPr txBox="1"/>
          <p:nvPr/>
        </p:nvSpPr>
        <p:spPr>
          <a:xfrm>
            <a:off x="9242069" y="5001768"/>
            <a:ext cx="2199818" cy="6858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300 s intervals cut frames five times; notable-only mirroring cuts writes tenfold.</a:t>
            </a:r>
            <a:endParaRPr lang="en-US" sz="1300" dirty="0"/>
          </a:p>
        </p:txBody>
      </p:sp>
      <p:sp>
        <p:nvSpPr>
          <p:cNvPr id="59" name="chip BUILT"/>
          <p:cNvSpPr/>
          <p:nvPr/>
        </p:nvSpPr>
        <p:spPr>
          <a:xfrm>
            <a:off x="9242069" y="5751576"/>
            <a:ext cx="658368"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60" name="Text 49"/>
          <p:cNvSpPr txBox="1"/>
          <p:nvPr/>
        </p:nvSpPr>
        <p:spPr>
          <a:xfrm>
            <a:off x="9242069" y="5751576"/>
            <a:ext cx="658368"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04 · STORAGE</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Hot, warm and cold tiers for a 15-day retention baseline</a:t>
            </a:r>
            <a:endParaRPr lang="en-US" sz="2400" dirty="0"/>
          </a:p>
        </p:txBody>
      </p:sp>
      <p:sp>
        <p:nvSpPr>
          <p:cNvPr id="5" name="Shape 2"/>
          <p:cNvSpPr/>
          <p:nvPr/>
        </p:nvSpPr>
        <p:spPr>
          <a:xfrm>
            <a:off x="548640" y="1554480"/>
            <a:ext cx="2636444" cy="822960"/>
          </a:xfrm>
          <a:prstGeom prst="roundRect">
            <a:avLst>
              <a:gd name="adj" fmla="val 13333"/>
            </a:avLst>
          </a:prstGeom>
          <a:solidFill>
            <a:schemeClr val="bg1"/>
          </a:solidFill>
          <a:ln w="9525">
            <a:solidFill>
              <a:schemeClr val="accent6"/>
            </a:solidFill>
            <a:prstDash val="solid"/>
          </a:ln>
        </p:spPr>
      </p:sp>
      <p:sp>
        <p:nvSpPr>
          <p:cNvPr id="6" name="Text 3"/>
          <p:cNvSpPr txBox="1"/>
          <p:nvPr/>
        </p:nvSpPr>
        <p:spPr>
          <a:xfrm>
            <a:off x="731520" y="1627632"/>
            <a:ext cx="2270684" cy="365760"/>
          </a:xfrm>
          <a:prstGeom prst="rect">
            <a:avLst/>
          </a:prstGeom>
          <a:noFill/>
          <a:ln/>
        </p:spPr>
        <p:txBody>
          <a:bodyPr wrap="square" lIns="0" tIns="0" rIns="0" bIns="0" rtlCol="0" anchor="t"/>
          <a:lstStyle/>
          <a:p>
            <a:pPr indent="0" marL="0">
              <a:buNone/>
            </a:pPr>
            <a:r>
              <a:rPr lang="en-US" sz="1800" b="1" dirty="0">
                <a:solidFill>
                  <a:schemeClr val="accent1"/>
                </a:solidFill>
                <a:latin typeface="Century Gothic" pitchFamily="34" charset="0"/>
                <a:ea typeface="Century Gothic" pitchFamily="34" charset="-122"/>
                <a:cs typeface="Century Gothic" pitchFamily="34" charset="-120"/>
              </a:rPr>
              <a:t>80,000</a:t>
            </a:r>
            <a:endParaRPr lang="en-US" sz="1800" dirty="0"/>
          </a:p>
        </p:txBody>
      </p:sp>
      <p:sp>
        <p:nvSpPr>
          <p:cNvPr id="7" name="Text 4"/>
          <p:cNvSpPr txBox="1"/>
          <p:nvPr/>
        </p:nvSpPr>
        <p:spPr>
          <a:xfrm>
            <a:off x="731520" y="2011680"/>
            <a:ext cx="2270684"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cameras recorded</a:t>
            </a:r>
            <a:endParaRPr lang="en-US" sz="1150" dirty="0"/>
          </a:p>
        </p:txBody>
      </p:sp>
      <p:sp>
        <p:nvSpPr>
          <p:cNvPr id="8" name="Shape 5"/>
          <p:cNvSpPr/>
          <p:nvPr/>
        </p:nvSpPr>
        <p:spPr>
          <a:xfrm>
            <a:off x="3367964" y="1554480"/>
            <a:ext cx="2636444" cy="822960"/>
          </a:xfrm>
          <a:prstGeom prst="roundRect">
            <a:avLst>
              <a:gd name="adj" fmla="val 13333"/>
            </a:avLst>
          </a:prstGeom>
          <a:solidFill>
            <a:schemeClr val="bg1"/>
          </a:solidFill>
          <a:ln w="9525">
            <a:solidFill>
              <a:schemeClr val="accent6"/>
            </a:solidFill>
            <a:prstDash val="solid"/>
          </a:ln>
        </p:spPr>
      </p:sp>
      <p:sp>
        <p:nvSpPr>
          <p:cNvPr id="9" name="Text 6"/>
          <p:cNvSpPr txBox="1"/>
          <p:nvPr/>
        </p:nvSpPr>
        <p:spPr>
          <a:xfrm>
            <a:off x="3550844" y="1627632"/>
            <a:ext cx="2270684" cy="365760"/>
          </a:xfrm>
          <a:prstGeom prst="rect">
            <a:avLst/>
          </a:prstGeom>
          <a:noFill/>
          <a:ln/>
        </p:spPr>
        <p:txBody>
          <a:bodyPr wrap="square" lIns="0" tIns="0" rIns="0" bIns="0" rtlCol="0" anchor="t"/>
          <a:lstStyle/>
          <a:p>
            <a:pPr indent="0" marL="0">
              <a:buNone/>
            </a:pPr>
            <a:r>
              <a:rPr lang="en-US" sz="1800" b="1" dirty="0">
                <a:solidFill>
                  <a:schemeClr val="accent1"/>
                </a:solidFill>
                <a:latin typeface="Century Gothic" pitchFamily="34" charset="0"/>
                <a:ea typeface="Century Gothic" pitchFamily="34" charset="-122"/>
                <a:cs typeface="Century Gothic" pitchFamily="34" charset="-120"/>
              </a:rPr>
              <a:t>1 Mbps</a:t>
            </a:r>
            <a:endParaRPr lang="en-US" sz="1800" dirty="0"/>
          </a:p>
        </p:txBody>
      </p:sp>
      <p:sp>
        <p:nvSpPr>
          <p:cNvPr id="10" name="Text 7"/>
          <p:cNvSpPr txBox="1"/>
          <p:nvPr/>
        </p:nvSpPr>
        <p:spPr>
          <a:xfrm>
            <a:off x="3550844" y="2011680"/>
            <a:ext cx="2270684"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sub-stream, 10.8 GB per day each</a:t>
            </a:r>
            <a:endParaRPr lang="en-US" sz="1150" dirty="0"/>
          </a:p>
        </p:txBody>
      </p:sp>
      <p:sp>
        <p:nvSpPr>
          <p:cNvPr id="11" name="Shape 8"/>
          <p:cNvSpPr/>
          <p:nvPr/>
        </p:nvSpPr>
        <p:spPr>
          <a:xfrm>
            <a:off x="6187288" y="1554480"/>
            <a:ext cx="2636444" cy="822960"/>
          </a:xfrm>
          <a:prstGeom prst="roundRect">
            <a:avLst>
              <a:gd name="adj" fmla="val 13333"/>
            </a:avLst>
          </a:prstGeom>
          <a:solidFill>
            <a:schemeClr val="bg1"/>
          </a:solidFill>
          <a:ln w="9525">
            <a:solidFill>
              <a:schemeClr val="accent6"/>
            </a:solidFill>
            <a:prstDash val="solid"/>
          </a:ln>
        </p:spPr>
      </p:sp>
      <p:sp>
        <p:nvSpPr>
          <p:cNvPr id="12" name="Text 9"/>
          <p:cNvSpPr txBox="1"/>
          <p:nvPr/>
        </p:nvSpPr>
        <p:spPr>
          <a:xfrm>
            <a:off x="6370168" y="1627632"/>
            <a:ext cx="2270684" cy="365760"/>
          </a:xfrm>
          <a:prstGeom prst="rect">
            <a:avLst/>
          </a:prstGeom>
          <a:noFill/>
          <a:ln/>
        </p:spPr>
        <p:txBody>
          <a:bodyPr wrap="square" lIns="0" tIns="0" rIns="0" bIns="0" rtlCol="0" anchor="t"/>
          <a:lstStyle/>
          <a:p>
            <a:pPr indent="0" marL="0">
              <a:buNone/>
            </a:pPr>
            <a:r>
              <a:rPr lang="en-US" sz="1800" b="1" dirty="0">
                <a:solidFill>
                  <a:schemeClr val="accent1"/>
                </a:solidFill>
                <a:latin typeface="Century Gothic" pitchFamily="34" charset="0"/>
                <a:ea typeface="Century Gothic" pitchFamily="34" charset="-122"/>
                <a:cs typeface="Century Gothic" pitchFamily="34" charset="-120"/>
              </a:rPr>
              <a:t>864 TB</a:t>
            </a:r>
            <a:endParaRPr lang="en-US" sz="1800" dirty="0"/>
          </a:p>
        </p:txBody>
      </p:sp>
      <p:sp>
        <p:nvSpPr>
          <p:cNvPr id="13" name="Text 10"/>
          <p:cNvSpPr txBox="1"/>
          <p:nvPr/>
        </p:nvSpPr>
        <p:spPr>
          <a:xfrm>
            <a:off x="6370168" y="2011680"/>
            <a:ext cx="2270684"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written per day</a:t>
            </a:r>
            <a:endParaRPr lang="en-US" sz="1150" dirty="0"/>
          </a:p>
        </p:txBody>
      </p:sp>
      <p:sp>
        <p:nvSpPr>
          <p:cNvPr id="14" name="Shape 11"/>
          <p:cNvSpPr/>
          <p:nvPr/>
        </p:nvSpPr>
        <p:spPr>
          <a:xfrm>
            <a:off x="9006611" y="1554480"/>
            <a:ext cx="2636444" cy="822960"/>
          </a:xfrm>
          <a:prstGeom prst="roundRect">
            <a:avLst>
              <a:gd name="adj" fmla="val 13333"/>
            </a:avLst>
          </a:prstGeom>
          <a:solidFill>
            <a:schemeClr val="bg1"/>
          </a:solidFill>
          <a:ln w="9525">
            <a:solidFill>
              <a:schemeClr val="accent6"/>
            </a:solidFill>
            <a:prstDash val="solid"/>
          </a:ln>
        </p:spPr>
      </p:sp>
      <p:sp>
        <p:nvSpPr>
          <p:cNvPr id="15" name="Text 12"/>
          <p:cNvSpPr txBox="1"/>
          <p:nvPr/>
        </p:nvSpPr>
        <p:spPr>
          <a:xfrm>
            <a:off x="9189491" y="1627632"/>
            <a:ext cx="2270684" cy="365760"/>
          </a:xfrm>
          <a:prstGeom prst="rect">
            <a:avLst/>
          </a:prstGeom>
          <a:noFill/>
          <a:ln/>
        </p:spPr>
        <p:txBody>
          <a:bodyPr wrap="square" lIns="0" tIns="0" rIns="0" bIns="0" rtlCol="0" anchor="t"/>
          <a:lstStyle/>
          <a:p>
            <a:pPr indent="0" marL="0">
              <a:buNone/>
            </a:pPr>
            <a:r>
              <a:rPr lang="en-US" sz="1800" b="1" dirty="0">
                <a:solidFill>
                  <a:schemeClr val="accent1"/>
                </a:solidFill>
                <a:latin typeface="Century Gothic" pitchFamily="34" charset="0"/>
                <a:ea typeface="Century Gothic" pitchFamily="34" charset="-122"/>
                <a:cs typeface="Century Gothic" pitchFamily="34" charset="-120"/>
              </a:rPr>
              <a:t>15 days</a:t>
            </a:r>
            <a:endParaRPr lang="en-US" sz="1800" dirty="0"/>
          </a:p>
        </p:txBody>
      </p:sp>
      <p:sp>
        <p:nvSpPr>
          <p:cNvPr id="16" name="Text 13"/>
          <p:cNvSpPr txBox="1"/>
          <p:nvPr/>
        </p:nvSpPr>
        <p:spPr>
          <a:xfrm>
            <a:off x="9189491" y="2011680"/>
            <a:ext cx="2270684" cy="274320"/>
          </a:xfrm>
          <a:prstGeom prst="rect">
            <a:avLst/>
          </a:prstGeom>
          <a:noFill/>
          <a:ln/>
        </p:spPr>
        <p:txBody>
          <a:bodyPr wrap="square" lIns="0" tIns="0" rIns="0" bIns="0" rtlCol="0" anchor="t"/>
          <a:lstStyle/>
          <a:p>
            <a:pPr indent="0" marL="0">
              <a:buNone/>
            </a:pPr>
            <a:r>
              <a:rPr lang="en-US" sz="1150" dirty="0">
                <a:solidFill>
                  <a:schemeClr val="tx2"/>
                </a:solidFill>
                <a:latin typeface="Calibri" pitchFamily="34" charset="0"/>
                <a:ea typeface="Calibri" pitchFamily="34" charset="-122"/>
                <a:cs typeface="Calibri" pitchFamily="34" charset="-120"/>
              </a:rPr>
              <a:t>baseline; per-camera keepDays</a:t>
            </a:r>
            <a:endParaRPr lang="en-US" sz="1150" dirty="0"/>
          </a:p>
        </p:txBody>
      </p:sp>
      <p:sp>
        <p:nvSpPr>
          <p:cNvPr id="17" name="Shape 14"/>
          <p:cNvSpPr/>
          <p:nvPr/>
        </p:nvSpPr>
        <p:spPr>
          <a:xfrm>
            <a:off x="548640" y="2560320"/>
            <a:ext cx="1442679" cy="402336"/>
          </a:xfrm>
          <a:prstGeom prst="rect">
            <a:avLst/>
          </a:prstGeom>
          <a:solidFill>
            <a:srgbClr val="2563EB"/>
          </a:solidFill>
          <a:ln w="12700">
            <a:solidFill>
              <a:srgbClr val="2563EB"/>
            </a:solidFill>
            <a:prstDash val="solid"/>
          </a:ln>
        </p:spPr>
      </p:sp>
      <p:sp>
        <p:nvSpPr>
          <p:cNvPr id="18" name="Text 15"/>
          <p:cNvSpPr txBox="1"/>
          <p:nvPr/>
        </p:nvSpPr>
        <p:spPr>
          <a:xfrm>
            <a:off x="548640" y="2560320"/>
            <a:ext cx="1442679" cy="402336"/>
          </a:xfrm>
          <a:prstGeom prst="rect">
            <a:avLst/>
          </a:prstGeom>
          <a:noFill/>
          <a:ln/>
        </p:spPr>
        <p:txBody>
          <a:bodyPr wrap="square" lIns="0" tIns="0" rIns="0" bIns="0" rtlCol="0" anchor="ctr"/>
          <a:lstStyle/>
          <a:p>
            <a:pPr algn="ctr" indent="0" marL="0">
              <a:buNone/>
            </a:pPr>
            <a:r>
              <a:rPr lang="en-US" sz="1050" b="1" dirty="0">
                <a:solidFill>
                  <a:schemeClr val="bg1"/>
                </a:solidFill>
                <a:latin typeface="Consolas" pitchFamily="34" charset="0"/>
                <a:ea typeface="Consolas" pitchFamily="34" charset="-122"/>
                <a:cs typeface="Consolas" pitchFamily="34" charset="-120"/>
              </a:rPr>
              <a:t>Hot · day 0 to 2</a:t>
            </a:r>
            <a:endParaRPr lang="en-US" sz="1050" dirty="0"/>
          </a:p>
        </p:txBody>
      </p:sp>
      <p:sp>
        <p:nvSpPr>
          <p:cNvPr id="19" name="Shape 16"/>
          <p:cNvSpPr/>
          <p:nvPr/>
        </p:nvSpPr>
        <p:spPr>
          <a:xfrm>
            <a:off x="2027895" y="2560320"/>
            <a:ext cx="3661562" cy="402336"/>
          </a:xfrm>
          <a:prstGeom prst="rect">
            <a:avLst/>
          </a:prstGeom>
          <a:solidFill>
            <a:srgbClr val="60A5FA"/>
          </a:solidFill>
          <a:ln w="12700">
            <a:solidFill>
              <a:srgbClr val="60A5FA"/>
            </a:solidFill>
            <a:prstDash val="solid"/>
          </a:ln>
        </p:spPr>
      </p:sp>
      <p:sp>
        <p:nvSpPr>
          <p:cNvPr id="20" name="Text 17"/>
          <p:cNvSpPr txBox="1"/>
          <p:nvPr/>
        </p:nvSpPr>
        <p:spPr>
          <a:xfrm>
            <a:off x="2027895" y="2560320"/>
            <a:ext cx="3661562" cy="402336"/>
          </a:xfrm>
          <a:prstGeom prst="rect">
            <a:avLst/>
          </a:prstGeom>
          <a:noFill/>
          <a:ln/>
        </p:spPr>
        <p:txBody>
          <a:bodyPr wrap="square" lIns="0" tIns="0" rIns="0" bIns="0" rtlCol="0" anchor="ctr"/>
          <a:lstStyle/>
          <a:p>
            <a:pPr algn="ctr" indent="0" marL="0">
              <a:buNone/>
            </a:pPr>
            <a:r>
              <a:rPr lang="en-US" sz="1050" b="1" dirty="0">
                <a:solidFill>
                  <a:schemeClr val="tx1"/>
                </a:solidFill>
                <a:latin typeface="Consolas" pitchFamily="34" charset="0"/>
                <a:ea typeface="Consolas" pitchFamily="34" charset="-122"/>
                <a:cs typeface="Consolas" pitchFamily="34" charset="-120"/>
              </a:rPr>
              <a:t>Warm · day 3 to 7</a:t>
            </a:r>
            <a:endParaRPr lang="en-US" sz="1050" dirty="0"/>
          </a:p>
        </p:txBody>
      </p:sp>
      <p:sp>
        <p:nvSpPr>
          <p:cNvPr id="21" name="Shape 18"/>
          <p:cNvSpPr/>
          <p:nvPr/>
        </p:nvSpPr>
        <p:spPr>
          <a:xfrm>
            <a:off x="5726034" y="2560320"/>
            <a:ext cx="5880445" cy="402336"/>
          </a:xfrm>
          <a:prstGeom prst="rect">
            <a:avLst/>
          </a:prstGeom>
          <a:solidFill>
            <a:srgbClr val="CBD5E1"/>
          </a:solidFill>
          <a:ln w="12700">
            <a:solidFill>
              <a:srgbClr val="CBD5E1"/>
            </a:solidFill>
            <a:prstDash val="solid"/>
          </a:ln>
        </p:spPr>
      </p:sp>
      <p:sp>
        <p:nvSpPr>
          <p:cNvPr id="22" name="Text 19"/>
          <p:cNvSpPr txBox="1"/>
          <p:nvPr/>
        </p:nvSpPr>
        <p:spPr>
          <a:xfrm>
            <a:off x="5726034" y="2560320"/>
            <a:ext cx="5880445" cy="402336"/>
          </a:xfrm>
          <a:prstGeom prst="rect">
            <a:avLst/>
          </a:prstGeom>
          <a:noFill/>
          <a:ln/>
        </p:spPr>
        <p:txBody>
          <a:bodyPr wrap="square" lIns="0" tIns="0" rIns="0" bIns="0" rtlCol="0" anchor="ctr"/>
          <a:lstStyle/>
          <a:p>
            <a:pPr algn="ctr" indent="0" marL="0">
              <a:buNone/>
            </a:pPr>
            <a:r>
              <a:rPr lang="en-US" sz="1050" b="1" dirty="0">
                <a:solidFill>
                  <a:schemeClr val="tx1"/>
                </a:solidFill>
                <a:latin typeface="Consolas" pitchFamily="34" charset="0"/>
                <a:ea typeface="Consolas" pitchFamily="34" charset="-122"/>
                <a:cs typeface="Consolas" pitchFamily="34" charset="-120"/>
              </a:rPr>
              <a:t>Cold · day 8 to 15</a:t>
            </a:r>
            <a:endParaRPr lang="en-US" sz="1050" dirty="0"/>
          </a:p>
        </p:txBody>
      </p:sp>
      <p:sp>
        <p:nvSpPr>
          <p:cNvPr id="23" name="Shape 20"/>
          <p:cNvSpPr/>
          <p:nvPr/>
        </p:nvSpPr>
        <p:spPr>
          <a:xfrm>
            <a:off x="548640" y="3154680"/>
            <a:ext cx="3515258" cy="3108960"/>
          </a:xfrm>
          <a:prstGeom prst="roundRect">
            <a:avLst>
              <a:gd name="adj" fmla="val 3529"/>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4" name="Text 21"/>
          <p:cNvSpPr txBox="1"/>
          <p:nvPr/>
        </p:nvSpPr>
        <p:spPr>
          <a:xfrm>
            <a:off x="804672" y="3310128"/>
            <a:ext cx="3003194" cy="320040"/>
          </a:xfrm>
          <a:prstGeom prst="rect">
            <a:avLst/>
          </a:prstGeom>
          <a:noFill/>
          <a:ln/>
        </p:spPr>
        <p:txBody>
          <a:bodyPr wrap="square" lIns="0" tIns="0" rIns="0" bIns="0" rtlCol="0" anchor="t"/>
          <a:lstStyle/>
          <a:p>
            <a:pPr indent="0" marL="0">
              <a:buNone/>
            </a:pPr>
            <a:r>
              <a:rPr lang="en-US" sz="1600" b="1" dirty="0">
                <a:solidFill>
                  <a:schemeClr val="tx1"/>
                </a:solidFill>
                <a:latin typeface="Century Gothic" pitchFamily="34" charset="0"/>
                <a:ea typeface="Century Gothic" pitchFamily="34" charset="-122"/>
                <a:cs typeface="Century Gothic" pitchFamily="34" charset="-120"/>
              </a:rPr>
              <a:t>Hot</a:t>
            </a:r>
            <a:endParaRPr lang="en-US" sz="1600" dirty="0"/>
          </a:p>
        </p:txBody>
      </p:sp>
      <p:sp>
        <p:nvSpPr>
          <p:cNvPr id="25" name="Text 22"/>
          <p:cNvSpPr txBox="1"/>
          <p:nvPr/>
        </p:nvSpPr>
        <p:spPr>
          <a:xfrm>
            <a:off x="804672" y="3749040"/>
            <a:ext cx="3003194" cy="2057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Edge node, local RAID-6 disks with NVMe cache</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1.73 PB logical, 2.16 PB raw</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10.8 TB per edge node</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Live tail and instant playback</a:t>
            </a:r>
            <a:endParaRPr lang="en-US" sz="1400" dirty="0"/>
          </a:p>
        </p:txBody>
      </p:sp>
      <p:sp>
        <p:nvSpPr>
          <p:cNvPr id="26" name="chip MODELLED"/>
          <p:cNvSpPr/>
          <p:nvPr/>
        </p:nvSpPr>
        <p:spPr>
          <a:xfrm>
            <a:off x="804672" y="585216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27" name="Text 24"/>
          <p:cNvSpPr txBox="1"/>
          <p:nvPr/>
        </p:nvSpPr>
        <p:spPr>
          <a:xfrm>
            <a:off x="804672" y="585216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28" name="Shape 25"/>
          <p:cNvSpPr/>
          <p:nvPr/>
        </p:nvSpPr>
        <p:spPr>
          <a:xfrm>
            <a:off x="4338218" y="3154680"/>
            <a:ext cx="3515258" cy="3108960"/>
          </a:xfrm>
          <a:prstGeom prst="roundRect">
            <a:avLst>
              <a:gd name="adj" fmla="val 3529"/>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29" name="Text 26"/>
          <p:cNvSpPr txBox="1"/>
          <p:nvPr/>
        </p:nvSpPr>
        <p:spPr>
          <a:xfrm>
            <a:off x="4594250" y="3310128"/>
            <a:ext cx="3003194" cy="320040"/>
          </a:xfrm>
          <a:prstGeom prst="rect">
            <a:avLst/>
          </a:prstGeom>
          <a:noFill/>
          <a:ln/>
        </p:spPr>
        <p:txBody>
          <a:bodyPr wrap="square" lIns="0" tIns="0" rIns="0" bIns="0" rtlCol="0" anchor="t"/>
          <a:lstStyle/>
          <a:p>
            <a:pPr indent="0" marL="0">
              <a:buNone/>
            </a:pPr>
            <a:r>
              <a:rPr lang="en-US" sz="1600" b="1" dirty="0">
                <a:solidFill>
                  <a:schemeClr val="tx1"/>
                </a:solidFill>
                <a:latin typeface="Century Gothic" pitchFamily="34" charset="0"/>
                <a:ea typeface="Century Gothic" pitchFamily="34" charset="-122"/>
                <a:cs typeface="Century Gothic" pitchFamily="34" charset="-120"/>
              </a:rPr>
              <a:t>Warm</a:t>
            </a:r>
            <a:endParaRPr lang="en-US" sz="1600" dirty="0"/>
          </a:p>
        </p:txBody>
      </p:sp>
      <p:sp>
        <p:nvSpPr>
          <p:cNvPr id="30" name="Text 27"/>
          <p:cNvSpPr txBox="1"/>
          <p:nvPr/>
        </p:nvSpPr>
        <p:spPr>
          <a:xfrm>
            <a:off x="4594250" y="3749040"/>
            <a:ext cx="3003194" cy="2057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Edge node, warm folder, erasure coded 6+2</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4.32 PB logical, 5.76 PB raw</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27 TB per edge node</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Playback and clips, slower first byte</a:t>
            </a:r>
            <a:endParaRPr lang="en-US" sz="1400" dirty="0"/>
          </a:p>
        </p:txBody>
      </p:sp>
      <p:sp>
        <p:nvSpPr>
          <p:cNvPr id="31" name="chip MODELLED"/>
          <p:cNvSpPr/>
          <p:nvPr/>
        </p:nvSpPr>
        <p:spPr>
          <a:xfrm>
            <a:off x="4594250" y="585216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32" name="Text 29"/>
          <p:cNvSpPr txBox="1"/>
          <p:nvPr/>
        </p:nvSpPr>
        <p:spPr>
          <a:xfrm>
            <a:off x="4594250" y="585216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33" name="Shape 30"/>
          <p:cNvSpPr/>
          <p:nvPr/>
        </p:nvSpPr>
        <p:spPr>
          <a:xfrm>
            <a:off x="8127797" y="3154680"/>
            <a:ext cx="3515258" cy="3108960"/>
          </a:xfrm>
          <a:prstGeom prst="roundRect">
            <a:avLst>
              <a:gd name="adj" fmla="val 3529"/>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34" name="Text 31"/>
          <p:cNvSpPr txBox="1"/>
          <p:nvPr/>
        </p:nvSpPr>
        <p:spPr>
          <a:xfrm>
            <a:off x="8383829" y="3310128"/>
            <a:ext cx="3003194" cy="320040"/>
          </a:xfrm>
          <a:prstGeom prst="rect">
            <a:avLst/>
          </a:prstGeom>
          <a:noFill/>
          <a:ln/>
        </p:spPr>
        <p:txBody>
          <a:bodyPr wrap="square" lIns="0" tIns="0" rIns="0" bIns="0" rtlCol="0" anchor="t"/>
          <a:lstStyle/>
          <a:p>
            <a:pPr indent="0" marL="0">
              <a:buNone/>
            </a:pPr>
            <a:r>
              <a:rPr lang="en-US" sz="1600" b="1" dirty="0">
                <a:solidFill>
                  <a:schemeClr val="tx1"/>
                </a:solidFill>
                <a:latin typeface="Century Gothic" pitchFamily="34" charset="0"/>
                <a:ea typeface="Century Gothic" pitchFamily="34" charset="-122"/>
                <a:cs typeface="Century Gothic" pitchFamily="34" charset="-120"/>
              </a:rPr>
              <a:t>Cold</a:t>
            </a:r>
            <a:endParaRPr lang="en-US" sz="1600" dirty="0"/>
          </a:p>
        </p:txBody>
      </p:sp>
      <p:sp>
        <p:nvSpPr>
          <p:cNvPr id="35" name="Text 32"/>
          <p:cNvSpPr txBox="1"/>
          <p:nvPr/>
        </p:nvSpPr>
        <p:spPr>
          <a:xfrm>
            <a:off x="8383829" y="3749040"/>
            <a:ext cx="3003194" cy="2057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Regional hub Ceph, S3 API, erasure coded 8+3</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6.91 PB logical, 9.50 PB raw</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0.86 PB logical per hub</a:t>
            </a:r>
            <a:endParaRPr lang="en-US" sz="1400" dirty="0"/>
          </a:p>
          <a:p>
            <a:pPr marL="177800" indent="-1778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Clips cut from a 2 GB cache after download</a:t>
            </a:r>
            <a:endParaRPr lang="en-US" sz="1400" dirty="0"/>
          </a:p>
        </p:txBody>
      </p:sp>
      <p:sp>
        <p:nvSpPr>
          <p:cNvPr id="36" name="chip MODELLED"/>
          <p:cNvSpPr/>
          <p:nvPr/>
        </p:nvSpPr>
        <p:spPr>
          <a:xfrm>
            <a:off x="8383829" y="585216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37" name="Text 34"/>
          <p:cNvSpPr txBox="1"/>
          <p:nvPr/>
        </p:nvSpPr>
        <p:spPr>
          <a:xfrm>
            <a:off x="8383829" y="585216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04 · STORAGE</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Retention and bitrate move storage by about 17 times</a:t>
            </a:r>
            <a:endParaRPr lang="en-US" sz="2400" dirty="0"/>
          </a:p>
        </p:txBody>
      </p:sp>
      <p:sp>
        <p:nvSpPr>
          <p:cNvPr id="5" name="Shape 2"/>
          <p:cNvSpPr/>
          <p:nvPr/>
        </p:nvSpPr>
        <p:spPr>
          <a:xfrm>
            <a:off x="548640" y="1600200"/>
            <a:ext cx="6675120" cy="4663440"/>
          </a:xfrm>
          <a:prstGeom prst="roundRect">
            <a:avLst>
              <a:gd name="adj" fmla="val 2353"/>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Text 3"/>
          <p:cNvSpPr txBox="1"/>
          <p:nvPr/>
        </p:nvSpPr>
        <p:spPr>
          <a:xfrm>
            <a:off x="822960" y="1755648"/>
            <a:ext cx="6126480"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Raw storage by tier, petabytes</a:t>
            </a:r>
            <a:endParaRPr lang="en-US" sz="1300" dirty="0"/>
          </a:p>
        </p:txBody>
      </p:sp>
      <p:graphicFrame>
        <p:nvGraphicFramePr>
          <p:cNvPr id="7" name="Chart 0" descr=""/>
          <p:cNvGraphicFramePr/>
          <p:nvPr/>
        </p:nvGraphicFramePr>
        <p:xfrm>
          <a:off x="731520" y="2057400"/>
          <a:ext cx="6309360" cy="41148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498080" y="1600200"/>
            <a:ext cx="4144975" cy="1463040"/>
          </a:xfrm>
          <a:prstGeom prst="roundRect">
            <a:avLst>
              <a:gd name="adj" fmla="val 75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9" name="Text 5"/>
          <p:cNvSpPr txBox="1"/>
          <p:nvPr/>
        </p:nvSpPr>
        <p:spPr>
          <a:xfrm>
            <a:off x="7699248" y="1737360"/>
            <a:ext cx="3742639"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Events and logs</a:t>
            </a:r>
            <a:endParaRPr lang="en-US" sz="1300" dirty="0"/>
          </a:p>
        </p:txBody>
      </p:sp>
      <p:sp>
        <p:nvSpPr>
          <p:cNvPr id="10" name="Text 6"/>
          <p:cNvSpPr txBox="1"/>
          <p:nvPr/>
        </p:nvSpPr>
        <p:spPr>
          <a:xfrm>
            <a:off x="7699248" y="2057400"/>
            <a:ext cx="3742639"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86 M events a day, ~48 GB of rows (~100 GB with indexes). 30 days hot in Postgres / Timescale, then compressed for a year.</a:t>
            </a:r>
            <a:endParaRPr lang="en-US" sz="1150" dirty="0"/>
          </a:p>
        </p:txBody>
      </p:sp>
      <p:sp>
        <p:nvSpPr>
          <p:cNvPr id="11" name="chip MODELLED"/>
          <p:cNvSpPr/>
          <p:nvPr/>
        </p:nvSpPr>
        <p:spPr>
          <a:xfrm>
            <a:off x="10271455" y="1737360"/>
            <a:ext cx="899770"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12" name="Text 8"/>
          <p:cNvSpPr txBox="1"/>
          <p:nvPr/>
        </p:nvSpPr>
        <p:spPr>
          <a:xfrm>
            <a:off x="10271455" y="1737360"/>
            <a:ext cx="899770"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a:t>
            </a:r>
            <a:endParaRPr lang="en-US" sz="1000" dirty="0"/>
          </a:p>
        </p:txBody>
      </p:sp>
      <p:sp>
        <p:nvSpPr>
          <p:cNvPr id="13" name="Shape 9"/>
          <p:cNvSpPr/>
          <p:nvPr/>
        </p:nvSpPr>
        <p:spPr>
          <a:xfrm>
            <a:off x="7498080" y="3200400"/>
            <a:ext cx="4144975" cy="1463040"/>
          </a:xfrm>
          <a:prstGeom prst="roundRect">
            <a:avLst>
              <a:gd name="adj" fmla="val 75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4" name="Text 10"/>
          <p:cNvSpPr txBox="1"/>
          <p:nvPr/>
        </p:nvSpPr>
        <p:spPr>
          <a:xfrm>
            <a:off x="7699248" y="3337560"/>
            <a:ext cx="3742639"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Departments keep video</a:t>
            </a:r>
            <a:endParaRPr lang="en-US" sz="1300" dirty="0"/>
          </a:p>
        </p:txBody>
      </p:sp>
      <p:sp>
        <p:nvSpPr>
          <p:cNvPr id="15" name="Text 11"/>
          <p:cNvSpPr txBox="1"/>
          <p:nvPr/>
        </p:nvSpPr>
        <p:spPr>
          <a:xfrm>
            <a:off x="7699248" y="3657600"/>
            <a:ext cx="3742639"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In the federated profile, departments hold footage for 7 to 15+ days. The platform keeps metadata and says "video no longer held" when it is gone.</a:t>
            </a:r>
            <a:endParaRPr lang="en-US" sz="1150" dirty="0"/>
          </a:p>
        </p:txBody>
      </p:sp>
      <p:sp>
        <p:nvSpPr>
          <p:cNvPr id="16" name="chip PLANNED"/>
          <p:cNvSpPr/>
          <p:nvPr/>
        </p:nvSpPr>
        <p:spPr>
          <a:xfrm>
            <a:off x="10271455" y="3337560"/>
            <a:ext cx="819302" cy="237744"/>
          </a:xfrm>
          <a:prstGeom prst="roundRect">
            <a:avLst>
              <a:gd name="adj" fmla="val 50000"/>
            </a:avLst>
          </a:prstGeom>
          <a:solidFill>
            <a:schemeClr val="accent1">
              <a:alpha val="14000"/>
            </a:schemeClr>
          </a:solidFill>
          <a:ln w="6350">
            <a:solidFill>
              <a:schemeClr val="accent1">
                <a:alpha val="40000"/>
              </a:schemeClr>
            </a:solidFill>
            <a:prstDash val="solid"/>
          </a:ln>
        </p:spPr>
      </p:sp>
      <p:sp>
        <p:nvSpPr>
          <p:cNvPr id="17" name="Text 13"/>
          <p:cNvSpPr txBox="1"/>
          <p:nvPr/>
        </p:nvSpPr>
        <p:spPr>
          <a:xfrm>
            <a:off x="10271455" y="3337560"/>
            <a:ext cx="819302" cy="237744"/>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PLANNED</a:t>
            </a:r>
            <a:endParaRPr lang="en-US" sz="1000" dirty="0"/>
          </a:p>
        </p:txBody>
      </p:sp>
      <p:sp>
        <p:nvSpPr>
          <p:cNvPr id="18" name="Shape 14"/>
          <p:cNvSpPr/>
          <p:nvPr/>
        </p:nvSpPr>
        <p:spPr>
          <a:xfrm>
            <a:off x="7498080" y="4800600"/>
            <a:ext cx="4144975" cy="1463040"/>
          </a:xfrm>
          <a:prstGeom prst="roundRect">
            <a:avLst>
              <a:gd name="adj" fmla="val 75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9" name="Text 15"/>
          <p:cNvSpPr txBox="1"/>
          <p:nvPr/>
        </p:nvSpPr>
        <p:spPr>
          <a:xfrm>
            <a:off x="7699248" y="4937760"/>
            <a:ext cx="3742639"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Evidence</a:t>
            </a:r>
            <a:endParaRPr lang="en-US" sz="1300" dirty="0"/>
          </a:p>
        </p:txBody>
      </p:sp>
      <p:sp>
        <p:nvSpPr>
          <p:cNvPr id="20" name="Text 16"/>
          <p:cNvSpPr txBox="1"/>
          <p:nvPr/>
        </p:nvSpPr>
        <p:spPr>
          <a:xfrm>
            <a:off x="7699248" y="5257800"/>
            <a:ext cx="3742639"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An exported clip is hashed, gets a hold, and is copied to the DR site, so it outlives routine retention.</a:t>
            </a:r>
            <a:endParaRPr lang="en-US" sz="1150" dirty="0"/>
          </a:p>
        </p:txBody>
      </p:sp>
      <p:sp>
        <p:nvSpPr>
          <p:cNvPr id="21" name="chip HOLD BUILT"/>
          <p:cNvSpPr/>
          <p:nvPr/>
        </p:nvSpPr>
        <p:spPr>
          <a:xfrm>
            <a:off x="10271455" y="4937760"/>
            <a:ext cx="1060704" cy="237744"/>
          </a:xfrm>
          <a:prstGeom prst="roundRect">
            <a:avLst>
              <a:gd name="adj" fmla="val 50000"/>
            </a:avLst>
          </a:prstGeom>
          <a:solidFill>
            <a:schemeClr val="accent2">
              <a:alpha val="14000"/>
            </a:schemeClr>
          </a:solidFill>
          <a:ln w="6350">
            <a:solidFill>
              <a:schemeClr val="accent2">
                <a:alpha val="40000"/>
              </a:schemeClr>
            </a:solidFill>
            <a:prstDash val="solid"/>
          </a:ln>
        </p:spPr>
      </p:sp>
      <p:sp>
        <p:nvSpPr>
          <p:cNvPr id="22" name="Text 18"/>
          <p:cNvSpPr txBox="1"/>
          <p:nvPr/>
        </p:nvSpPr>
        <p:spPr>
          <a:xfrm>
            <a:off x="10271455" y="4937760"/>
            <a:ext cx="1060704" cy="237744"/>
          </a:xfrm>
          <a:prstGeom prst="rect">
            <a:avLst/>
          </a:prstGeom>
          <a:noFill/>
          <a:ln/>
        </p:spPr>
        <p:txBody>
          <a:bodyPr wrap="square" lIns="0" tIns="0" rIns="0" bIns="0" rtlCol="0" anchor="ctr"/>
          <a:lstStyle/>
          <a:p>
            <a:pPr algn="ctr" indent="0" marL="0">
              <a:buNone/>
            </a:pPr>
            <a:r>
              <a:rPr lang="en-US" sz="1000" b="1" dirty="0">
                <a:solidFill>
                  <a:srgbClr val="047857"/>
                </a:solidFill>
                <a:latin typeface="Calibri" pitchFamily="34" charset="0"/>
                <a:ea typeface="Calibri" pitchFamily="34" charset="-122"/>
                <a:cs typeface="Calibri" pitchFamily="34" charset="-120"/>
              </a:rPr>
              <a:t>HOLD BUILT</a:t>
            </a:r>
            <a:endParaRPr lang="en-US" sz="10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05 · OPERATIONS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Load balancing and horizontal scaling: every layer scales out</a:t>
            </a:r>
            <a:endParaRPr lang="en-US" sz="2400" dirty="0"/>
          </a:p>
        </p:txBody>
      </p:sp>
      <p:sp>
        <p:nvSpPr>
          <p:cNvPr id="5" name="Shape 2"/>
          <p:cNvSpPr/>
          <p:nvPr/>
        </p:nvSpPr>
        <p:spPr>
          <a:xfrm>
            <a:off x="548640" y="1600200"/>
            <a:ext cx="5029200" cy="530352"/>
          </a:xfrm>
          <a:prstGeom prst="roundRect">
            <a:avLst>
              <a:gd name="adj" fmla="val 17241"/>
            </a:avLst>
          </a:prstGeom>
          <a:solidFill>
            <a:schemeClr val="bg1"/>
          </a:solidFill>
          <a:ln w="9525">
            <a:solidFill>
              <a:schemeClr val="accent6"/>
            </a:solidFill>
            <a:prstDash val="solid"/>
          </a:ln>
        </p:spPr>
      </p:sp>
      <p:sp>
        <p:nvSpPr>
          <p:cNvPr id="6" name="Text 3"/>
          <p:cNvSpPr txBox="1"/>
          <p:nvPr/>
        </p:nvSpPr>
        <p:spPr>
          <a:xfrm>
            <a:off x="731520" y="1600200"/>
            <a:ext cx="4663440" cy="530352"/>
          </a:xfrm>
          <a:prstGeom prst="rect">
            <a:avLst/>
          </a:prstGeom>
          <a:noFill/>
          <a:ln/>
        </p:spPr>
        <p:txBody>
          <a:bodyPr wrap="square" lIns="0" tIns="0" rIns="0" bIns="0" rtlCol="0" anchor="ctr"/>
          <a:lstStyle/>
          <a:p>
            <a:pPr indent="0" marL="0">
              <a:buNone/>
            </a:pPr>
            <a:r>
              <a:rPr lang="en-US" sz="1200" b="1" dirty="0">
                <a:solidFill>
                  <a:schemeClr val="tx1"/>
                </a:solidFill>
                <a:latin typeface="Calibri" pitchFamily="34" charset="0"/>
                <a:ea typeface="Calibri" pitchFamily="34" charset="-122"/>
                <a:cs typeface="Calibri" pitchFamily="34" charset="-120"/>
              </a:rPr>
              <a:t>Operators and dashboards</a:t>
            </a:r>
            <a:endParaRPr lang="en-US" sz="1200" dirty="0"/>
          </a:p>
        </p:txBody>
      </p:sp>
      <p:sp>
        <p:nvSpPr>
          <p:cNvPr id="7" name="Shape 4"/>
          <p:cNvSpPr/>
          <p:nvPr/>
        </p:nvSpPr>
        <p:spPr>
          <a:xfrm>
            <a:off x="3063240" y="2157984"/>
            <a:ext cx="0" cy="201168"/>
          </a:xfrm>
          <a:prstGeom prst="line">
            <a:avLst/>
          </a:prstGeom>
          <a:noFill/>
          <a:ln w="19050">
            <a:solidFill>
              <a:schemeClr val="accent1"/>
            </a:solidFill>
            <a:prstDash val="solid"/>
            <a:tailEnd type="triangle"/>
          </a:ln>
        </p:spPr>
      </p:sp>
      <p:sp>
        <p:nvSpPr>
          <p:cNvPr id="8" name="Shape 5"/>
          <p:cNvSpPr/>
          <p:nvPr/>
        </p:nvSpPr>
        <p:spPr>
          <a:xfrm>
            <a:off x="548640" y="2386584"/>
            <a:ext cx="5029200" cy="530352"/>
          </a:xfrm>
          <a:prstGeom prst="roundRect">
            <a:avLst>
              <a:gd name="adj" fmla="val 17241"/>
            </a:avLst>
          </a:prstGeom>
          <a:solidFill>
            <a:schemeClr val="bg1"/>
          </a:solidFill>
          <a:ln w="9525">
            <a:solidFill>
              <a:schemeClr val="accent6"/>
            </a:solidFill>
            <a:prstDash val="solid"/>
          </a:ln>
        </p:spPr>
      </p:sp>
      <p:sp>
        <p:nvSpPr>
          <p:cNvPr id="9" name="Text 6"/>
          <p:cNvSpPr txBox="1"/>
          <p:nvPr/>
        </p:nvSpPr>
        <p:spPr>
          <a:xfrm>
            <a:off x="731520" y="2386584"/>
            <a:ext cx="4663440" cy="53035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Load balancer: NGINX / Kong or Kubernetes ingress, TLS</a:t>
            </a:r>
            <a:endParaRPr lang="en-US" sz="1200" dirty="0"/>
          </a:p>
        </p:txBody>
      </p:sp>
      <p:sp>
        <p:nvSpPr>
          <p:cNvPr id="10" name="Shape 7"/>
          <p:cNvSpPr/>
          <p:nvPr/>
        </p:nvSpPr>
        <p:spPr>
          <a:xfrm>
            <a:off x="3063240" y="2944368"/>
            <a:ext cx="0" cy="201168"/>
          </a:xfrm>
          <a:prstGeom prst="line">
            <a:avLst/>
          </a:prstGeom>
          <a:noFill/>
          <a:ln w="19050">
            <a:solidFill>
              <a:schemeClr val="accent1"/>
            </a:solidFill>
            <a:prstDash val="solid"/>
            <a:tailEnd type="triangle"/>
          </a:ln>
        </p:spPr>
      </p:sp>
      <p:sp>
        <p:nvSpPr>
          <p:cNvPr id="11" name="Shape 8"/>
          <p:cNvSpPr/>
          <p:nvPr/>
        </p:nvSpPr>
        <p:spPr>
          <a:xfrm>
            <a:off x="548640" y="3172968"/>
            <a:ext cx="5029200" cy="530352"/>
          </a:xfrm>
          <a:prstGeom prst="roundRect">
            <a:avLst>
              <a:gd name="adj" fmla="val 17241"/>
            </a:avLst>
          </a:prstGeom>
          <a:solidFill>
            <a:schemeClr val="bg1"/>
          </a:solidFill>
          <a:ln w="9525">
            <a:solidFill>
              <a:schemeClr val="accent6"/>
            </a:solidFill>
            <a:prstDash val="solid"/>
          </a:ln>
        </p:spPr>
      </p:sp>
      <p:sp>
        <p:nvSpPr>
          <p:cNvPr id="12" name="Text 9"/>
          <p:cNvSpPr txBox="1"/>
          <p:nvPr/>
        </p:nvSpPr>
        <p:spPr>
          <a:xfrm>
            <a:off x="731520" y="3172968"/>
            <a:ext cx="4663440" cy="53035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API and UI pods × N, stateless</a:t>
            </a:r>
            <a:endParaRPr lang="en-US" sz="1200" dirty="0"/>
          </a:p>
        </p:txBody>
      </p:sp>
      <p:sp>
        <p:nvSpPr>
          <p:cNvPr id="13" name="Shape 10"/>
          <p:cNvSpPr/>
          <p:nvPr/>
        </p:nvSpPr>
        <p:spPr>
          <a:xfrm>
            <a:off x="3063240" y="3730752"/>
            <a:ext cx="0" cy="201168"/>
          </a:xfrm>
          <a:prstGeom prst="line">
            <a:avLst/>
          </a:prstGeom>
          <a:noFill/>
          <a:ln w="19050">
            <a:solidFill>
              <a:schemeClr val="accent1"/>
            </a:solidFill>
            <a:prstDash val="solid"/>
            <a:tailEnd type="triangle"/>
          </a:ln>
        </p:spPr>
      </p:sp>
      <p:sp>
        <p:nvSpPr>
          <p:cNvPr id="14" name="Shape 11"/>
          <p:cNvSpPr/>
          <p:nvPr/>
        </p:nvSpPr>
        <p:spPr>
          <a:xfrm>
            <a:off x="548640" y="3959352"/>
            <a:ext cx="5029200" cy="530352"/>
          </a:xfrm>
          <a:prstGeom prst="roundRect">
            <a:avLst>
              <a:gd name="adj" fmla="val 17241"/>
            </a:avLst>
          </a:prstGeom>
          <a:solidFill>
            <a:schemeClr val="bg1"/>
          </a:solidFill>
          <a:ln w="9525">
            <a:solidFill>
              <a:schemeClr val="accent6"/>
            </a:solidFill>
            <a:prstDash val="solid"/>
          </a:ln>
        </p:spPr>
      </p:sp>
      <p:sp>
        <p:nvSpPr>
          <p:cNvPr id="15" name="Text 12"/>
          <p:cNvSpPr txBox="1"/>
          <p:nvPr/>
        </p:nvSpPr>
        <p:spPr>
          <a:xfrm>
            <a:off x="731520" y="3959352"/>
            <a:ext cx="4663440" cy="53035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Scheduler (1 + standby)  →  queue  →  workers × N</a:t>
            </a:r>
            <a:endParaRPr lang="en-US" sz="1200" dirty="0"/>
          </a:p>
        </p:txBody>
      </p:sp>
      <p:sp>
        <p:nvSpPr>
          <p:cNvPr id="16" name="Shape 13"/>
          <p:cNvSpPr/>
          <p:nvPr/>
        </p:nvSpPr>
        <p:spPr>
          <a:xfrm>
            <a:off x="3063240" y="4517136"/>
            <a:ext cx="0" cy="201168"/>
          </a:xfrm>
          <a:prstGeom prst="line">
            <a:avLst/>
          </a:prstGeom>
          <a:noFill/>
          <a:ln w="19050">
            <a:solidFill>
              <a:schemeClr val="accent1"/>
            </a:solidFill>
            <a:prstDash val="solid"/>
            <a:tailEnd type="triangle"/>
          </a:ln>
        </p:spPr>
      </p:sp>
      <p:sp>
        <p:nvSpPr>
          <p:cNvPr id="17" name="Shape 14"/>
          <p:cNvSpPr/>
          <p:nvPr/>
        </p:nvSpPr>
        <p:spPr>
          <a:xfrm>
            <a:off x="548640" y="4745736"/>
            <a:ext cx="5029200" cy="530352"/>
          </a:xfrm>
          <a:prstGeom prst="roundRect">
            <a:avLst>
              <a:gd name="adj" fmla="val 17241"/>
            </a:avLst>
          </a:prstGeom>
          <a:solidFill>
            <a:schemeClr val="bg1"/>
          </a:solidFill>
          <a:ln w="9525">
            <a:solidFill>
              <a:schemeClr val="accent6"/>
            </a:solidFill>
            <a:prstDash val="solid"/>
          </a:ln>
        </p:spPr>
      </p:sp>
      <p:sp>
        <p:nvSpPr>
          <p:cNvPr id="18" name="Text 15"/>
          <p:cNvSpPr txBox="1"/>
          <p:nvPr/>
        </p:nvSpPr>
        <p:spPr>
          <a:xfrm>
            <a:off x="731520" y="4745736"/>
            <a:ext cx="4663440" cy="53035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Edge nodes × 160: each runs its own scheduler</a:t>
            </a:r>
            <a:endParaRPr lang="en-US" sz="1200" dirty="0"/>
          </a:p>
        </p:txBody>
      </p:sp>
      <p:sp>
        <p:nvSpPr>
          <p:cNvPr id="19" name="Shape 16"/>
          <p:cNvSpPr/>
          <p:nvPr/>
        </p:nvSpPr>
        <p:spPr>
          <a:xfrm>
            <a:off x="3063240" y="5303520"/>
            <a:ext cx="0" cy="201168"/>
          </a:xfrm>
          <a:prstGeom prst="line">
            <a:avLst/>
          </a:prstGeom>
          <a:noFill/>
          <a:ln w="19050">
            <a:solidFill>
              <a:schemeClr val="accent1"/>
            </a:solidFill>
            <a:prstDash val="solid"/>
            <a:tailEnd type="triangle"/>
          </a:ln>
        </p:spPr>
      </p:sp>
      <p:sp>
        <p:nvSpPr>
          <p:cNvPr id="20" name="Shape 17"/>
          <p:cNvSpPr/>
          <p:nvPr/>
        </p:nvSpPr>
        <p:spPr>
          <a:xfrm>
            <a:off x="548640" y="5532120"/>
            <a:ext cx="5029200" cy="530352"/>
          </a:xfrm>
          <a:prstGeom prst="roundRect">
            <a:avLst>
              <a:gd name="adj" fmla="val 17241"/>
            </a:avLst>
          </a:prstGeom>
          <a:solidFill>
            <a:schemeClr val="bg1"/>
          </a:solidFill>
          <a:ln w="9525">
            <a:solidFill>
              <a:schemeClr val="accent6"/>
            </a:solidFill>
            <a:prstDash val="solid"/>
          </a:ln>
        </p:spPr>
      </p:sp>
      <p:sp>
        <p:nvSpPr>
          <p:cNvPr id="21" name="Text 18"/>
          <p:cNvSpPr txBox="1"/>
          <p:nvPr/>
        </p:nvSpPr>
        <p:spPr>
          <a:xfrm>
            <a:off x="731520" y="5532120"/>
            <a:ext cx="4663440" cy="53035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Signed ingest  /api/gateway/*  into the event store</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852160" y="1554480"/>
          <a:ext cx="5788152" cy="914400"/>
        </p:xfrm>
        <a:graphic>
          <a:graphicData uri="http://schemas.openxmlformats.org/drawingml/2006/table">
            <a:tbl>
              <a:tblPr/>
              <a:tblGrid>
                <a:gridCol w="1325880"/>
                <a:gridCol w="3547872"/>
                <a:gridCol w="914400"/>
              </a:tblGrid>
              <a:tr h="320040">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LAYER</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HOW IT SCALES</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STATUS</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API / UI</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Add pods; stateless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1D4ED8"/>
                          </a:solidFill>
                          <a:latin typeface="Calibri" pitchFamily="34" charset="0"/>
                          <a:ea typeface="Calibri" pitchFamily="34" charset="-122"/>
                          <a:cs typeface="Calibri" pitchFamily="34" charset="-120"/>
                        </a:rPr>
                        <a:t>PLANNED</a:t>
                      </a:r>
                      <a:endParaRPr lang="en-US" sz="10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Analysis workers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Add workers; one job per camera id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Scheduler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One is enough: 48 ms per tick at 80,000</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Edge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One node per ~500 cameras, sharded by gatewayId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6692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Event store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Batched writes ~900 rows/s per connection; partition by time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Video relay</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One pull per camera; ~1% of a core per viewer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47857"/>
                          </a:solidFill>
                          <a:latin typeface="Calibri" pitchFamily="34" charset="0"/>
                          <a:ea typeface="Calibri" pitchFamily="34" charset="-122"/>
                          <a:cs typeface="Calibri" pitchFamily="34" charset="-120"/>
                        </a:rPr>
                        <a:t>MEASURED</a:t>
                      </a:r>
                      <a:endParaRPr lang="en-US" sz="10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0292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GPU pools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Stateless HTTP behind the balancer; /healthz</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rgbClr val="047857"/>
                          </a:solidFill>
                          <a:latin typeface="Calibri" pitchFamily="34" charset="0"/>
                          <a:ea typeface="Calibri" pitchFamily="34" charset="-122"/>
                          <a:cs typeface="Calibri" pitchFamily="34" charset="-120"/>
                        </a:rPr>
                        <a:t>BUILT</a:t>
                      </a:r>
                      <a:endParaRPr lang="en-US" sz="10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05 · OPERATIONS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Monitoring, logging and health checks</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7040880" cy="914400"/>
        </p:xfrm>
        <a:graphic>
          <a:graphicData uri="http://schemas.openxmlformats.org/drawingml/2006/table">
            <a:tbl>
              <a:tblPr/>
              <a:tblGrid>
                <a:gridCol w="1371600"/>
                <a:gridCol w="5669280"/>
              </a:tblGrid>
              <a:tr h="320040">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LAYER</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SIGNALS THE PLATFORM ALREADY EMITS</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62179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Cameras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camera.offline / camera.online from run history; blocked, dark and over-exposed picture events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62179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Analysis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GET /api/analysis/status: backend, queue depth, skipped-unchanged count, ANPR health and device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62179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Edge nodes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Signed heartbeat; online, degraded or offline after 90 s; gateway.* events feed alert rules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62179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Video relay</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Media server log parsed into events; log tail endpoint for operators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62179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GPU service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GET /healthz reports status and cuda or cpu; every reply carries elapsed_ms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62179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Audit</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Access log of refusals and sensitive actions, saved in batches to the database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bl>
          </a:graphicData>
        </a:graphic>
      </p:graphicFrame>
      <p:sp>
        <p:nvSpPr>
          <p:cNvPr id="6" name="Shape 2"/>
          <p:cNvSpPr/>
          <p:nvPr/>
        </p:nvSpPr>
        <p:spPr>
          <a:xfrm>
            <a:off x="7863840" y="1600200"/>
            <a:ext cx="3779215" cy="2331720"/>
          </a:xfrm>
          <a:prstGeom prst="roundRect">
            <a:avLst>
              <a:gd name="adj" fmla="val 47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7" name="Text 3"/>
          <p:cNvSpPr txBox="1"/>
          <p:nvPr/>
        </p:nvSpPr>
        <p:spPr>
          <a:xfrm>
            <a:off x="8092440" y="1755648"/>
            <a:ext cx="3322015"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Central stack to add</a:t>
            </a:r>
            <a:endParaRPr lang="en-US" sz="1400" dirty="0"/>
          </a:p>
        </p:txBody>
      </p:sp>
      <p:sp>
        <p:nvSpPr>
          <p:cNvPr id="8" name="Text 4"/>
          <p:cNvSpPr txBox="1"/>
          <p:nvPr/>
        </p:nvSpPr>
        <p:spPr>
          <a:xfrm>
            <a:off x="8092440" y="2148840"/>
            <a:ext cx="3322015" cy="17373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Prometheus, Alertmanager, Grafana</a:t>
            </a:r>
            <a:endParaRPr lang="en-US" sz="1250" dirty="0"/>
          </a:p>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Central logs: Loki or ELK, structured JSON</a:t>
            </a:r>
            <a:endParaRPr lang="en-US" sz="1250" dirty="0"/>
          </a:p>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OpenTelemetry traces across edge, hub, centre</a:t>
            </a:r>
            <a:endParaRPr lang="en-US" sz="1250" dirty="0"/>
          </a:p>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One synthetic probe per hub</a:t>
            </a:r>
            <a:endParaRPr lang="en-US" sz="1250" dirty="0"/>
          </a:p>
        </p:txBody>
      </p:sp>
      <p:sp>
        <p:nvSpPr>
          <p:cNvPr id="9" name="chip PLANNED"/>
          <p:cNvSpPr/>
          <p:nvPr/>
        </p:nvSpPr>
        <p:spPr>
          <a:xfrm>
            <a:off x="10408615" y="1755648"/>
            <a:ext cx="819302" cy="237744"/>
          </a:xfrm>
          <a:prstGeom prst="roundRect">
            <a:avLst>
              <a:gd name="adj" fmla="val 50000"/>
            </a:avLst>
          </a:prstGeom>
          <a:solidFill>
            <a:schemeClr val="accent1">
              <a:alpha val="14000"/>
            </a:schemeClr>
          </a:solidFill>
          <a:ln w="6350">
            <a:solidFill>
              <a:schemeClr val="accent1">
                <a:alpha val="40000"/>
              </a:schemeClr>
            </a:solidFill>
            <a:prstDash val="solid"/>
          </a:ln>
        </p:spPr>
      </p:sp>
      <p:sp>
        <p:nvSpPr>
          <p:cNvPr id="10" name="Text 6"/>
          <p:cNvSpPr txBox="1"/>
          <p:nvPr/>
        </p:nvSpPr>
        <p:spPr>
          <a:xfrm>
            <a:off x="10408615" y="1755648"/>
            <a:ext cx="819302" cy="237744"/>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PLANNED</a:t>
            </a:r>
            <a:endParaRPr lang="en-US" sz="1000" dirty="0"/>
          </a:p>
        </p:txBody>
      </p:sp>
      <p:sp>
        <p:nvSpPr>
          <p:cNvPr id="11" name="Shape 7"/>
          <p:cNvSpPr/>
          <p:nvPr/>
        </p:nvSpPr>
        <p:spPr>
          <a:xfrm>
            <a:off x="7863840" y="4114800"/>
            <a:ext cx="3779215" cy="2148840"/>
          </a:xfrm>
          <a:prstGeom prst="roundRect">
            <a:avLst>
              <a:gd name="adj" fmla="val 510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2" name="Text 8"/>
          <p:cNvSpPr txBox="1"/>
          <p:nvPr/>
        </p:nvSpPr>
        <p:spPr>
          <a:xfrm>
            <a:off x="8092440" y="4270248"/>
            <a:ext cx="3322015"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Golden signals per region</a:t>
            </a:r>
            <a:endParaRPr lang="en-US" sz="1400" dirty="0"/>
          </a:p>
        </p:txBody>
      </p:sp>
      <p:sp>
        <p:nvSpPr>
          <p:cNvPr id="13" name="Text 9"/>
          <p:cNvSpPr txBox="1"/>
          <p:nvPr/>
        </p:nvSpPr>
        <p:spPr>
          <a:xfrm>
            <a:off x="8092440" y="4663440"/>
            <a:ext cx="3322015" cy="15544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Analyses per second and late runs</a:t>
            </a:r>
            <a:endParaRPr lang="en-US" sz="1250" dirty="0"/>
          </a:p>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Outbox depth and heartbeat age</a:t>
            </a:r>
            <a:endParaRPr lang="en-US" sz="1250" dirty="0"/>
          </a:p>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Disk free and recorder gaps</a:t>
            </a:r>
            <a:endParaRPr lang="en-US" sz="1250" dirty="0"/>
          </a:p>
          <a:p>
            <a:pPr marL="177800" indent="-177800">
              <a:spcAft>
                <a:spcPts val="500"/>
              </a:spcAft>
              <a:buSzPct val="100000"/>
              <a:buChar char="•"/>
            </a:pPr>
            <a:r>
              <a:rPr lang="en-US" sz="1250" dirty="0">
                <a:solidFill>
                  <a:schemeClr val="tx1"/>
                </a:solidFill>
                <a:latin typeface="Calibri" pitchFamily="34" charset="0"/>
                <a:ea typeface="Calibri" pitchFamily="34" charset="-122"/>
                <a:cs typeface="Calibri" pitchFamily="34" charset="-120"/>
              </a:rPr>
              <a:t>GPU utilisation and reads per second</a:t>
            </a:r>
            <a:endParaRPr lang="en-US" sz="125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06 · RESILIENCE</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High availability, backup and disaster recovery</a:t>
            </a:r>
            <a:endParaRPr lang="en-US" sz="2400" dirty="0"/>
          </a:p>
        </p:txBody>
      </p:sp>
      <p:sp>
        <p:nvSpPr>
          <p:cNvPr id="5" name="Shape 2"/>
          <p:cNvSpPr/>
          <p:nvPr/>
        </p:nvSpPr>
        <p:spPr>
          <a:xfrm>
            <a:off x="548640" y="1554480"/>
            <a:ext cx="3515258" cy="777240"/>
          </a:xfrm>
          <a:prstGeom prst="roundRect">
            <a:avLst>
              <a:gd name="adj" fmla="val 14118"/>
            </a:avLst>
          </a:prstGeom>
          <a:solidFill>
            <a:schemeClr val="bg1"/>
          </a:solidFill>
          <a:ln w="9525">
            <a:solidFill>
              <a:schemeClr val="accent6"/>
            </a:solidFill>
            <a:prstDash val="solid"/>
          </a:ln>
        </p:spPr>
      </p:sp>
      <p:sp>
        <p:nvSpPr>
          <p:cNvPr id="6" name="Text 3"/>
          <p:cNvSpPr txBox="1"/>
          <p:nvPr/>
        </p:nvSpPr>
        <p:spPr>
          <a:xfrm>
            <a:off x="777240" y="1627632"/>
            <a:ext cx="1828800" cy="640080"/>
          </a:xfrm>
          <a:prstGeom prst="rect">
            <a:avLst/>
          </a:prstGeom>
          <a:noFill/>
          <a:ln/>
        </p:spPr>
        <p:txBody>
          <a:bodyPr wrap="square" lIns="0" tIns="0" rIns="0" bIns="0" rtlCol="0" anchor="ctr"/>
          <a:lstStyle/>
          <a:p>
            <a:pPr indent="0" marL="0">
              <a:buNone/>
            </a:pPr>
            <a:r>
              <a:rPr lang="en-US" sz="2000" b="1" dirty="0">
                <a:solidFill>
                  <a:schemeClr val="accent1"/>
                </a:solidFill>
                <a:latin typeface="Century Gothic" pitchFamily="34" charset="0"/>
                <a:ea typeface="Century Gothic" pitchFamily="34" charset="-122"/>
                <a:cs typeface="Century Gothic" pitchFamily="34" charset="-120"/>
              </a:rPr>
              <a:t>RPO ≤ 5 min</a:t>
            </a:r>
            <a:endParaRPr lang="en-US" sz="2000" dirty="0"/>
          </a:p>
        </p:txBody>
      </p:sp>
      <p:sp>
        <p:nvSpPr>
          <p:cNvPr id="7" name="Text 4"/>
          <p:cNvSpPr txBox="1"/>
          <p:nvPr/>
        </p:nvSpPr>
        <p:spPr>
          <a:xfrm>
            <a:off x="2606040" y="1627632"/>
            <a:ext cx="1320698"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events, alerts, config</a:t>
            </a:r>
            <a:endParaRPr lang="en-US" sz="1200" dirty="0"/>
          </a:p>
        </p:txBody>
      </p:sp>
      <p:sp>
        <p:nvSpPr>
          <p:cNvPr id="8" name="Shape 5"/>
          <p:cNvSpPr/>
          <p:nvPr/>
        </p:nvSpPr>
        <p:spPr>
          <a:xfrm>
            <a:off x="4338218" y="1554480"/>
            <a:ext cx="3515258" cy="777240"/>
          </a:xfrm>
          <a:prstGeom prst="roundRect">
            <a:avLst>
              <a:gd name="adj" fmla="val 14118"/>
            </a:avLst>
          </a:prstGeom>
          <a:solidFill>
            <a:schemeClr val="bg1"/>
          </a:solidFill>
          <a:ln w="9525">
            <a:solidFill>
              <a:schemeClr val="accent6"/>
            </a:solidFill>
            <a:prstDash val="solid"/>
          </a:ln>
        </p:spPr>
      </p:sp>
      <p:sp>
        <p:nvSpPr>
          <p:cNvPr id="9" name="Text 6"/>
          <p:cNvSpPr txBox="1"/>
          <p:nvPr/>
        </p:nvSpPr>
        <p:spPr>
          <a:xfrm>
            <a:off x="4566818" y="1627632"/>
            <a:ext cx="1828800" cy="640080"/>
          </a:xfrm>
          <a:prstGeom prst="rect">
            <a:avLst/>
          </a:prstGeom>
          <a:noFill/>
          <a:ln/>
        </p:spPr>
        <p:txBody>
          <a:bodyPr wrap="square" lIns="0" tIns="0" rIns="0" bIns="0" rtlCol="0" anchor="ctr"/>
          <a:lstStyle/>
          <a:p>
            <a:pPr indent="0" marL="0">
              <a:buNone/>
            </a:pPr>
            <a:r>
              <a:rPr lang="en-US" sz="2000" b="1" dirty="0">
                <a:solidFill>
                  <a:schemeClr val="accent1"/>
                </a:solidFill>
                <a:latin typeface="Century Gothic" pitchFamily="34" charset="0"/>
                <a:ea typeface="Century Gothic" pitchFamily="34" charset="-122"/>
                <a:cs typeface="Century Gothic" pitchFamily="34" charset="-120"/>
              </a:rPr>
              <a:t>RTO ≤ 1 h</a:t>
            </a:r>
            <a:endParaRPr lang="en-US" sz="2000" dirty="0"/>
          </a:p>
        </p:txBody>
      </p:sp>
      <p:sp>
        <p:nvSpPr>
          <p:cNvPr id="10" name="Text 7"/>
          <p:cNvSpPr txBox="1"/>
          <p:nvPr/>
        </p:nvSpPr>
        <p:spPr>
          <a:xfrm>
            <a:off x="6395618" y="1627632"/>
            <a:ext cx="1320698"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control plane at the DR site</a:t>
            </a:r>
            <a:endParaRPr lang="en-US" sz="1200" dirty="0"/>
          </a:p>
        </p:txBody>
      </p:sp>
      <p:sp>
        <p:nvSpPr>
          <p:cNvPr id="11" name="Shape 8"/>
          <p:cNvSpPr/>
          <p:nvPr/>
        </p:nvSpPr>
        <p:spPr>
          <a:xfrm>
            <a:off x="8127797" y="1554480"/>
            <a:ext cx="3515258" cy="777240"/>
          </a:xfrm>
          <a:prstGeom prst="roundRect">
            <a:avLst>
              <a:gd name="adj" fmla="val 14118"/>
            </a:avLst>
          </a:prstGeom>
          <a:solidFill>
            <a:schemeClr val="bg1"/>
          </a:solidFill>
          <a:ln w="9525">
            <a:solidFill>
              <a:schemeClr val="accent6"/>
            </a:solidFill>
            <a:prstDash val="solid"/>
          </a:ln>
        </p:spPr>
      </p:sp>
      <p:sp>
        <p:nvSpPr>
          <p:cNvPr id="12" name="Text 9"/>
          <p:cNvSpPr txBox="1"/>
          <p:nvPr/>
        </p:nvSpPr>
        <p:spPr>
          <a:xfrm>
            <a:off x="8356397" y="1627632"/>
            <a:ext cx="1828800" cy="640080"/>
          </a:xfrm>
          <a:prstGeom prst="rect">
            <a:avLst/>
          </a:prstGeom>
          <a:noFill/>
          <a:ln/>
        </p:spPr>
        <p:txBody>
          <a:bodyPr wrap="square" lIns="0" tIns="0" rIns="0" bIns="0" rtlCol="0" anchor="ctr"/>
          <a:lstStyle/>
          <a:p>
            <a:pPr indent="0" marL="0">
              <a:buNone/>
            </a:pPr>
            <a:r>
              <a:rPr lang="en-US" sz="2000" b="1" dirty="0">
                <a:solidFill>
                  <a:schemeClr val="accent1"/>
                </a:solidFill>
                <a:latin typeface="Century Gothic" pitchFamily="34" charset="0"/>
                <a:ea typeface="Century Gothic" pitchFamily="34" charset="-122"/>
                <a:cs typeface="Century Gothic" pitchFamily="34" charset="-120"/>
              </a:rPr>
              <a:t>RPO ≈ 0</a:t>
            </a:r>
            <a:endParaRPr lang="en-US" sz="2000" dirty="0"/>
          </a:p>
        </p:txBody>
      </p:sp>
      <p:sp>
        <p:nvSpPr>
          <p:cNvPr id="13" name="Text 10"/>
          <p:cNvSpPr txBox="1"/>
          <p:nvPr/>
        </p:nvSpPr>
        <p:spPr>
          <a:xfrm>
            <a:off x="10185197" y="1627632"/>
            <a:ext cx="1320698" cy="64008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held evidence (replicated)</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4415" cy="914400"/>
        </p:xfrm>
        <a:graphic>
          <a:graphicData uri="http://schemas.openxmlformats.org/drawingml/2006/table">
            <a:tbl>
              <a:tblPr/>
              <a:tblGrid>
                <a:gridCol w="1554480"/>
                <a:gridCol w="3749040"/>
                <a:gridCol w="3017520"/>
                <a:gridCol w="2770632"/>
              </a:tblGrid>
              <a:tr h="301752">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COMPONENT</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HIGH AVAILABILITY</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BACKUP</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DISASTER RECOVERY</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Event database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 primary + 2 replicas, automatic failover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WAL archive to object store; daily base copy</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Async replica at DR site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Bus and queue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 to 5 brokers, replication 3</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Topic replay window of 7 days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Mirrored to DR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54864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Control plane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 pods across racks; standby scheduler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Stateless; config in Git</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Warm standby, DNS cut-over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713232">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Edge node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1 spare per 10; cameras re-pointed by gatewayId; outbox holds 7 days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Camera list re-fetched from the centre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Keeps analysing offline, replays in order</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658368">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Video storage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RAID-6 hot; erasure coding 6+2 warm, 8+3 cold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Not backed up (routine footage)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Region loss costs routine footage; evidence survives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bl>
          </a:graphicData>
        </a:graphic>
      </p:graphicFrame>
      <p:sp>
        <p:nvSpPr>
          <p:cNvPr id="15" name="chip DESIGN: A22 / A23 NOT BUILT"/>
          <p:cNvSpPr/>
          <p:nvPr/>
        </p:nvSpPr>
        <p:spPr>
          <a:xfrm>
            <a:off x="548640" y="5989320"/>
            <a:ext cx="2428646" cy="237744"/>
          </a:xfrm>
          <a:prstGeom prst="roundRect">
            <a:avLst>
              <a:gd name="adj" fmla="val 50000"/>
            </a:avLst>
          </a:prstGeom>
          <a:solidFill>
            <a:schemeClr val="accent1">
              <a:alpha val="14000"/>
            </a:schemeClr>
          </a:solidFill>
          <a:ln w="6350">
            <a:solidFill>
              <a:schemeClr val="accent1">
                <a:alpha val="40000"/>
              </a:schemeClr>
            </a:solidFill>
            <a:prstDash val="solid"/>
          </a:ln>
        </p:spPr>
      </p:sp>
      <p:sp>
        <p:nvSpPr>
          <p:cNvPr id="16" name="Text 12"/>
          <p:cNvSpPr txBox="1"/>
          <p:nvPr/>
        </p:nvSpPr>
        <p:spPr>
          <a:xfrm>
            <a:off x="548640" y="5989320"/>
            <a:ext cx="2428646" cy="237744"/>
          </a:xfrm>
          <a:prstGeom prst="rect">
            <a:avLst/>
          </a:prstGeom>
          <a:noFill/>
          <a:ln/>
        </p:spPr>
        <p:txBody>
          <a:bodyPr wrap="square" lIns="0" tIns="0" rIns="0" bIns="0" rtlCol="0" anchor="ctr"/>
          <a:lstStyle/>
          <a:p>
            <a:pPr algn="ctr" indent="0" marL="0">
              <a:buNone/>
            </a:pPr>
            <a:r>
              <a:rPr lang="en-US" sz="1000" b="1" dirty="0">
                <a:solidFill>
                  <a:srgbClr val="1D4ED8"/>
                </a:solidFill>
                <a:latin typeface="Calibri" pitchFamily="34" charset="0"/>
                <a:ea typeface="Calibri" pitchFamily="34" charset="-122"/>
                <a:cs typeface="Calibri" pitchFamily="34" charset="-120"/>
              </a:rPr>
              <a:t>DESIGN: A22 / A23 NOT BUILT</a:t>
            </a:r>
            <a:endParaRPr lang="en-US" sz="1000" dirty="0"/>
          </a:p>
        </p:txBody>
      </p:sp>
      <p:sp>
        <p:nvSpPr>
          <p:cNvPr id="17" name="Text 13"/>
          <p:cNvSpPr txBox="1"/>
          <p:nvPr/>
        </p:nvSpPr>
        <p:spPr>
          <a:xfrm>
            <a:off x="3383280" y="5961888"/>
            <a:ext cx="8229600" cy="292608"/>
          </a:xfrm>
          <a:prstGeom prst="rect">
            <a:avLst/>
          </a:prstGeom>
          <a:noFill/>
          <a:ln/>
        </p:spPr>
        <p:txBody>
          <a:bodyPr wrap="square" lIns="0" tIns="0" rIns="0" bIns="0" rtlCol="0" anchor="ctr"/>
          <a:lstStyle/>
          <a:p>
            <a:pPr indent="0" marL="0">
              <a:buNone/>
            </a:pPr>
            <a:r>
              <a:rPr lang="en-US" sz="1150" dirty="0">
                <a:solidFill>
                  <a:schemeClr val="tx2"/>
                </a:solidFill>
                <a:latin typeface="Calibri" pitchFamily="34" charset="0"/>
                <a:ea typeface="Calibri" pitchFamily="34" charset="-122"/>
                <a:cs typeface="Calibri" pitchFamily="34" charset="-120"/>
              </a:rPr>
              <a:t>Built today: edge outbox with replay, idempotent event ids, evidence holds. Quarterly failover drills are part of the plan.</a:t>
            </a:r>
            <a:endParaRPr lang="en-US" sz="115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06 · SECURITY</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Cybersecurity: what is built, and what the State deployment adds</a:t>
            </a:r>
            <a:endParaRPr lang="en-US" sz="2400" dirty="0"/>
          </a:p>
        </p:txBody>
      </p:sp>
      <p:sp>
        <p:nvSpPr>
          <p:cNvPr id="5" name="Text 2"/>
          <p:cNvSpPr txBox="1"/>
          <p:nvPr/>
        </p:nvSpPr>
        <p:spPr>
          <a:xfrm>
            <a:off x="731520" y="1554480"/>
            <a:ext cx="1828800" cy="228600"/>
          </a:xfrm>
          <a:prstGeom prst="rect">
            <a:avLst/>
          </a:prstGeom>
          <a:noFill/>
          <a:ln/>
        </p:spPr>
        <p:txBody>
          <a:bodyPr wrap="square" lIns="0" tIns="0" rIns="0" bIns="0" rtlCol="0" anchor="t"/>
          <a:lstStyle/>
          <a:p>
            <a:pPr indent="0" marL="0">
              <a:buNone/>
            </a:pPr>
            <a:r>
              <a:rPr lang="en-US" sz="1000" b="1" dirty="0">
                <a:solidFill>
                  <a:schemeClr val="tx2"/>
                </a:solidFill>
                <a:latin typeface="Consolas" pitchFamily="34" charset="0"/>
                <a:ea typeface="Consolas" pitchFamily="34" charset="-122"/>
                <a:cs typeface="Consolas" pitchFamily="34" charset="-120"/>
              </a:rPr>
              <a:t>DOMAIN</a:t>
            </a:r>
            <a:endParaRPr lang="en-US" sz="1000" dirty="0"/>
          </a:p>
        </p:txBody>
      </p:sp>
      <p:sp>
        <p:nvSpPr>
          <p:cNvPr id="6" name="Text 3"/>
          <p:cNvSpPr txBox="1"/>
          <p:nvPr/>
        </p:nvSpPr>
        <p:spPr>
          <a:xfrm>
            <a:off x="2926080" y="1554480"/>
            <a:ext cx="4206240" cy="228600"/>
          </a:xfrm>
          <a:prstGeom prst="rect">
            <a:avLst/>
          </a:prstGeom>
          <a:noFill/>
          <a:ln/>
        </p:spPr>
        <p:txBody>
          <a:bodyPr wrap="square" lIns="0" tIns="0" rIns="0" bIns="0" rtlCol="0" anchor="t"/>
          <a:lstStyle/>
          <a:p>
            <a:pPr indent="0" marL="0">
              <a:buNone/>
            </a:pPr>
            <a:r>
              <a:rPr lang="en-US" sz="1000" b="1" dirty="0">
                <a:solidFill>
                  <a:srgbClr val="047857"/>
                </a:solidFill>
                <a:latin typeface="Consolas" pitchFamily="34" charset="0"/>
                <a:ea typeface="Consolas" pitchFamily="34" charset="-122"/>
                <a:cs typeface="Consolas" pitchFamily="34" charset="-120"/>
              </a:rPr>
              <a:t>BUILT INTO THE PLATFORM</a:t>
            </a:r>
            <a:endParaRPr lang="en-US" sz="1000" dirty="0"/>
          </a:p>
        </p:txBody>
      </p:sp>
      <p:sp>
        <p:nvSpPr>
          <p:cNvPr id="7" name="Text 4"/>
          <p:cNvSpPr txBox="1"/>
          <p:nvPr/>
        </p:nvSpPr>
        <p:spPr>
          <a:xfrm>
            <a:off x="7452360" y="1554480"/>
            <a:ext cx="4114800" cy="228600"/>
          </a:xfrm>
          <a:prstGeom prst="rect">
            <a:avLst/>
          </a:prstGeom>
          <a:noFill/>
          <a:ln/>
        </p:spPr>
        <p:txBody>
          <a:bodyPr wrap="square" lIns="0" tIns="0" rIns="0" bIns="0" rtlCol="0" anchor="t"/>
          <a:lstStyle/>
          <a:p>
            <a:pPr indent="0" marL="0">
              <a:buNone/>
            </a:pPr>
            <a:r>
              <a:rPr lang="en-US" sz="1000" b="1" dirty="0">
                <a:solidFill>
                  <a:srgbClr val="1D4ED8"/>
                </a:solidFill>
                <a:latin typeface="Consolas" pitchFamily="34" charset="0"/>
                <a:ea typeface="Consolas" pitchFamily="34" charset="-122"/>
                <a:cs typeface="Consolas" pitchFamily="34" charset="-120"/>
              </a:rPr>
              <a:t>ADDED FOR THE STATE DEPLOYMENT</a:t>
            </a:r>
            <a:endParaRPr lang="en-US" sz="1000" dirty="0"/>
          </a:p>
        </p:txBody>
      </p:sp>
      <p:sp>
        <p:nvSpPr>
          <p:cNvPr id="8" name="Shape 5"/>
          <p:cNvSpPr/>
          <p:nvPr/>
        </p:nvSpPr>
        <p:spPr>
          <a:xfrm>
            <a:off x="548640" y="1828800"/>
            <a:ext cx="11094415" cy="777240"/>
          </a:xfrm>
          <a:prstGeom prst="roundRect">
            <a:avLst>
              <a:gd name="adj" fmla="val 14118"/>
            </a:avLst>
          </a:prstGeom>
          <a:solidFill>
            <a:schemeClr val="bg1"/>
          </a:solidFill>
          <a:ln w="9525">
            <a:solidFill>
              <a:schemeClr val="accent6"/>
            </a:solidFill>
            <a:prstDash val="solid"/>
          </a:ln>
        </p:spPr>
      </p:sp>
      <p:sp>
        <p:nvSpPr>
          <p:cNvPr id="9" name="Shape 6"/>
          <p:cNvSpPr/>
          <p:nvPr/>
        </p:nvSpPr>
        <p:spPr>
          <a:xfrm>
            <a:off x="731520" y="1993392"/>
            <a:ext cx="438912" cy="438912"/>
          </a:xfrm>
          <a:prstGeom prst="ellipse">
            <a:avLst/>
          </a:prstGeom>
          <a:solidFill>
            <a:schemeClr val="accent1">
              <a:alpha val="12000"/>
            </a:schemeClr>
          </a:solidFill>
          <a:ln w="6350">
            <a:solidFill>
              <a:schemeClr val="accent1">
                <a:alpha val="30000"/>
              </a:schemeClr>
            </a:solidFill>
            <a:prstDash val="solid"/>
          </a:ln>
        </p:spPr>
      </p:sp>
      <p:pic>
        <p:nvPicPr>
          <p:cNvPr id="10" name="Image 0" descr="preencoded.png">    </p:cNvPr>
          <p:cNvPicPr>
            <a:picLocks noChangeAspect="1"/>
          </p:cNvPicPr>
          <p:nvPr/>
        </p:nvPicPr>
        <p:blipFill>
          <a:blip r:embed="rId1"/>
          <a:stretch>
            <a:fillRect/>
          </a:stretch>
        </p:blipFill>
        <p:spPr>
          <a:xfrm>
            <a:off x="841248" y="2103120"/>
            <a:ext cx="219456" cy="219456"/>
          </a:xfrm>
          <a:prstGeom prst="rect">
            <a:avLst/>
          </a:prstGeom>
        </p:spPr>
      </p:pic>
      <p:sp>
        <p:nvSpPr>
          <p:cNvPr id="11" name="Text 7"/>
          <p:cNvSpPr txBox="1"/>
          <p:nvPr/>
        </p:nvSpPr>
        <p:spPr>
          <a:xfrm>
            <a:off x="1325880" y="1828800"/>
            <a:ext cx="1463040" cy="777240"/>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Identity</a:t>
            </a:r>
            <a:endParaRPr lang="en-US" sz="1300" dirty="0"/>
          </a:p>
        </p:txBody>
      </p:sp>
      <p:sp>
        <p:nvSpPr>
          <p:cNvPr id="12" name="Text 8"/>
          <p:cNvSpPr txBox="1"/>
          <p:nvPr/>
        </p:nvSpPr>
        <p:spPr>
          <a:xfrm>
            <a:off x="2926080" y="1828800"/>
            <a:ext cx="42976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Sign-in, role claims (viewer, operator, admin), department scoping, access log of refusals and sensitive actions</a:t>
            </a:r>
            <a:endParaRPr lang="en-US" sz="1250" dirty="0"/>
          </a:p>
        </p:txBody>
      </p:sp>
      <p:sp>
        <p:nvSpPr>
          <p:cNvPr id="13" name="Text 9"/>
          <p:cNvSpPr txBox="1"/>
          <p:nvPr/>
        </p:nvSpPr>
        <p:spPr>
          <a:xfrm>
            <a:off x="7452360" y="1828800"/>
            <a:ext cx="40690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SSO and multi-factor, privileged-access workflow, revoked-token checks on</a:t>
            </a:r>
            <a:endParaRPr lang="en-US" sz="1250" dirty="0"/>
          </a:p>
        </p:txBody>
      </p:sp>
      <p:sp>
        <p:nvSpPr>
          <p:cNvPr id="14" name="Shape 10"/>
          <p:cNvSpPr/>
          <p:nvPr/>
        </p:nvSpPr>
        <p:spPr>
          <a:xfrm>
            <a:off x="548640" y="2697480"/>
            <a:ext cx="11094415" cy="777240"/>
          </a:xfrm>
          <a:prstGeom prst="roundRect">
            <a:avLst>
              <a:gd name="adj" fmla="val 14118"/>
            </a:avLst>
          </a:prstGeom>
          <a:solidFill>
            <a:schemeClr val="bg1"/>
          </a:solidFill>
          <a:ln w="9525">
            <a:solidFill>
              <a:schemeClr val="accent6"/>
            </a:solidFill>
            <a:prstDash val="solid"/>
          </a:ln>
        </p:spPr>
      </p:sp>
      <p:sp>
        <p:nvSpPr>
          <p:cNvPr id="15" name="Shape 11"/>
          <p:cNvSpPr/>
          <p:nvPr/>
        </p:nvSpPr>
        <p:spPr>
          <a:xfrm>
            <a:off x="731520" y="2862072"/>
            <a:ext cx="438912" cy="438912"/>
          </a:xfrm>
          <a:prstGeom prst="ellipse">
            <a:avLst/>
          </a:prstGeom>
          <a:solidFill>
            <a:schemeClr val="accent1">
              <a:alpha val="12000"/>
            </a:schemeClr>
          </a:solidFill>
          <a:ln w="6350">
            <a:solidFill>
              <a:schemeClr val="accent1">
                <a:alpha val="30000"/>
              </a:schemeClr>
            </a:solidFill>
            <a:prstDash val="solid"/>
          </a:ln>
        </p:spPr>
      </p:sp>
      <p:pic>
        <p:nvPicPr>
          <p:cNvPr id="16" name="Image 1" descr="preencoded.png">    </p:cNvPr>
          <p:cNvPicPr>
            <a:picLocks noChangeAspect="1"/>
          </p:cNvPicPr>
          <p:nvPr/>
        </p:nvPicPr>
        <p:blipFill>
          <a:blip r:embed="rId2"/>
          <a:stretch>
            <a:fillRect/>
          </a:stretch>
        </p:blipFill>
        <p:spPr>
          <a:xfrm>
            <a:off x="841248" y="2971800"/>
            <a:ext cx="219456" cy="219456"/>
          </a:xfrm>
          <a:prstGeom prst="rect">
            <a:avLst/>
          </a:prstGeom>
        </p:spPr>
      </p:pic>
      <p:sp>
        <p:nvSpPr>
          <p:cNvPr id="17" name="Text 12"/>
          <p:cNvSpPr txBox="1"/>
          <p:nvPr/>
        </p:nvSpPr>
        <p:spPr>
          <a:xfrm>
            <a:off x="1325880" y="2697480"/>
            <a:ext cx="1463040" cy="777240"/>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Edge trust</a:t>
            </a:r>
            <a:endParaRPr lang="en-US" sz="1300" dirty="0"/>
          </a:p>
        </p:txBody>
      </p:sp>
      <p:sp>
        <p:nvSpPr>
          <p:cNvPr id="18" name="Text 13"/>
          <p:cNvSpPr txBox="1"/>
          <p:nvPr/>
        </p:nvSpPr>
        <p:spPr>
          <a:xfrm>
            <a:off x="2926080" y="2697480"/>
            <a:ext cx="42976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HMAC-SHA256 signed requests with time and nonce; secrets rotate or disable; a stolen secret reaches only its own cameras</a:t>
            </a:r>
            <a:endParaRPr lang="en-US" sz="1250" dirty="0"/>
          </a:p>
        </p:txBody>
      </p:sp>
      <p:sp>
        <p:nvSpPr>
          <p:cNvPr id="19" name="Text 14"/>
          <p:cNvSpPr txBox="1"/>
          <p:nvPr/>
        </p:nvSpPr>
        <p:spPr>
          <a:xfrm>
            <a:off x="7452360" y="2697480"/>
            <a:ext cx="40690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mutual TLS, certificate rotation, signed software updates for edge nodes</a:t>
            </a:r>
            <a:endParaRPr lang="en-US" sz="1250" dirty="0"/>
          </a:p>
        </p:txBody>
      </p:sp>
      <p:sp>
        <p:nvSpPr>
          <p:cNvPr id="20" name="Shape 15"/>
          <p:cNvSpPr/>
          <p:nvPr/>
        </p:nvSpPr>
        <p:spPr>
          <a:xfrm>
            <a:off x="548640" y="3566160"/>
            <a:ext cx="11094415" cy="777240"/>
          </a:xfrm>
          <a:prstGeom prst="roundRect">
            <a:avLst>
              <a:gd name="adj" fmla="val 14118"/>
            </a:avLst>
          </a:prstGeom>
          <a:solidFill>
            <a:schemeClr val="bg1"/>
          </a:solidFill>
          <a:ln w="9525">
            <a:solidFill>
              <a:schemeClr val="accent6"/>
            </a:solidFill>
            <a:prstDash val="solid"/>
          </a:ln>
        </p:spPr>
      </p:sp>
      <p:sp>
        <p:nvSpPr>
          <p:cNvPr id="21" name="Shape 16"/>
          <p:cNvSpPr/>
          <p:nvPr/>
        </p:nvSpPr>
        <p:spPr>
          <a:xfrm>
            <a:off x="731520" y="3730752"/>
            <a:ext cx="438912" cy="438912"/>
          </a:xfrm>
          <a:prstGeom prst="ellipse">
            <a:avLst/>
          </a:prstGeom>
          <a:solidFill>
            <a:schemeClr val="accent1">
              <a:alpha val="12000"/>
            </a:schemeClr>
          </a:solidFill>
          <a:ln w="6350">
            <a:solidFill>
              <a:schemeClr val="accent1">
                <a:alpha val="30000"/>
              </a:schemeClr>
            </a:solidFill>
            <a:prstDash val="solid"/>
          </a:ln>
        </p:spPr>
      </p:sp>
      <p:pic>
        <p:nvPicPr>
          <p:cNvPr id="22" name="Image 2" descr="preencoded.png">    </p:cNvPr>
          <p:cNvPicPr>
            <a:picLocks noChangeAspect="1"/>
          </p:cNvPicPr>
          <p:nvPr/>
        </p:nvPicPr>
        <p:blipFill>
          <a:blip r:embed="rId3"/>
          <a:stretch>
            <a:fillRect/>
          </a:stretch>
        </p:blipFill>
        <p:spPr>
          <a:xfrm>
            <a:off x="841248" y="3840480"/>
            <a:ext cx="219456" cy="219456"/>
          </a:xfrm>
          <a:prstGeom prst="rect">
            <a:avLst/>
          </a:prstGeom>
        </p:spPr>
      </p:pic>
      <p:sp>
        <p:nvSpPr>
          <p:cNvPr id="23" name="Text 17"/>
          <p:cNvSpPr txBox="1"/>
          <p:nvPr/>
        </p:nvSpPr>
        <p:spPr>
          <a:xfrm>
            <a:off x="1325880" y="3566160"/>
            <a:ext cx="1463040" cy="777240"/>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Data</a:t>
            </a:r>
            <a:endParaRPr lang="en-US" sz="1300" dirty="0"/>
          </a:p>
        </p:txBody>
      </p:sp>
      <p:sp>
        <p:nvSpPr>
          <p:cNvPr id="24" name="Text 18"/>
          <p:cNvSpPr txBox="1"/>
          <p:nvPr/>
        </p:nvSpPr>
        <p:spPr>
          <a:xfrm>
            <a:off x="2926080" y="3566160"/>
            <a:ext cx="42976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SHA-256 evidence manifests, holds, camera credentials sealed, keys held server-side only</a:t>
            </a:r>
            <a:endParaRPr lang="en-US" sz="1250" dirty="0"/>
          </a:p>
        </p:txBody>
      </p:sp>
      <p:sp>
        <p:nvSpPr>
          <p:cNvPr id="25" name="Text 19"/>
          <p:cNvSpPr txBox="1"/>
          <p:nvPr/>
        </p:nvSpPr>
        <p:spPr>
          <a:xfrm>
            <a:off x="7452360" y="3566160"/>
            <a:ext cx="40690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AES-256 at rest, TLS 1.3 everywhere, KMS or HSM, signed manifests</a:t>
            </a:r>
            <a:endParaRPr lang="en-US" sz="1250" dirty="0"/>
          </a:p>
        </p:txBody>
      </p:sp>
      <p:sp>
        <p:nvSpPr>
          <p:cNvPr id="26" name="Shape 20"/>
          <p:cNvSpPr/>
          <p:nvPr/>
        </p:nvSpPr>
        <p:spPr>
          <a:xfrm>
            <a:off x="548640" y="4434840"/>
            <a:ext cx="11094415" cy="777240"/>
          </a:xfrm>
          <a:prstGeom prst="roundRect">
            <a:avLst>
              <a:gd name="adj" fmla="val 14118"/>
            </a:avLst>
          </a:prstGeom>
          <a:solidFill>
            <a:schemeClr val="bg1"/>
          </a:solidFill>
          <a:ln w="9525">
            <a:solidFill>
              <a:schemeClr val="accent6"/>
            </a:solidFill>
            <a:prstDash val="solid"/>
          </a:ln>
        </p:spPr>
      </p:sp>
      <p:sp>
        <p:nvSpPr>
          <p:cNvPr id="27" name="Shape 21"/>
          <p:cNvSpPr/>
          <p:nvPr/>
        </p:nvSpPr>
        <p:spPr>
          <a:xfrm>
            <a:off x="731520" y="4599432"/>
            <a:ext cx="438912" cy="438912"/>
          </a:xfrm>
          <a:prstGeom prst="ellipse">
            <a:avLst/>
          </a:prstGeom>
          <a:solidFill>
            <a:schemeClr val="accent1">
              <a:alpha val="12000"/>
            </a:schemeClr>
          </a:solidFill>
          <a:ln w="6350">
            <a:solidFill>
              <a:schemeClr val="accent1">
                <a:alpha val="30000"/>
              </a:schemeClr>
            </a:solidFill>
            <a:prstDash val="solid"/>
          </a:ln>
        </p:spPr>
      </p:sp>
      <p:pic>
        <p:nvPicPr>
          <p:cNvPr id="28" name="Image 3" descr="preencoded.png">    </p:cNvPr>
          <p:cNvPicPr>
            <a:picLocks noChangeAspect="1"/>
          </p:cNvPicPr>
          <p:nvPr/>
        </p:nvPicPr>
        <p:blipFill>
          <a:blip r:embed="rId4"/>
          <a:stretch>
            <a:fillRect/>
          </a:stretch>
        </p:blipFill>
        <p:spPr>
          <a:xfrm>
            <a:off x="841248" y="4709160"/>
            <a:ext cx="219456" cy="219456"/>
          </a:xfrm>
          <a:prstGeom prst="rect">
            <a:avLst/>
          </a:prstGeom>
        </p:spPr>
      </p:pic>
      <p:sp>
        <p:nvSpPr>
          <p:cNvPr id="29" name="Text 22"/>
          <p:cNvSpPr txBox="1"/>
          <p:nvPr/>
        </p:nvSpPr>
        <p:spPr>
          <a:xfrm>
            <a:off x="1325880" y="4434840"/>
            <a:ext cx="1463040" cy="777240"/>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Network</a:t>
            </a:r>
            <a:endParaRPr lang="en-US" sz="1300" dirty="0"/>
          </a:p>
        </p:txBody>
      </p:sp>
      <p:sp>
        <p:nvSpPr>
          <p:cNvPr id="30" name="Text 23"/>
          <p:cNvSpPr txBox="1"/>
          <p:nvPr/>
        </p:nvSpPr>
        <p:spPr>
          <a:xfrm>
            <a:off x="2926080" y="4434840"/>
            <a:ext cx="42976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Edge reaches out; the GPU service is exposed through an outbound tunnel, no inbound port</a:t>
            </a:r>
            <a:endParaRPr lang="en-US" sz="1250" dirty="0"/>
          </a:p>
        </p:txBody>
      </p:sp>
      <p:sp>
        <p:nvSpPr>
          <p:cNvPr id="31" name="Text 24"/>
          <p:cNvSpPr txBox="1"/>
          <p:nvPr/>
        </p:nvSpPr>
        <p:spPr>
          <a:xfrm>
            <a:off x="7452360" y="4434840"/>
            <a:ext cx="40690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Camera VLANs, edge DMZ, per-department segments, WAF and rate limits</a:t>
            </a:r>
            <a:endParaRPr lang="en-US" sz="1250" dirty="0"/>
          </a:p>
        </p:txBody>
      </p:sp>
      <p:sp>
        <p:nvSpPr>
          <p:cNvPr id="32" name="Shape 25"/>
          <p:cNvSpPr/>
          <p:nvPr/>
        </p:nvSpPr>
        <p:spPr>
          <a:xfrm>
            <a:off x="548640" y="5303520"/>
            <a:ext cx="11094415" cy="777240"/>
          </a:xfrm>
          <a:prstGeom prst="roundRect">
            <a:avLst>
              <a:gd name="adj" fmla="val 14118"/>
            </a:avLst>
          </a:prstGeom>
          <a:solidFill>
            <a:schemeClr val="bg1"/>
          </a:solidFill>
          <a:ln w="9525">
            <a:solidFill>
              <a:schemeClr val="accent6"/>
            </a:solidFill>
            <a:prstDash val="solid"/>
          </a:ln>
        </p:spPr>
      </p:sp>
      <p:sp>
        <p:nvSpPr>
          <p:cNvPr id="33" name="Shape 26"/>
          <p:cNvSpPr/>
          <p:nvPr/>
        </p:nvSpPr>
        <p:spPr>
          <a:xfrm>
            <a:off x="731520" y="5468112"/>
            <a:ext cx="438912" cy="438912"/>
          </a:xfrm>
          <a:prstGeom prst="ellipse">
            <a:avLst/>
          </a:prstGeom>
          <a:solidFill>
            <a:schemeClr val="accent1">
              <a:alpha val="12000"/>
            </a:schemeClr>
          </a:solidFill>
          <a:ln w="6350">
            <a:solidFill>
              <a:schemeClr val="accent1">
                <a:alpha val="30000"/>
              </a:schemeClr>
            </a:solidFill>
            <a:prstDash val="solid"/>
          </a:ln>
        </p:spPr>
      </p:sp>
      <p:pic>
        <p:nvPicPr>
          <p:cNvPr id="34" name="Image 4" descr="preencoded.png">    </p:cNvPr>
          <p:cNvPicPr>
            <a:picLocks noChangeAspect="1"/>
          </p:cNvPicPr>
          <p:nvPr/>
        </p:nvPicPr>
        <p:blipFill>
          <a:blip r:embed="rId5"/>
          <a:stretch>
            <a:fillRect/>
          </a:stretch>
        </p:blipFill>
        <p:spPr>
          <a:xfrm>
            <a:off x="841248" y="5577840"/>
            <a:ext cx="219456" cy="219456"/>
          </a:xfrm>
          <a:prstGeom prst="rect">
            <a:avLst/>
          </a:prstGeom>
        </p:spPr>
      </p:pic>
      <p:sp>
        <p:nvSpPr>
          <p:cNvPr id="35" name="Text 27"/>
          <p:cNvSpPr txBox="1"/>
          <p:nvPr/>
        </p:nvSpPr>
        <p:spPr>
          <a:xfrm>
            <a:off x="1325880" y="5303520"/>
            <a:ext cx="1463040" cy="777240"/>
          </a:xfrm>
          <a:prstGeom prst="rect">
            <a:avLst/>
          </a:prstGeom>
          <a:noFill/>
          <a:ln/>
        </p:spPr>
        <p:txBody>
          <a:bodyPr wrap="square" lIns="0" tIns="0" rIns="0" bIns="0" rtlCol="0" anchor="ctr"/>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Operations</a:t>
            </a:r>
            <a:endParaRPr lang="en-US" sz="1300" dirty="0"/>
          </a:p>
        </p:txBody>
      </p:sp>
      <p:sp>
        <p:nvSpPr>
          <p:cNvPr id="36" name="Text 28"/>
          <p:cNvSpPr txBox="1"/>
          <p:nvPr/>
        </p:nvSpPr>
        <p:spPr>
          <a:xfrm>
            <a:off x="2926080" y="5303520"/>
            <a:ext cx="42976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Alert rules on gateway and camera health events</a:t>
            </a:r>
            <a:endParaRPr lang="en-US" sz="1250" dirty="0"/>
          </a:p>
        </p:txBody>
      </p:sp>
      <p:sp>
        <p:nvSpPr>
          <p:cNvPr id="37" name="Text 29"/>
          <p:cNvSpPr txBox="1"/>
          <p:nvPr/>
        </p:nvSpPr>
        <p:spPr>
          <a:xfrm>
            <a:off x="7452360" y="5303520"/>
            <a:ext cx="4069080" cy="777240"/>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SIEM feed, vulnerability scans, penetration test, independent audit, immutable backups</a:t>
            </a:r>
            <a:endParaRPr lang="en-US" sz="125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07 · COST</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Implementation cost: about ₹79 crore one-time</a:t>
            </a:r>
            <a:endParaRPr lang="en-US" sz="2400" dirty="0"/>
          </a:p>
        </p:txBody>
      </p:sp>
      <p:sp>
        <p:nvSpPr>
          <p:cNvPr id="5" name="Shape 2"/>
          <p:cNvSpPr/>
          <p:nvPr/>
        </p:nvSpPr>
        <p:spPr>
          <a:xfrm>
            <a:off x="548640" y="1600200"/>
            <a:ext cx="7223760" cy="4663440"/>
          </a:xfrm>
          <a:prstGeom prst="roundRect">
            <a:avLst>
              <a:gd name="adj" fmla="val 2353"/>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Text 3"/>
          <p:cNvSpPr txBox="1"/>
          <p:nvPr/>
        </p:nvSpPr>
        <p:spPr>
          <a:xfrm>
            <a:off x="822960" y="1755648"/>
            <a:ext cx="6675120"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One-time cost, ₹ crore</a:t>
            </a:r>
            <a:endParaRPr lang="en-US" sz="1300" dirty="0"/>
          </a:p>
        </p:txBody>
      </p:sp>
      <p:graphicFrame>
        <p:nvGraphicFramePr>
          <p:cNvPr id="7" name="Chart 0" descr=""/>
          <p:cNvGraphicFramePr/>
          <p:nvPr/>
        </p:nvGraphicFramePr>
        <p:xfrm>
          <a:off x="731520" y="205740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046720" y="1600200"/>
            <a:ext cx="3596335" cy="1463040"/>
          </a:xfrm>
          <a:prstGeom prst="roundRect">
            <a:avLst>
              <a:gd name="adj" fmla="val 7500"/>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9" name="Text 5"/>
          <p:cNvSpPr txBox="1"/>
          <p:nvPr/>
        </p:nvSpPr>
        <p:spPr>
          <a:xfrm>
            <a:off x="8275320" y="1737360"/>
            <a:ext cx="3139135" cy="502920"/>
          </a:xfrm>
          <a:prstGeom prst="rect">
            <a:avLst/>
          </a:prstGeom>
          <a:noFill/>
          <a:ln/>
        </p:spPr>
        <p:txBody>
          <a:bodyPr wrap="square" lIns="0" tIns="0" rIns="0" bIns="0" rtlCol="0" anchor="t"/>
          <a:lstStyle/>
          <a:p>
            <a:pPr indent="0" marL="0">
              <a:buNone/>
            </a:pPr>
            <a:r>
              <a:rPr lang="en-US" sz="2800" b="1" dirty="0">
                <a:solidFill>
                  <a:schemeClr val="accent1"/>
                </a:solidFill>
                <a:latin typeface="Century Gothic" pitchFamily="34" charset="0"/>
                <a:ea typeface="Century Gothic" pitchFamily="34" charset="-122"/>
                <a:cs typeface="Century Gothic" pitchFamily="34" charset="-120"/>
              </a:rPr>
              <a:t>₹78.8 cr</a:t>
            </a:r>
            <a:endParaRPr lang="en-US" sz="2800" dirty="0"/>
          </a:p>
        </p:txBody>
      </p:sp>
      <p:sp>
        <p:nvSpPr>
          <p:cNvPr id="10" name="Text 6"/>
          <p:cNvSpPr txBox="1"/>
          <p:nvPr/>
        </p:nvSpPr>
        <p:spPr>
          <a:xfrm>
            <a:off x="8275320" y="2331720"/>
            <a:ext cx="3139135" cy="54864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Hardware 43.1, implementation 28.5, contingency 7.2</a:t>
            </a:r>
            <a:endParaRPr lang="en-US" sz="1200" dirty="0"/>
          </a:p>
        </p:txBody>
      </p:sp>
      <p:sp>
        <p:nvSpPr>
          <p:cNvPr id="11" name="Shape 7"/>
          <p:cNvSpPr/>
          <p:nvPr/>
        </p:nvSpPr>
        <p:spPr>
          <a:xfrm>
            <a:off x="8046720" y="3246120"/>
            <a:ext cx="3596335" cy="3017520"/>
          </a:xfrm>
          <a:prstGeom prst="roundRect">
            <a:avLst>
              <a:gd name="adj" fmla="val 3636"/>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2" name="Text 8"/>
          <p:cNvSpPr txBox="1"/>
          <p:nvPr/>
        </p:nvSpPr>
        <p:spPr>
          <a:xfrm>
            <a:off x="8275320" y="3383280"/>
            <a:ext cx="3139135"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Unit prices assumed</a:t>
            </a:r>
            <a:endParaRPr lang="en-US" sz="1300" dirty="0"/>
          </a:p>
        </p:txBody>
      </p:sp>
      <p:sp>
        <p:nvSpPr>
          <p:cNvPr id="13" name="Text 9"/>
          <p:cNvSpPr txBox="1"/>
          <p:nvPr/>
        </p:nvSpPr>
        <p:spPr>
          <a:xfrm>
            <a:off x="8275320" y="3749040"/>
            <a:ext cx="3139135" cy="19202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Raw storage ₹8,000 to 10,000 per TB, complete</a:t>
            </a:r>
            <a:endParaRPr lang="en-US" sz="1200" dirty="0"/>
          </a:p>
          <a:p>
            <a:pPr marL="177800" indent="-1778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Edge server ₹6 lakh</a:t>
            </a:r>
            <a:endParaRPr lang="en-US" sz="1200" dirty="0"/>
          </a:p>
          <a:p>
            <a:pPr marL="177800" indent="-1778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L4 ₹2.8 lakh; L40S ₹9 lakh</a:t>
            </a:r>
            <a:endParaRPr lang="en-US" sz="1200" dirty="0"/>
          </a:p>
          <a:p>
            <a:pPr marL="177800" indent="-1778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Engineer ₹2.5 lakh per month</a:t>
            </a:r>
            <a:endParaRPr lang="en-US" sz="1200" dirty="0"/>
          </a:p>
          <a:p>
            <a:pPr marL="177800" indent="-177800">
              <a:spcAft>
                <a:spcPts val="500"/>
              </a:spcAft>
              <a:buSzPct val="100000"/>
              <a:buChar char="•"/>
            </a:pPr>
            <a:r>
              <a:rPr lang="en-US" sz="1200" dirty="0">
                <a:solidFill>
                  <a:schemeClr val="tx1"/>
                </a:solidFill>
                <a:latin typeface="Calibri" pitchFamily="34" charset="0"/>
                <a:ea typeface="Calibri" pitchFamily="34" charset="-122"/>
                <a:cs typeface="Calibri" pitchFamily="34" charset="-120"/>
              </a:rPr>
              <a:t>Onboarding ₹1,000 per camera</a:t>
            </a:r>
            <a:endParaRPr lang="en-US" sz="1200" dirty="0"/>
          </a:p>
        </p:txBody>
      </p:sp>
      <p:sp>
        <p:nvSpPr>
          <p:cNvPr id="14" name="chip MODELLED ±30%"/>
          <p:cNvSpPr/>
          <p:nvPr/>
        </p:nvSpPr>
        <p:spPr>
          <a:xfrm>
            <a:off x="8275320" y="5852160"/>
            <a:ext cx="1302106" cy="237744"/>
          </a:xfrm>
          <a:prstGeom prst="roundRect">
            <a:avLst>
              <a:gd name="adj" fmla="val 50000"/>
            </a:avLst>
          </a:prstGeom>
          <a:solidFill>
            <a:schemeClr val="accent3">
              <a:alpha val="14000"/>
            </a:schemeClr>
          </a:solidFill>
          <a:ln w="6350">
            <a:solidFill>
              <a:schemeClr val="accent3">
                <a:alpha val="40000"/>
              </a:schemeClr>
            </a:solidFill>
            <a:prstDash val="solid"/>
          </a:ln>
        </p:spPr>
      </p:sp>
      <p:sp>
        <p:nvSpPr>
          <p:cNvPr id="15" name="Text 11"/>
          <p:cNvSpPr txBox="1"/>
          <p:nvPr/>
        </p:nvSpPr>
        <p:spPr>
          <a:xfrm>
            <a:off x="8275320" y="5852160"/>
            <a:ext cx="1302106" cy="237744"/>
          </a:xfrm>
          <a:prstGeom prst="rect">
            <a:avLst/>
          </a:prstGeom>
          <a:noFill/>
          <a:ln/>
        </p:spPr>
        <p:txBody>
          <a:bodyPr wrap="square" lIns="0" tIns="0" rIns="0" bIns="0"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MODELLED ±30%</a:t>
            </a:r>
            <a:endParaRPr lang="en-US" sz="10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07 · COST</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Operating cost: about ₹24 crore a year, ₹410 per camera per month</a:t>
            </a:r>
            <a:endParaRPr lang="en-US" sz="2400" dirty="0"/>
          </a:p>
        </p:txBody>
      </p:sp>
      <p:sp>
        <p:nvSpPr>
          <p:cNvPr id="5" name="Shape 2"/>
          <p:cNvSpPr/>
          <p:nvPr/>
        </p:nvSpPr>
        <p:spPr>
          <a:xfrm>
            <a:off x="548640" y="1600200"/>
            <a:ext cx="5760720" cy="4663440"/>
          </a:xfrm>
          <a:prstGeom prst="roundRect">
            <a:avLst>
              <a:gd name="adj" fmla="val 2353"/>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Text 3"/>
          <p:cNvSpPr txBox="1"/>
          <p:nvPr/>
        </p:nvSpPr>
        <p:spPr>
          <a:xfrm>
            <a:off x="822960" y="1755648"/>
            <a:ext cx="5212080"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Cumulative cost, ₹ crore</a:t>
            </a:r>
            <a:endParaRPr lang="en-US" sz="1300" dirty="0"/>
          </a:p>
        </p:txBody>
      </p:sp>
      <p:graphicFrame>
        <p:nvGraphicFramePr>
          <p:cNvPr id="7" name="Chart 0" descr=""/>
          <p:cNvGraphicFramePr/>
          <p:nvPr/>
        </p:nvGraphicFramePr>
        <p:xfrm>
          <a:off x="731520" y="2057400"/>
          <a:ext cx="53949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059375" cy="914400"/>
        </p:xfrm>
        <a:graphic>
          <a:graphicData uri="http://schemas.openxmlformats.org/drawingml/2006/table">
            <a:tbl>
              <a:tblPr/>
              <a:tblGrid>
                <a:gridCol w="4236415"/>
                <a:gridCol w="822960"/>
              </a:tblGrid>
              <a:tr h="301752">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ANNUAL RUN COST</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 CR</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Operations team (SOC, SRE, support, 8 developers)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Network links (may use the State network)</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Power and cooling (~450 kW IT load)</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1148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Hardware support, from year 2</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1148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Software support and audits</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1148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Total, steady state</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24.4</a:t>
                      </a:r>
                      <a:endParaRPr lang="en-US" sz="120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bl>
          </a:graphicData>
        </a:graphic>
      </p:graphicFrame>
      <p:sp>
        <p:nvSpPr>
          <p:cNvPr id="9" name="Shape 4"/>
          <p:cNvSpPr/>
          <p:nvPr/>
        </p:nvSpPr>
        <p:spPr>
          <a:xfrm>
            <a:off x="6583680" y="4526280"/>
            <a:ext cx="5059375" cy="1737360"/>
          </a:xfrm>
          <a:prstGeom prst="roundRect">
            <a:avLst>
              <a:gd name="adj" fmla="val 6316"/>
            </a:avLst>
          </a:prstGeom>
          <a:solidFill>
            <a:schemeClr val="accent1">
              <a:alpha val="8000"/>
            </a:schemeClr>
          </a:solidFill>
          <a:ln w="9525">
            <a:solidFill>
              <a:schemeClr val="accent6"/>
            </a:solidFill>
            <a:prstDash val="solid"/>
          </a:ln>
        </p:spPr>
      </p:sp>
      <p:sp>
        <p:nvSpPr>
          <p:cNvPr id="10" name="Text 5"/>
          <p:cNvSpPr txBox="1"/>
          <p:nvPr/>
        </p:nvSpPr>
        <p:spPr>
          <a:xfrm>
            <a:off x="6812280" y="4636008"/>
            <a:ext cx="4602175" cy="274320"/>
          </a:xfrm>
          <a:prstGeom prst="rect">
            <a:avLst/>
          </a:prstGeom>
          <a:noFill/>
          <a:ln/>
        </p:spPr>
        <p:txBody>
          <a:bodyPr wrap="square" lIns="0" tIns="0" rIns="0" bIns="0" rtlCol="0" anchor="t"/>
          <a:lstStyle/>
          <a:p>
            <a:pPr indent="0" marL="0">
              <a:buNone/>
            </a:pPr>
            <a:r>
              <a:rPr lang="en-US" sz="1300" b="1" dirty="0">
                <a:solidFill>
                  <a:schemeClr val="tx1"/>
                </a:solidFill>
                <a:latin typeface="Century Gothic" pitchFamily="34" charset="0"/>
                <a:ea typeface="Century Gothic" pitchFamily="34" charset="-122"/>
                <a:cs typeface="Century Gothic" pitchFamily="34" charset="-120"/>
              </a:rPr>
              <a:t>What moves the number</a:t>
            </a:r>
            <a:endParaRPr lang="en-US" sz="1300" dirty="0"/>
          </a:p>
        </p:txBody>
      </p:sp>
      <p:sp>
        <p:nvSpPr>
          <p:cNvPr id="11" name="Text 6"/>
          <p:cNvSpPr txBox="1"/>
          <p:nvPr/>
        </p:nvSpPr>
        <p:spPr>
          <a:xfrm>
            <a:off x="6812280" y="4983480"/>
            <a:ext cx="4602175" cy="123444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30-day retention: +₹15 cr storage</a:t>
            </a:r>
            <a:endParaRPr lang="en-US" sz="1200" dirty="0"/>
          </a:p>
          <a:p>
            <a:pPr marL="177800" indent="-1778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2 Mbps recording: +₹15 cr</a:t>
            </a:r>
            <a:endParaRPr lang="en-US" sz="1200" dirty="0"/>
          </a:p>
          <a:p>
            <a:pPr marL="177800" indent="-177800">
              <a:spcAft>
                <a:spcPts val="400"/>
              </a:spcAft>
              <a:buSzPct val="100000"/>
              <a:buChar char="•"/>
            </a:pPr>
            <a:r>
              <a:rPr lang="en-US" sz="1200" dirty="0">
                <a:solidFill>
                  <a:schemeClr val="tx1"/>
                </a:solidFill>
                <a:latin typeface="Calibri" pitchFamily="34" charset="0"/>
                <a:ea typeface="Calibri" pitchFamily="34" charset="-122"/>
                <a:cs typeface="Calibri" pitchFamily="34" charset="-120"/>
              </a:rPr>
              <a:t>Hosted model API: −₹1.4 cr now, +₹6 cr a year</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08 · EVIDENCE</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What is verified, and what the PoC must still prove</a:t>
            </a:r>
            <a:endParaRPr lang="en-US" sz="2400" dirty="0"/>
          </a:p>
        </p:txBody>
      </p:sp>
      <p:sp>
        <p:nvSpPr>
          <p:cNvPr id="5" name="Shape 2"/>
          <p:cNvSpPr/>
          <p:nvPr/>
        </p:nvSpPr>
        <p:spPr>
          <a:xfrm>
            <a:off x="548640" y="1600200"/>
            <a:ext cx="5364328" cy="4663440"/>
          </a:xfrm>
          <a:prstGeom prst="roundRect">
            <a:avLst>
              <a:gd name="adj" fmla="val 2353"/>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6" name="Shape 3"/>
          <p:cNvSpPr/>
          <p:nvPr/>
        </p:nvSpPr>
        <p:spPr>
          <a:xfrm>
            <a:off x="777240" y="1783080"/>
            <a:ext cx="457200" cy="457200"/>
          </a:xfrm>
          <a:prstGeom prst="ellipse">
            <a:avLst/>
          </a:prstGeom>
          <a:solidFill>
            <a:schemeClr val="accent2">
              <a:alpha val="12000"/>
            </a:schemeClr>
          </a:solidFill>
          <a:ln w="6350">
            <a:solidFill>
              <a:schemeClr val="accent2">
                <a:alpha val="30000"/>
              </a:schemeClr>
            </a:solidFill>
            <a:prstDash val="solid"/>
          </a:ln>
        </p:spPr>
      </p:sp>
      <p:pic>
        <p:nvPicPr>
          <p:cNvPr id="7" name="Image 0" descr="preencoded.png">    </p:cNvPr>
          <p:cNvPicPr>
            <a:picLocks noChangeAspect="1"/>
          </p:cNvPicPr>
          <p:nvPr/>
        </p:nvPicPr>
        <p:blipFill>
          <a:blip r:embed="rId1"/>
          <a:stretch>
            <a:fillRect/>
          </a:stretch>
        </p:blipFill>
        <p:spPr>
          <a:xfrm>
            <a:off x="891540" y="1897380"/>
            <a:ext cx="228600" cy="228600"/>
          </a:xfrm>
          <a:prstGeom prst="rect">
            <a:avLst/>
          </a:prstGeom>
        </p:spPr>
      </p:pic>
      <p:sp>
        <p:nvSpPr>
          <p:cNvPr id="8" name="Text 4"/>
          <p:cNvSpPr txBox="1"/>
          <p:nvPr/>
        </p:nvSpPr>
        <p:spPr>
          <a:xfrm>
            <a:off x="1371600" y="1783080"/>
            <a:ext cx="4267048" cy="457200"/>
          </a:xfrm>
          <a:prstGeom prst="rect">
            <a:avLst/>
          </a:prstGeom>
          <a:noFill/>
          <a:ln/>
        </p:spPr>
        <p:txBody>
          <a:bodyPr wrap="square" lIns="0" tIns="0" rIns="0" bIns="0" rtlCol="0" anchor="ctr"/>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Verified so far</a:t>
            </a:r>
            <a:endParaRPr lang="en-US" sz="1800" dirty="0"/>
          </a:p>
        </p:txBody>
      </p:sp>
      <p:sp>
        <p:nvSpPr>
          <p:cNvPr id="9" name="Text 5"/>
          <p:cNvSpPr txBox="1"/>
          <p:nvPr/>
        </p:nvSpPr>
        <p:spPr>
          <a:xfrm>
            <a:off x="822960" y="2514600"/>
            <a:ext cx="4815688" cy="365760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Control plane simulated to 80,000 cameras: 150,194 analyses, no late runs</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Edge protocol: 24 tests over real HTTP, 20,000-item backlog, link cut and restored, nothing lost or doubled</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Cold tier against a signature-checking S3: lost uploads, 40 MB streamed upload, clips with identical hashes</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Real media server: pass-through about 1% of a core per camera</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Event stores on real Postgres: ~900 rows/s batched, answers match the in-memory store</a:t>
            </a:r>
            <a:endParaRPr lang="en-US" sz="1500" dirty="0"/>
          </a:p>
        </p:txBody>
      </p:sp>
      <p:sp>
        <p:nvSpPr>
          <p:cNvPr id="10" name="Shape 6"/>
          <p:cNvSpPr/>
          <p:nvPr/>
        </p:nvSpPr>
        <p:spPr>
          <a:xfrm>
            <a:off x="6278728" y="1600200"/>
            <a:ext cx="5364328" cy="4663440"/>
          </a:xfrm>
          <a:prstGeom prst="roundRect">
            <a:avLst>
              <a:gd name="adj" fmla="val 2353"/>
            </a:avLst>
          </a:prstGeom>
          <a:solidFill>
            <a:schemeClr val="bg1"/>
          </a:solidFill>
          <a:ln w="9525">
            <a:solidFill>
              <a:schemeClr val="accent6"/>
            </a:solidFill>
            <a:prstDash val="solid"/>
          </a:ln>
          <a:effectLst>
            <a:outerShdw sx="100000" sy="100000" kx="0" ky="0" algn="bl" rotWithShape="0" blurRad="76200" dist="25400" dir="5400000">
              <a:srgbClr val="0F172A">
                <a:alpha val="7000"/>
              </a:srgbClr>
            </a:outerShdw>
          </a:effectLst>
        </p:spPr>
      </p:sp>
      <p:sp>
        <p:nvSpPr>
          <p:cNvPr id="11" name="Shape 7"/>
          <p:cNvSpPr/>
          <p:nvPr/>
        </p:nvSpPr>
        <p:spPr>
          <a:xfrm>
            <a:off x="6507328" y="1783080"/>
            <a:ext cx="457200" cy="457200"/>
          </a:xfrm>
          <a:prstGeom prst="ellipse">
            <a:avLst/>
          </a:prstGeom>
          <a:solidFill>
            <a:schemeClr val="accent3">
              <a:alpha val="12000"/>
            </a:schemeClr>
          </a:solidFill>
          <a:ln w="6350">
            <a:solidFill>
              <a:schemeClr val="accent3">
                <a:alpha val="30000"/>
              </a:schemeClr>
            </a:solidFill>
            <a:prstDash val="solid"/>
          </a:ln>
        </p:spPr>
      </p:sp>
      <p:pic>
        <p:nvPicPr>
          <p:cNvPr id="12" name="Image 1" descr="preencoded.png">    </p:cNvPr>
          <p:cNvPicPr>
            <a:picLocks noChangeAspect="1"/>
          </p:cNvPicPr>
          <p:nvPr/>
        </p:nvPicPr>
        <p:blipFill>
          <a:blip r:embed="rId2"/>
          <a:stretch>
            <a:fillRect/>
          </a:stretch>
        </p:blipFill>
        <p:spPr>
          <a:xfrm>
            <a:off x="6621628" y="1897380"/>
            <a:ext cx="228600" cy="228600"/>
          </a:xfrm>
          <a:prstGeom prst="rect">
            <a:avLst/>
          </a:prstGeom>
        </p:spPr>
      </p:pic>
      <p:sp>
        <p:nvSpPr>
          <p:cNvPr id="13" name="Text 8"/>
          <p:cNvSpPr txBox="1"/>
          <p:nvPr/>
        </p:nvSpPr>
        <p:spPr>
          <a:xfrm>
            <a:off x="7101688" y="1783080"/>
            <a:ext cx="4267048" cy="457200"/>
          </a:xfrm>
          <a:prstGeom prst="rect">
            <a:avLst/>
          </a:prstGeom>
          <a:noFill/>
          <a:ln/>
        </p:spPr>
        <p:txBody>
          <a:bodyPr wrap="square" lIns="0" tIns="0" rIns="0" bIns="0" rtlCol="0" anchor="ctr"/>
          <a:lstStyle/>
          <a:p>
            <a:pPr indent="0" marL="0">
              <a:buNone/>
            </a:pPr>
            <a:r>
              <a:rPr lang="en-US" sz="1800" b="1" dirty="0">
                <a:solidFill>
                  <a:schemeClr val="tx1"/>
                </a:solidFill>
                <a:latin typeface="Century Gothic" pitchFamily="34" charset="0"/>
                <a:ea typeface="Century Gothic" pitchFamily="34" charset="-122"/>
                <a:cs typeface="Century Gothic" pitchFamily="34" charset="-120"/>
              </a:rPr>
              <a:t>Not yet verified</a:t>
            </a:r>
            <a:endParaRPr lang="en-US" sz="1800" dirty="0"/>
          </a:p>
        </p:txBody>
      </p:sp>
      <p:sp>
        <p:nvSpPr>
          <p:cNvPr id="14" name="Text 9"/>
          <p:cNvSpPr txBox="1"/>
          <p:nvPr/>
        </p:nvSpPr>
        <p:spPr>
          <a:xfrm>
            <a:off x="6553048" y="2514600"/>
            <a:ext cx="4815688" cy="365760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Redis queue, Kafka, Ceph, Kubernetes: written against fakes or not written</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Any GPU: ANPR speed and accuracy on CUDA, on Indian plates</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Real cameras, H.265, links of hundreds of kilometres</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Model latency and cost, and the real frame-gate pass rate on real scenes</a:t>
            </a:r>
            <a:endParaRPr lang="en-US" sz="1500" dirty="0"/>
          </a:p>
          <a:p>
            <a:pPr marL="177800" indent="-1778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Regional hub tier, edge clip fetch, gateway failover, encryption at rest, DR drills</a:t>
            </a:r>
            <a:endParaRPr lang="en-US" sz="15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5"/>
                </a:solidFill>
                <a:latin typeface="Consolas" pitchFamily="34" charset="0"/>
                <a:ea typeface="Consolas" pitchFamily="34" charset="-122"/>
                <a:cs typeface="Consolas" pitchFamily="34" charset="-120"/>
              </a:rPr>
              <a:t>08 · POC AND ROLLOUT</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bg1"/>
                </a:solidFill>
                <a:latin typeface="Century Gothic" pitchFamily="34" charset="0"/>
                <a:ea typeface="Century Gothic" pitchFamily="34" charset="-122"/>
                <a:cs typeface="Century Gothic" pitchFamily="34" charset="-120"/>
              </a:rPr>
              <a:t>From on-site PoC to 80,000 cameras in three gated phases</a:t>
            </a:r>
            <a:endParaRPr lang="en-US" sz="2400" dirty="0"/>
          </a:p>
        </p:txBody>
      </p:sp>
      <p:sp>
        <p:nvSpPr>
          <p:cNvPr id="5" name="Shape 2"/>
          <p:cNvSpPr/>
          <p:nvPr/>
        </p:nvSpPr>
        <p:spPr>
          <a:xfrm>
            <a:off x="548640" y="1600200"/>
            <a:ext cx="3515258" cy="2743200"/>
          </a:xfrm>
          <a:prstGeom prst="roundRect">
            <a:avLst>
              <a:gd name="adj" fmla="val 4000"/>
            </a:avLst>
          </a:prstGeom>
          <a:solidFill>
            <a:srgbClr val="1A2333"/>
          </a:solidFill>
          <a:ln w="9525">
            <a:solidFill>
              <a:srgbClr val="243044"/>
            </a:solidFill>
            <a:prstDash val="solid"/>
          </a:ln>
        </p:spPr>
      </p:sp>
      <p:sp>
        <p:nvSpPr>
          <p:cNvPr id="6" name="Text 3"/>
          <p:cNvSpPr txBox="1"/>
          <p:nvPr/>
        </p:nvSpPr>
        <p:spPr>
          <a:xfrm>
            <a:off x="804672" y="1755648"/>
            <a:ext cx="1828800" cy="36576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PoC</a:t>
            </a:r>
            <a:endParaRPr lang="en-US" sz="2000" dirty="0"/>
          </a:p>
        </p:txBody>
      </p:sp>
      <p:sp>
        <p:nvSpPr>
          <p:cNvPr id="7" name="Text 4"/>
          <p:cNvSpPr txBox="1"/>
          <p:nvPr/>
        </p:nvSpPr>
        <p:spPr>
          <a:xfrm>
            <a:off x="804672" y="2176272"/>
            <a:ext cx="3003194" cy="274320"/>
          </a:xfrm>
          <a:prstGeom prst="rect">
            <a:avLst/>
          </a:prstGeom>
          <a:noFill/>
          <a:ln/>
        </p:spPr>
        <p:txBody>
          <a:bodyPr wrap="square" lIns="0" tIns="0" rIns="0" bIns="0" rtlCol="0" anchor="t"/>
          <a:lstStyle/>
          <a:p>
            <a:pPr indent="0" marL="0">
              <a:buNone/>
            </a:pPr>
            <a:r>
              <a:rPr lang="en-US" sz="1050" b="1" dirty="0">
                <a:solidFill>
                  <a:schemeClr val="accent5"/>
                </a:solidFill>
                <a:latin typeface="Consolas" pitchFamily="34" charset="0"/>
                <a:ea typeface="Consolas" pitchFamily="34" charset="-122"/>
                <a:cs typeface="Consolas" pitchFamily="34" charset="-120"/>
              </a:rPr>
              <a:t>3 months  ·  100 to 500 cameras</a:t>
            </a:r>
            <a:endParaRPr lang="en-US" sz="1050" dirty="0"/>
          </a:p>
        </p:txBody>
      </p:sp>
      <p:sp>
        <p:nvSpPr>
          <p:cNvPr id="8" name="Text 5"/>
          <p:cNvSpPr txBox="1"/>
          <p:nvPr/>
        </p:nvSpPr>
        <p:spPr>
          <a:xfrm>
            <a:off x="804672" y="2606040"/>
            <a:ext cx="3003194"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1 edge node, 1 GPU</a:t>
            </a:r>
            <a:endParaRPr lang="en-US" sz="1300" dirty="0"/>
          </a:p>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Own feed + Government feed</a:t>
            </a:r>
            <a:endParaRPr lang="en-US" sz="1300" dirty="0"/>
          </a:p>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ANPR, intrusion, objects, reports</a:t>
            </a:r>
            <a:endParaRPr lang="en-US" sz="1300" dirty="0"/>
          </a:p>
        </p:txBody>
      </p:sp>
      <p:sp>
        <p:nvSpPr>
          <p:cNvPr id="9" name="Text 6"/>
          <p:cNvSpPr txBox="1"/>
          <p:nvPr/>
        </p:nvSpPr>
        <p:spPr>
          <a:xfrm>
            <a:off x="804672" y="3840480"/>
            <a:ext cx="3003194" cy="411480"/>
          </a:xfrm>
          <a:prstGeom prst="rect">
            <a:avLst/>
          </a:prstGeom>
          <a:noFill/>
          <a:ln/>
        </p:spPr>
        <p:txBody>
          <a:bodyPr wrap="square" lIns="0" tIns="0" rIns="0" bIns="0" rtlCol="0" anchor="t"/>
          <a:lstStyle/>
          <a:p>
            <a:pPr indent="0" marL="0">
              <a:buNone/>
            </a:pPr>
            <a:r>
              <a:rPr lang="en-US" sz="1150" b="1" dirty="0">
                <a:solidFill>
                  <a:srgbClr val="94A3B8"/>
                </a:solidFill>
                <a:latin typeface="Calibri" pitchFamily="34" charset="0"/>
                <a:ea typeface="Calibri" pitchFamily="34" charset="-122"/>
                <a:cs typeface="Calibri" pitchFamily="34" charset="-120"/>
              </a:rPr>
              <a:t>Gate: measured reads/s and gate pass rate</a:t>
            </a:r>
            <a:endParaRPr lang="en-US" sz="1150" dirty="0"/>
          </a:p>
        </p:txBody>
      </p:sp>
      <p:sp>
        <p:nvSpPr>
          <p:cNvPr id="10" name="Shape 7"/>
          <p:cNvSpPr/>
          <p:nvPr/>
        </p:nvSpPr>
        <p:spPr>
          <a:xfrm>
            <a:off x="4338218" y="1600200"/>
            <a:ext cx="3515258" cy="2743200"/>
          </a:xfrm>
          <a:prstGeom prst="roundRect">
            <a:avLst>
              <a:gd name="adj" fmla="val 4000"/>
            </a:avLst>
          </a:prstGeom>
          <a:solidFill>
            <a:srgbClr val="1A2333"/>
          </a:solidFill>
          <a:ln w="9525">
            <a:solidFill>
              <a:srgbClr val="243044"/>
            </a:solidFill>
            <a:prstDash val="solid"/>
          </a:ln>
        </p:spPr>
      </p:sp>
      <p:sp>
        <p:nvSpPr>
          <p:cNvPr id="11" name="Text 8"/>
          <p:cNvSpPr txBox="1"/>
          <p:nvPr/>
        </p:nvSpPr>
        <p:spPr>
          <a:xfrm>
            <a:off x="4594250" y="1755648"/>
            <a:ext cx="1828800" cy="36576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Pilot</a:t>
            </a:r>
            <a:endParaRPr lang="en-US" sz="2000" dirty="0"/>
          </a:p>
        </p:txBody>
      </p:sp>
      <p:sp>
        <p:nvSpPr>
          <p:cNvPr id="12" name="Text 9"/>
          <p:cNvSpPr txBox="1"/>
          <p:nvPr/>
        </p:nvSpPr>
        <p:spPr>
          <a:xfrm>
            <a:off x="4594250" y="2176272"/>
            <a:ext cx="3003194" cy="274320"/>
          </a:xfrm>
          <a:prstGeom prst="rect">
            <a:avLst/>
          </a:prstGeom>
          <a:noFill/>
          <a:ln/>
        </p:spPr>
        <p:txBody>
          <a:bodyPr wrap="square" lIns="0" tIns="0" rIns="0" bIns="0" rtlCol="0" anchor="t"/>
          <a:lstStyle/>
          <a:p>
            <a:pPr indent="0" marL="0">
              <a:buNone/>
            </a:pPr>
            <a:r>
              <a:rPr lang="en-US" sz="1050" b="1" dirty="0">
                <a:solidFill>
                  <a:schemeClr val="accent5"/>
                </a:solidFill>
                <a:latin typeface="Consolas" pitchFamily="34" charset="0"/>
                <a:ea typeface="Consolas" pitchFamily="34" charset="-122"/>
                <a:cs typeface="Consolas" pitchFamily="34" charset="-120"/>
              </a:rPr>
              <a:t>6 months  ·  10,000 cameras</a:t>
            </a:r>
            <a:endParaRPr lang="en-US" sz="1050" dirty="0"/>
          </a:p>
        </p:txBody>
      </p:sp>
      <p:sp>
        <p:nvSpPr>
          <p:cNvPr id="13" name="Text 10"/>
          <p:cNvSpPr txBox="1"/>
          <p:nvPr/>
        </p:nvSpPr>
        <p:spPr>
          <a:xfrm>
            <a:off x="4594250" y="2606040"/>
            <a:ext cx="3003194"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1 regional hub, 10 to 20 edge nodes</a:t>
            </a:r>
            <a:endParaRPr lang="en-US" sz="1300" dirty="0"/>
          </a:p>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Real Redis, Kafka, Ceph</a:t>
            </a:r>
            <a:endParaRPr lang="en-US" sz="1300" dirty="0"/>
          </a:p>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Failover and DR drill</a:t>
            </a:r>
            <a:endParaRPr lang="en-US" sz="1300" dirty="0"/>
          </a:p>
        </p:txBody>
      </p:sp>
      <p:sp>
        <p:nvSpPr>
          <p:cNvPr id="14" name="Text 11"/>
          <p:cNvSpPr txBox="1"/>
          <p:nvPr/>
        </p:nvSpPr>
        <p:spPr>
          <a:xfrm>
            <a:off x="4594250" y="3840480"/>
            <a:ext cx="3003194" cy="411480"/>
          </a:xfrm>
          <a:prstGeom prst="rect">
            <a:avLst/>
          </a:prstGeom>
          <a:noFill/>
          <a:ln/>
        </p:spPr>
        <p:txBody>
          <a:bodyPr wrap="square" lIns="0" tIns="0" rIns="0" bIns="0" rtlCol="0" anchor="t"/>
          <a:lstStyle/>
          <a:p>
            <a:pPr indent="0" marL="0">
              <a:buNone/>
            </a:pPr>
            <a:r>
              <a:rPr lang="en-US" sz="1150" b="1" dirty="0">
                <a:solidFill>
                  <a:srgbClr val="94A3B8"/>
                </a:solidFill>
                <a:latin typeface="Calibri" pitchFamily="34" charset="0"/>
                <a:ea typeface="Calibri" pitchFamily="34" charset="-122"/>
                <a:cs typeface="Calibri" pitchFamily="34" charset="-120"/>
              </a:rPr>
              <a:t>Gate: SLOs met, cost per camera confirmed</a:t>
            </a:r>
            <a:endParaRPr lang="en-US" sz="1150" dirty="0"/>
          </a:p>
        </p:txBody>
      </p:sp>
      <p:sp>
        <p:nvSpPr>
          <p:cNvPr id="15" name="Shape 12"/>
          <p:cNvSpPr/>
          <p:nvPr/>
        </p:nvSpPr>
        <p:spPr>
          <a:xfrm>
            <a:off x="8127797" y="1600200"/>
            <a:ext cx="3515258" cy="2743200"/>
          </a:xfrm>
          <a:prstGeom prst="roundRect">
            <a:avLst>
              <a:gd name="adj" fmla="val 4000"/>
            </a:avLst>
          </a:prstGeom>
          <a:solidFill>
            <a:srgbClr val="1A2333"/>
          </a:solidFill>
          <a:ln w="9525">
            <a:solidFill>
              <a:srgbClr val="243044"/>
            </a:solidFill>
            <a:prstDash val="solid"/>
          </a:ln>
        </p:spPr>
      </p:sp>
      <p:sp>
        <p:nvSpPr>
          <p:cNvPr id="16" name="Text 13"/>
          <p:cNvSpPr txBox="1"/>
          <p:nvPr/>
        </p:nvSpPr>
        <p:spPr>
          <a:xfrm>
            <a:off x="8383829" y="1755648"/>
            <a:ext cx="1828800" cy="365760"/>
          </a:xfrm>
          <a:prstGeom prst="rect">
            <a:avLst/>
          </a:prstGeom>
          <a:noFill/>
          <a:ln/>
        </p:spPr>
        <p:txBody>
          <a:bodyPr wrap="square" lIns="0" tIns="0" rIns="0" bIns="0" rtlCol="0" anchor="t"/>
          <a:lstStyle/>
          <a:p>
            <a:pPr indent="0" marL="0">
              <a:buNone/>
            </a:pPr>
            <a:r>
              <a:rPr lang="en-US" sz="2000" b="1" dirty="0">
                <a:solidFill>
                  <a:schemeClr val="bg1"/>
                </a:solidFill>
                <a:latin typeface="Century Gothic" pitchFamily="34" charset="0"/>
                <a:ea typeface="Century Gothic" pitchFamily="34" charset="-122"/>
                <a:cs typeface="Century Gothic" pitchFamily="34" charset="-120"/>
              </a:rPr>
              <a:t>Rollout</a:t>
            </a:r>
            <a:endParaRPr lang="en-US" sz="2000" dirty="0"/>
          </a:p>
        </p:txBody>
      </p:sp>
      <p:sp>
        <p:nvSpPr>
          <p:cNvPr id="17" name="Text 14"/>
          <p:cNvSpPr txBox="1"/>
          <p:nvPr/>
        </p:nvSpPr>
        <p:spPr>
          <a:xfrm>
            <a:off x="8383829" y="2176272"/>
            <a:ext cx="3003194" cy="274320"/>
          </a:xfrm>
          <a:prstGeom prst="rect">
            <a:avLst/>
          </a:prstGeom>
          <a:noFill/>
          <a:ln/>
        </p:spPr>
        <p:txBody>
          <a:bodyPr wrap="square" lIns="0" tIns="0" rIns="0" bIns="0" rtlCol="0" anchor="t"/>
          <a:lstStyle/>
          <a:p>
            <a:pPr indent="0" marL="0">
              <a:buNone/>
            </a:pPr>
            <a:r>
              <a:rPr lang="en-US" sz="1050" b="1" dirty="0">
                <a:solidFill>
                  <a:schemeClr val="accent5"/>
                </a:solidFill>
                <a:latin typeface="Consolas" pitchFamily="34" charset="0"/>
                <a:ea typeface="Consolas" pitchFamily="34" charset="-122"/>
                <a:cs typeface="Consolas" pitchFamily="34" charset="-120"/>
              </a:rPr>
              <a:t>12 months  ·  80,000 cameras</a:t>
            </a:r>
            <a:endParaRPr lang="en-US" sz="1050" dirty="0"/>
          </a:p>
        </p:txBody>
      </p:sp>
      <p:sp>
        <p:nvSpPr>
          <p:cNvPr id="18" name="Text 15"/>
          <p:cNvSpPr txBox="1"/>
          <p:nvPr/>
        </p:nvSpPr>
        <p:spPr>
          <a:xfrm>
            <a:off x="8383829" y="2606040"/>
            <a:ext cx="3003194" cy="1188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8 hubs in waves</a:t>
            </a:r>
            <a:endParaRPr lang="en-US" sz="1300" dirty="0"/>
          </a:p>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DR site live, audit passed</a:t>
            </a:r>
            <a:endParaRPr lang="en-US" sz="1300" dirty="0"/>
          </a:p>
          <a:p>
            <a:pPr marL="177800" indent="-177800">
              <a:spcAft>
                <a:spcPts val="500"/>
              </a:spcAft>
              <a:buSzPct val="100000"/>
              <a:buChar char="•"/>
            </a:pPr>
            <a:r>
              <a:rPr lang="en-US" sz="1300" dirty="0">
                <a:solidFill>
                  <a:srgbClr val="E2E8F0"/>
                </a:solidFill>
                <a:latin typeface="Calibri" pitchFamily="34" charset="0"/>
                <a:ea typeface="Calibri" pitchFamily="34" charset="-122"/>
                <a:cs typeface="Calibri" pitchFamily="34" charset="-120"/>
              </a:rPr>
              <a:t>Hand-over to operations</a:t>
            </a:r>
            <a:endParaRPr lang="en-US" sz="1300" dirty="0"/>
          </a:p>
        </p:txBody>
      </p:sp>
      <p:sp>
        <p:nvSpPr>
          <p:cNvPr id="19" name="Text 16"/>
          <p:cNvSpPr txBox="1"/>
          <p:nvPr/>
        </p:nvSpPr>
        <p:spPr>
          <a:xfrm>
            <a:off x="8383829" y="3840480"/>
            <a:ext cx="3003194" cy="411480"/>
          </a:xfrm>
          <a:prstGeom prst="rect">
            <a:avLst/>
          </a:prstGeom>
          <a:noFill/>
          <a:ln/>
        </p:spPr>
        <p:txBody>
          <a:bodyPr wrap="square" lIns="0" tIns="0" rIns="0" bIns="0" rtlCol="0" anchor="t"/>
          <a:lstStyle/>
          <a:p>
            <a:pPr indent="0" marL="0">
              <a:buNone/>
            </a:pPr>
            <a:r>
              <a:rPr lang="en-US" sz="1150" b="1" dirty="0">
                <a:solidFill>
                  <a:srgbClr val="94A3B8"/>
                </a:solidFill>
                <a:latin typeface="Calibri" pitchFamily="34" charset="0"/>
                <a:ea typeface="Calibri" pitchFamily="34" charset="-122"/>
                <a:cs typeface="Calibri" pitchFamily="34" charset="-120"/>
              </a:rPr>
              <a:t>Gate: sign-off per wave</a:t>
            </a:r>
            <a:endParaRPr lang="en-US" sz="1150" dirty="0"/>
          </a:p>
        </p:txBody>
      </p:sp>
      <p:sp>
        <p:nvSpPr>
          <p:cNvPr id="20" name="Text 17"/>
          <p:cNvSpPr txBox="1"/>
          <p:nvPr/>
        </p:nvSpPr>
        <p:spPr>
          <a:xfrm>
            <a:off x="548640" y="4572000"/>
            <a:ext cx="5486400" cy="274320"/>
          </a:xfrm>
          <a:prstGeom prst="rect">
            <a:avLst/>
          </a:prstGeom>
          <a:noFill/>
          <a:ln/>
        </p:spPr>
        <p:txBody>
          <a:bodyPr wrap="square" lIns="0" tIns="0" rIns="0" bIns="0" rtlCol="0" anchor="t"/>
          <a:lstStyle/>
          <a:p>
            <a:pPr indent="0" marL="0">
              <a:buNone/>
            </a:pPr>
            <a:r>
              <a:rPr lang="en-US" sz="1100" b="1" dirty="0">
                <a:solidFill>
                  <a:schemeClr val="accent5"/>
                </a:solidFill>
                <a:latin typeface="Consolas" pitchFamily="34" charset="0"/>
                <a:ea typeface="Consolas" pitchFamily="34" charset="-122"/>
                <a:cs typeface="Consolas" pitchFamily="34" charset="-120"/>
              </a:rPr>
              <a:t>WHAT THE POC MEASURES</a:t>
            </a:r>
            <a:endParaRPr lang="en-US" sz="1100" dirty="0"/>
          </a:p>
        </p:txBody>
      </p:sp>
      <p:sp>
        <p:nvSpPr>
          <p:cNvPr id="21" name="Shape 18"/>
          <p:cNvSpPr/>
          <p:nvPr/>
        </p:nvSpPr>
        <p:spPr>
          <a:xfrm>
            <a:off x="548640" y="4937760"/>
            <a:ext cx="2072579" cy="1188720"/>
          </a:xfrm>
          <a:prstGeom prst="roundRect">
            <a:avLst>
              <a:gd name="adj" fmla="val 7692"/>
            </a:avLst>
          </a:prstGeom>
          <a:solidFill>
            <a:srgbClr val="1A2333"/>
          </a:solidFill>
          <a:ln w="9525">
            <a:solidFill>
              <a:srgbClr val="243044"/>
            </a:solidFill>
            <a:prstDash val="solid"/>
          </a:ln>
        </p:spPr>
      </p:sp>
      <p:sp>
        <p:nvSpPr>
          <p:cNvPr id="22" name="Text 19"/>
          <p:cNvSpPr txBox="1"/>
          <p:nvPr/>
        </p:nvSpPr>
        <p:spPr>
          <a:xfrm>
            <a:off x="731520" y="5029200"/>
            <a:ext cx="548640" cy="274320"/>
          </a:xfrm>
          <a:prstGeom prst="rect">
            <a:avLst/>
          </a:prstGeom>
          <a:noFill/>
          <a:ln/>
        </p:spPr>
        <p:txBody>
          <a:bodyPr wrap="square" lIns="0" tIns="0" rIns="0" bIns="0" rtlCol="0" anchor="t"/>
          <a:lstStyle/>
          <a:p>
            <a:pPr indent="0" marL="0">
              <a:buNone/>
            </a:pPr>
            <a:r>
              <a:rPr lang="en-US" sz="1100" b="1" dirty="0">
                <a:solidFill>
                  <a:schemeClr val="accent5"/>
                </a:solidFill>
                <a:latin typeface="Consolas" pitchFamily="34" charset="0"/>
                <a:ea typeface="Consolas" pitchFamily="34" charset="-122"/>
                <a:cs typeface="Consolas" pitchFamily="34" charset="-120"/>
              </a:rPr>
              <a:t>01</a:t>
            </a:r>
            <a:endParaRPr lang="en-US" sz="1100" dirty="0"/>
          </a:p>
        </p:txBody>
      </p:sp>
      <p:sp>
        <p:nvSpPr>
          <p:cNvPr id="23" name="Text 20"/>
          <p:cNvSpPr txBox="1"/>
          <p:nvPr/>
        </p:nvSpPr>
        <p:spPr>
          <a:xfrm>
            <a:off x="731520" y="5349240"/>
            <a:ext cx="1706819" cy="7315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Frame-gate pass rate on real scenes</a:t>
            </a:r>
            <a:endParaRPr lang="en-US" sz="1200" dirty="0"/>
          </a:p>
        </p:txBody>
      </p:sp>
      <p:sp>
        <p:nvSpPr>
          <p:cNvPr id="24" name="Shape 21"/>
          <p:cNvSpPr/>
          <p:nvPr/>
        </p:nvSpPr>
        <p:spPr>
          <a:xfrm>
            <a:off x="2804099" y="4937760"/>
            <a:ext cx="2072579" cy="1188720"/>
          </a:xfrm>
          <a:prstGeom prst="roundRect">
            <a:avLst>
              <a:gd name="adj" fmla="val 7692"/>
            </a:avLst>
          </a:prstGeom>
          <a:solidFill>
            <a:srgbClr val="1A2333"/>
          </a:solidFill>
          <a:ln w="9525">
            <a:solidFill>
              <a:srgbClr val="243044"/>
            </a:solidFill>
            <a:prstDash val="solid"/>
          </a:ln>
        </p:spPr>
      </p:sp>
      <p:sp>
        <p:nvSpPr>
          <p:cNvPr id="25" name="Text 22"/>
          <p:cNvSpPr txBox="1"/>
          <p:nvPr/>
        </p:nvSpPr>
        <p:spPr>
          <a:xfrm>
            <a:off x="2986979" y="5029200"/>
            <a:ext cx="548640" cy="274320"/>
          </a:xfrm>
          <a:prstGeom prst="rect">
            <a:avLst/>
          </a:prstGeom>
          <a:noFill/>
          <a:ln/>
        </p:spPr>
        <p:txBody>
          <a:bodyPr wrap="square" lIns="0" tIns="0" rIns="0" bIns="0" rtlCol="0" anchor="t"/>
          <a:lstStyle/>
          <a:p>
            <a:pPr indent="0" marL="0">
              <a:buNone/>
            </a:pPr>
            <a:r>
              <a:rPr lang="en-US" sz="1100" b="1" dirty="0">
                <a:solidFill>
                  <a:schemeClr val="accent5"/>
                </a:solidFill>
                <a:latin typeface="Consolas" pitchFamily="34" charset="0"/>
                <a:ea typeface="Consolas" pitchFamily="34" charset="-122"/>
                <a:cs typeface="Consolas" pitchFamily="34" charset="-120"/>
              </a:rPr>
              <a:t>02</a:t>
            </a:r>
            <a:endParaRPr lang="en-US" sz="1100" dirty="0"/>
          </a:p>
        </p:txBody>
      </p:sp>
      <p:sp>
        <p:nvSpPr>
          <p:cNvPr id="26" name="Text 23"/>
          <p:cNvSpPr txBox="1"/>
          <p:nvPr/>
        </p:nvSpPr>
        <p:spPr>
          <a:xfrm>
            <a:off x="2986979" y="5349240"/>
            <a:ext cx="1706819" cy="7315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ANPR reads/s and accuracy per L4</a:t>
            </a:r>
            <a:endParaRPr lang="en-US" sz="1200" dirty="0"/>
          </a:p>
        </p:txBody>
      </p:sp>
      <p:sp>
        <p:nvSpPr>
          <p:cNvPr id="27" name="Shape 24"/>
          <p:cNvSpPr/>
          <p:nvPr/>
        </p:nvSpPr>
        <p:spPr>
          <a:xfrm>
            <a:off x="5059558" y="4937760"/>
            <a:ext cx="2072579" cy="1188720"/>
          </a:xfrm>
          <a:prstGeom prst="roundRect">
            <a:avLst>
              <a:gd name="adj" fmla="val 7692"/>
            </a:avLst>
          </a:prstGeom>
          <a:solidFill>
            <a:srgbClr val="1A2333"/>
          </a:solidFill>
          <a:ln w="9525">
            <a:solidFill>
              <a:srgbClr val="243044"/>
            </a:solidFill>
            <a:prstDash val="solid"/>
          </a:ln>
        </p:spPr>
      </p:sp>
      <p:sp>
        <p:nvSpPr>
          <p:cNvPr id="28" name="Text 25"/>
          <p:cNvSpPr txBox="1"/>
          <p:nvPr/>
        </p:nvSpPr>
        <p:spPr>
          <a:xfrm>
            <a:off x="5242438" y="5029200"/>
            <a:ext cx="548640" cy="274320"/>
          </a:xfrm>
          <a:prstGeom prst="rect">
            <a:avLst/>
          </a:prstGeom>
          <a:noFill/>
          <a:ln/>
        </p:spPr>
        <p:txBody>
          <a:bodyPr wrap="square" lIns="0" tIns="0" rIns="0" bIns="0" rtlCol="0" anchor="t"/>
          <a:lstStyle/>
          <a:p>
            <a:pPr indent="0" marL="0">
              <a:buNone/>
            </a:pPr>
            <a:r>
              <a:rPr lang="en-US" sz="1100" b="1" dirty="0">
                <a:solidFill>
                  <a:schemeClr val="accent5"/>
                </a:solidFill>
                <a:latin typeface="Consolas" pitchFamily="34" charset="0"/>
                <a:ea typeface="Consolas" pitchFamily="34" charset="-122"/>
                <a:cs typeface="Consolas" pitchFamily="34" charset="-120"/>
              </a:rPr>
              <a:t>03</a:t>
            </a:r>
            <a:endParaRPr lang="en-US" sz="1100" dirty="0"/>
          </a:p>
        </p:txBody>
      </p:sp>
      <p:sp>
        <p:nvSpPr>
          <p:cNvPr id="29" name="Text 26"/>
          <p:cNvSpPr txBox="1"/>
          <p:nvPr/>
        </p:nvSpPr>
        <p:spPr>
          <a:xfrm>
            <a:off x="5242438" y="5349240"/>
            <a:ext cx="1706819" cy="7315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Cameras per core with in-process capture</a:t>
            </a:r>
            <a:endParaRPr lang="en-US" sz="1200" dirty="0"/>
          </a:p>
        </p:txBody>
      </p:sp>
      <p:sp>
        <p:nvSpPr>
          <p:cNvPr id="30" name="Shape 27"/>
          <p:cNvSpPr/>
          <p:nvPr/>
        </p:nvSpPr>
        <p:spPr>
          <a:xfrm>
            <a:off x="7315017" y="4937760"/>
            <a:ext cx="2072579" cy="1188720"/>
          </a:xfrm>
          <a:prstGeom prst="roundRect">
            <a:avLst>
              <a:gd name="adj" fmla="val 7692"/>
            </a:avLst>
          </a:prstGeom>
          <a:solidFill>
            <a:srgbClr val="1A2333"/>
          </a:solidFill>
          <a:ln w="9525">
            <a:solidFill>
              <a:srgbClr val="243044"/>
            </a:solidFill>
            <a:prstDash val="solid"/>
          </a:ln>
        </p:spPr>
      </p:sp>
      <p:sp>
        <p:nvSpPr>
          <p:cNvPr id="31" name="Text 28"/>
          <p:cNvSpPr txBox="1"/>
          <p:nvPr/>
        </p:nvSpPr>
        <p:spPr>
          <a:xfrm>
            <a:off x="7497897" y="5029200"/>
            <a:ext cx="548640" cy="274320"/>
          </a:xfrm>
          <a:prstGeom prst="rect">
            <a:avLst/>
          </a:prstGeom>
          <a:noFill/>
          <a:ln/>
        </p:spPr>
        <p:txBody>
          <a:bodyPr wrap="square" lIns="0" tIns="0" rIns="0" bIns="0" rtlCol="0" anchor="t"/>
          <a:lstStyle/>
          <a:p>
            <a:pPr indent="0" marL="0">
              <a:buNone/>
            </a:pPr>
            <a:r>
              <a:rPr lang="en-US" sz="1100" b="1" dirty="0">
                <a:solidFill>
                  <a:schemeClr val="accent5"/>
                </a:solidFill>
                <a:latin typeface="Consolas" pitchFamily="34" charset="0"/>
                <a:ea typeface="Consolas" pitchFamily="34" charset="-122"/>
                <a:cs typeface="Consolas" pitchFamily="34" charset="-120"/>
              </a:rPr>
              <a:t>04</a:t>
            </a:r>
            <a:endParaRPr lang="en-US" sz="1100" dirty="0"/>
          </a:p>
        </p:txBody>
      </p:sp>
      <p:sp>
        <p:nvSpPr>
          <p:cNvPr id="32" name="Text 29"/>
          <p:cNvSpPr txBox="1"/>
          <p:nvPr/>
        </p:nvSpPr>
        <p:spPr>
          <a:xfrm>
            <a:off x="7497897" y="5349240"/>
            <a:ext cx="1706819" cy="7315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Real bitrate per camera and link</a:t>
            </a:r>
            <a:endParaRPr lang="en-US" sz="1200" dirty="0"/>
          </a:p>
        </p:txBody>
      </p:sp>
      <p:sp>
        <p:nvSpPr>
          <p:cNvPr id="33" name="Shape 30"/>
          <p:cNvSpPr/>
          <p:nvPr/>
        </p:nvSpPr>
        <p:spPr>
          <a:xfrm>
            <a:off x="9570476" y="4937760"/>
            <a:ext cx="2072579" cy="1188720"/>
          </a:xfrm>
          <a:prstGeom prst="roundRect">
            <a:avLst>
              <a:gd name="adj" fmla="val 7692"/>
            </a:avLst>
          </a:prstGeom>
          <a:solidFill>
            <a:srgbClr val="1A2333"/>
          </a:solidFill>
          <a:ln w="9525">
            <a:solidFill>
              <a:srgbClr val="243044"/>
            </a:solidFill>
            <a:prstDash val="solid"/>
          </a:ln>
        </p:spPr>
      </p:sp>
      <p:sp>
        <p:nvSpPr>
          <p:cNvPr id="34" name="Text 31"/>
          <p:cNvSpPr txBox="1"/>
          <p:nvPr/>
        </p:nvSpPr>
        <p:spPr>
          <a:xfrm>
            <a:off x="9753356" y="5029200"/>
            <a:ext cx="548640" cy="274320"/>
          </a:xfrm>
          <a:prstGeom prst="rect">
            <a:avLst/>
          </a:prstGeom>
          <a:noFill/>
          <a:ln/>
        </p:spPr>
        <p:txBody>
          <a:bodyPr wrap="square" lIns="0" tIns="0" rIns="0" bIns="0" rtlCol="0" anchor="t"/>
          <a:lstStyle/>
          <a:p>
            <a:pPr indent="0" marL="0">
              <a:buNone/>
            </a:pPr>
            <a:r>
              <a:rPr lang="en-US" sz="1100" b="1" dirty="0">
                <a:solidFill>
                  <a:schemeClr val="accent5"/>
                </a:solidFill>
                <a:latin typeface="Consolas" pitchFamily="34" charset="0"/>
                <a:ea typeface="Consolas" pitchFamily="34" charset="-122"/>
                <a:cs typeface="Consolas" pitchFamily="34" charset="-120"/>
              </a:rPr>
              <a:t>05</a:t>
            </a:r>
            <a:endParaRPr lang="en-US" sz="1100" dirty="0"/>
          </a:p>
        </p:txBody>
      </p:sp>
      <p:sp>
        <p:nvSpPr>
          <p:cNvPr id="35" name="Text 32"/>
          <p:cNvSpPr txBox="1"/>
          <p:nvPr/>
        </p:nvSpPr>
        <p:spPr>
          <a:xfrm>
            <a:off x="9753356" y="5349240"/>
            <a:ext cx="1706819" cy="7315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Kill an edge node, the database primary, a link</a:t>
            </a:r>
            <a:endParaRPr lang="en-US" sz="1200" dirty="0"/>
          </a:p>
        </p:txBody>
      </p:sp>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11094415" cy="274320"/>
          </a:xfrm>
          <a:prstGeom prst="rect">
            <a:avLst/>
          </a:prstGeom>
          <a:noFill/>
          <a:ln/>
        </p:spPr>
        <p:txBody>
          <a:bodyPr wrap="square" lIns="0" tIns="0" rIns="0" bIns="0" rtlCol="0"/>
          <a:lstStyle/>
          <a:p>
            <a:pPr indent="0" marL="0">
              <a:buNone/>
            </a:pPr>
            <a:r>
              <a:rPr lang="en-US" sz="1100" b="1" dirty="0">
                <a:solidFill>
                  <a:schemeClr val="accent1"/>
                </a:solidFill>
                <a:latin typeface="Consolas" pitchFamily="34" charset="0"/>
                <a:ea typeface="Consolas" pitchFamily="34" charset="-122"/>
                <a:cs typeface="Consolas" pitchFamily="34" charset="-120"/>
              </a:rPr>
              <a:t>APPENDIX · ASSUMPTIONS</a:t>
            </a:r>
            <a:endParaRPr lang="en-US" sz="1100" dirty="0"/>
          </a:p>
        </p:txBody>
      </p:sp>
      <p:sp>
        <p:nvSpPr>
          <p:cNvPr id="3" name="Text 1"/>
          <p:cNvSpPr/>
          <p:nvPr>
            <p:ph idx="102"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2400" b="1" dirty="0">
                <a:solidFill>
                  <a:schemeClr val="tx1"/>
                </a:solidFill>
                <a:latin typeface="Century Gothic" pitchFamily="34" charset="0"/>
                <a:ea typeface="Century Gothic" pitchFamily="34" charset="-122"/>
                <a:cs typeface="Century Gothic" pitchFamily="34" charset="-120"/>
              </a:rPr>
              <a:t>Assumption register: change one, and the numbers follow</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11480"/>
                <a:gridCol w="3108960"/>
                <a:gridCol w="3566160"/>
                <a:gridCol w="1645920"/>
                <a:gridCol w="2359152"/>
              </a:tblGrid>
              <a:tr h="301752">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ASSUMPTION</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VALUE</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SOURCE</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000" b="1" dirty="0">
                          <a:solidFill>
                            <a:schemeClr val="tx2"/>
                          </a:solidFill>
                          <a:latin typeface="Consolas" pitchFamily="34" charset="0"/>
                          <a:ea typeface="Consolas" pitchFamily="34" charset="-122"/>
                          <a:cs typeface="Consolas" pitchFamily="34" charset="-120"/>
                        </a:rPr>
                        <a:t>IF WRONG</a:t>
                      </a:r>
                      <a:endParaRPr lang="en-US" sz="1000" dirty="0">
                        <a:latin typeface="Consolas" charset="0"/>
                        <a:ea typeface="Consolas" charset="0"/>
                        <a:cs typeface="Consolas" charset="0"/>
                      </a:endParaRPr>
                    </a:p>
                  </a:txBody>
                  <a:tcPr marL="73152" marR="73152" marT="45720" marB="45720" anchor="b">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Fleet and sampling</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80,000 cameras, 1 frame per 60 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Brief; capacity model</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Scales captures linearly</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Frame-gate pass rate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Assumed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Model calls and GPUs scale with it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Second-stage pass rate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20% of gated frames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Assumed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Pool C size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Server core versus Celeron N4020 core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Assumed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Edge and central CPU</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Vehicle share of analysed frames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Assumed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Pool A size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GPU throughput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100 reads/s and 500 fps per L4; 8 req/s per L40S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Assumed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GPU count; measured in PoC</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Recorded bitrate and retention</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1 Mbps, 15 days, hot 2 / warm 5</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Planning default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Storage, up to ~17×</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57200">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Storage overhead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RAID-6 1.25×, EC 6+2 1.33×, EC 8+3 1.375×</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Typical</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Raw petabytes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Event index overhead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2× row data</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Assumed</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Database size</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r h="402336">
                <a:tc>
                  <a:txBody>
                    <a:bodyPr/>
                    <a:lstStyle/>
                    <a:p>
                      <a:pPr indent="0" marL="0">
                        <a:buNone/>
                      </a:pPr>
                      <a:r>
                        <a:rPr lang="en-US" sz="1150" b="1" dirty="0">
                          <a:solidFill>
                            <a:schemeClr val="tx1"/>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Prices and staffing</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See cost slides</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Budgetary</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c>
                  <a:txBody>
                    <a:bodyPr/>
                    <a:lstStyle/>
                    <a:p>
                      <a:pPr indent="0" marL="0">
                        <a:buNone/>
                      </a:pPr>
                      <a:r>
                        <a:rPr lang="en-US" sz="1150" dirty="0">
                          <a:solidFill>
                            <a:schemeClr val="tx1"/>
                          </a:solidFill>
                          <a:latin typeface="Calibri" pitchFamily="34" charset="0"/>
                          <a:ea typeface="Calibri" pitchFamily="34" charset="-122"/>
                          <a:cs typeface="Calibri" pitchFamily="34" charset="-120"/>
                        </a:rPr>
                        <a:t>±30% on cost</a:t>
                      </a:r>
                      <a:endParaRPr lang="en-US" sz="1150" dirty="0">
                        <a:latin typeface="Calibri" charset="0"/>
                        <a:ea typeface="Calibri" charset="0"/>
                        <a:cs typeface="Calibri"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E2E8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11535" y="6428232"/>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OmniSee">
  <a:themeElements>
    <a:clrScheme name="OmniSee">
      <a:dk1>
        <a:srgbClr val="0F172A"/>
      </a:dk1>
      <a:lt1>
        <a:srgbClr val="FFFFFF"/>
      </a:lt1>
      <a:dk2>
        <a:srgbClr val="475569"/>
      </a:dk2>
      <a:lt2>
        <a:srgbClr val="F8FAFC"/>
      </a:lt2>
      <a:accent1>
        <a:srgbClr val="2563EB"/>
      </a:accent1>
      <a:accent2>
        <a:srgbClr val="059669"/>
      </a:accent2>
      <a:accent3>
        <a:srgbClr val="D97706"/>
      </a:accent3>
      <a:accent4>
        <a:srgbClr val="DC2626"/>
      </a:accent4>
      <a:accent5>
        <a:srgbClr val="3B82F6"/>
      </a:accent5>
      <a:accent6>
        <a:srgbClr val="E2E8F0"/>
      </a:accent6>
      <a:hlink>
        <a:srgbClr val="2563EB"/>
      </a:hlink>
      <a:folHlink>
        <a:srgbClr val="475569"/>
      </a:folHlink>
    </a:clrScheme>
    <a:fontScheme name="OmniSee">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OmniSee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OmniSee at 80,000 cameras - scalability response</dc:title>
  <dc:subject>PptxGenJS Presentation</dc:subject>
  <dc:creator>OmniSee</dc:creator>
  <cp:lastModifiedBy>OmniSee</cp:lastModifiedBy>
  <cp:revision>1</cp:revision>
  <dcterms:created xsi:type="dcterms:W3CDTF">2026-10-10T20:53:39Z</dcterms:created>
  <dcterms:modified xsi:type="dcterms:W3CDTF">2026-10-10T20:53:39Z</dcterms:modified>
</cp:coreProperties>
</file>